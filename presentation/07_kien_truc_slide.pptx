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điều muốn người nghe nhớ ở slide này. Thứ nhất là ranh giới giữa dữ liệu và mô hình sinh. Agent LangGraph năm node không hề gọi LLM: nó chuẩn hoá tên thuốc, tra DDInter bằng SQL, xếp hạng mức độ rồi hậu kiểm ngôn từ bằng quy tắc. LLM chỉ được gọi ở khối tổng hợp giải thích phía sau, để viết lại thành đoạn tiếng Việt dễ đọc. Nhờ vậy mô hình có sai thì sai ở cách diễn đạt, không sai ở dữ kiện tương tác. Thứ hai, hệ thống dùng hai cơ sở dữ liệu Postgres quản trị sẵn trên cloud chứ không phải một Postgres đóng trong Docker: Supabase giữ dữ liệu người dùng và lịch sử, CockroachDB giữ riêng ba bảng dữ kiện DDInter vốn chiếm hơn chín mươi lăm phần trăm dung lượng. Thứ ba, nhận dạng đơn thuốc là một service tách hẳn, chạy PaddleOCR kết hợp VietOCR trên Modal theo dạng serverless, backend chỉ gọi sang qua proxy có xác thực. Tách ra vì image OCR nặng khoảng bốn gigabyte, để chung sẽ kéo nặng toàn bộ backend. Về xác thực: không phải JWT như sơ đồ cũ ghi, mà là token tự ký HMAC đặt trong cookie HttpOnly kèm CSRF.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EDICHEC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73C9"/>
          </a:solidFill>
          <a:ln w="12700">
            <a:solidFill>
              <a:srgbClr val="4D73C9"/>
            </a:solidFill>
            <a:prstDash val="solid"/>
          </a:ln>
        </p:spPr>
      </p:sp>
      <p:sp>
        <p:nvSpPr>
          <p:cNvPr id="3" name="Text 1"/>
          <p:cNvSpPr/>
          <p:nvPr/>
        </p:nvSpPr>
        <p:spPr>
          <a:xfrm>
            <a:off x="502920" y="6510528"/>
            <a:ext cx="2743200" cy="164592"/>
          </a:xfrm>
          <a:prstGeom prst="rect">
            <a:avLst/>
          </a:prstGeom>
          <a:noFill/>
          <a:ln/>
        </p:spPr>
        <p:txBody>
          <a:bodyPr wrap="square" lIns="0" tIns="0" rIns="0" bIns="0" rtlCol="0" anchor="ctr"/>
          <a:lstStyle/>
          <a:p>
            <a:pPr indent="0" marL="0">
              <a:buNone/>
            </a:pPr>
            <a:r>
              <a:rPr lang="en-US" sz="750" b="1" spc="140" kern="0" dirty="0">
                <a:solidFill>
                  <a:srgbClr val="73829E"/>
                </a:solidFill>
                <a:latin typeface="Montserrat" pitchFamily="34" charset="0"/>
                <a:ea typeface="Montserrat" pitchFamily="34" charset="-122"/>
                <a:cs typeface="Montserrat" pitchFamily="34" charset="-120"/>
              </a:rPr>
              <a:t>MEDICHECK  /  VMEC-12</a:t>
            </a:r>
            <a:endParaRPr lang="en-US" sz="75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30352" y="274320"/>
            <a:ext cx="5486400" cy="256032"/>
          </a:xfrm>
          <a:prstGeom prst="rect">
            <a:avLst/>
          </a:prstGeom>
          <a:noFill/>
          <a:ln/>
        </p:spPr>
        <p:txBody>
          <a:bodyPr wrap="square" lIns="0" tIns="0" rIns="0" bIns="0" rtlCol="0" anchor="ctr">
            <a:normAutofit/>
          </a:bodyPr>
          <a:lstStyle/>
          <a:p>
            <a:pPr algn="l" indent="0" marL="0">
              <a:lnSpc>
                <a:spcPct val="100000"/>
              </a:lnSpc>
              <a:buNone/>
            </a:pPr>
            <a:r>
              <a:rPr lang="en-US" sz="1000" b="1" spc="180" kern="0" dirty="0">
                <a:solidFill>
                  <a:srgbClr val="2F5BD0"/>
                </a:solidFill>
                <a:latin typeface="Montserrat" pitchFamily="34" charset="0"/>
                <a:ea typeface="Montserrat" pitchFamily="34" charset="-122"/>
                <a:cs typeface="Montserrat" pitchFamily="34" charset="-120"/>
              </a:rPr>
              <a:t>07 / KIẾN TRÚC HỆ THỐNG</a:t>
            </a:r>
            <a:endParaRPr lang="en-US" sz="1000" dirty="0"/>
          </a:p>
        </p:txBody>
      </p:sp>
      <p:sp>
        <p:nvSpPr>
          <p:cNvPr id="3" name="Text 1"/>
          <p:cNvSpPr txBox="1"/>
          <p:nvPr/>
        </p:nvSpPr>
        <p:spPr>
          <a:xfrm>
            <a:off x="530352" y="603504"/>
            <a:ext cx="11155680" cy="548640"/>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11284C"/>
                </a:solidFill>
                <a:latin typeface="Montserrat" pitchFamily="34" charset="0"/>
                <a:ea typeface="Montserrat" pitchFamily="34" charset="-122"/>
                <a:cs typeface="Montserrat" pitchFamily="34" charset="-120"/>
              </a:rPr>
              <a:t>Kiến trúc phân lớp, tách rõ trải nghiệm - nghiệp vụ - AI - dữ liệu</a:t>
            </a:r>
            <a:endParaRPr lang="en-US" sz="2400" dirty="0"/>
          </a:p>
        </p:txBody>
      </p:sp>
      <p:sp>
        <p:nvSpPr>
          <p:cNvPr id="4" name="Shape 2"/>
          <p:cNvSpPr/>
          <p:nvPr/>
        </p:nvSpPr>
        <p:spPr>
          <a:xfrm>
            <a:off x="548640" y="2103120"/>
            <a:ext cx="2103120" cy="2011680"/>
          </a:xfrm>
          <a:prstGeom prst="roundRect">
            <a:avLst>
              <a:gd name="adj" fmla="val 6364"/>
            </a:avLst>
          </a:prstGeom>
          <a:solidFill>
            <a:srgbClr val="FFFFFF"/>
          </a:solidFill>
          <a:ln w="15875">
            <a:solidFill>
              <a:srgbClr val="C3D3EE"/>
            </a:solidFill>
            <a:prstDash val="solid"/>
          </a:ln>
        </p:spPr>
      </p:sp>
      <p:sp>
        <p:nvSpPr>
          <p:cNvPr id="5" name="Shape 3"/>
          <p:cNvSpPr/>
          <p:nvPr/>
        </p:nvSpPr>
        <p:spPr>
          <a:xfrm>
            <a:off x="1120140" y="1956816"/>
            <a:ext cx="960120" cy="292608"/>
          </a:xfrm>
          <a:prstGeom prst="roundRect">
            <a:avLst>
              <a:gd name="adj" fmla="val 50000"/>
            </a:avLst>
          </a:prstGeom>
          <a:solidFill>
            <a:srgbClr val="11284C"/>
          </a:solidFill>
          <a:ln w="12700">
            <a:solidFill>
              <a:srgbClr val="11284C"/>
            </a:solidFill>
            <a:prstDash val="solid"/>
          </a:ln>
        </p:spPr>
      </p:sp>
      <p:sp>
        <p:nvSpPr>
          <p:cNvPr id="6" name="Text 4"/>
          <p:cNvSpPr txBox="1"/>
          <p:nvPr/>
        </p:nvSpPr>
        <p:spPr>
          <a:xfrm>
            <a:off x="1165860" y="1965960"/>
            <a:ext cx="868680" cy="274320"/>
          </a:xfrm>
          <a:prstGeom prst="rect">
            <a:avLst/>
          </a:prstGeom>
          <a:noFill/>
          <a:ln/>
        </p:spPr>
        <p:txBody>
          <a:bodyPr wrap="square" lIns="0" tIns="0" rIns="0" bIns="0" rtlCol="0" anchor="ctr">
            <a:normAutofit/>
          </a:bodyPr>
          <a:lstStyle/>
          <a:p>
            <a:pPr algn="ctr" indent="0" marL="0">
              <a:lnSpc>
                <a:spcPct val="100000"/>
              </a:lnSpc>
              <a:buNone/>
            </a:pPr>
            <a:r>
              <a:rPr lang="en-US" sz="800" b="1" spc="70" kern="0" dirty="0">
                <a:solidFill>
                  <a:srgbClr val="FFFFFF"/>
                </a:solidFill>
                <a:latin typeface="Montserrat" pitchFamily="34" charset="0"/>
                <a:ea typeface="Montserrat" pitchFamily="34" charset="-122"/>
                <a:cs typeface="Montserrat" pitchFamily="34" charset="-120"/>
              </a:rPr>
              <a:t>CLIENT</a:t>
            </a:r>
            <a:endParaRPr lang="en-US" sz="800" dirty="0"/>
          </a:p>
        </p:txBody>
      </p:sp>
      <p:sp>
        <p:nvSpPr>
          <p:cNvPr id="7" name="Shape 5"/>
          <p:cNvSpPr/>
          <p:nvPr/>
        </p:nvSpPr>
        <p:spPr>
          <a:xfrm>
            <a:off x="804672" y="2487168"/>
            <a:ext cx="1591056" cy="1078992"/>
          </a:xfrm>
          <a:prstGeom prst="roundRect">
            <a:avLst>
              <a:gd name="adj" fmla="val 9322"/>
            </a:avLst>
          </a:prstGeom>
          <a:solidFill>
            <a:srgbClr val="FFFFFF"/>
          </a:solidFill>
          <a:ln w="15875">
            <a:solidFill>
              <a:srgbClr val="DCE6F8"/>
            </a:solidFill>
            <a:prstDash val="solid"/>
          </a:ln>
        </p:spPr>
      </p:sp>
      <p:pic>
        <p:nvPicPr>
          <p:cNvPr id="8" name="Image 0" descr="C:\Users\Quan\Documents\AIthucchien\Projects\P-005\presentation\logos\nextdotjs.png">    </p:cNvPr>
          <p:cNvPicPr>
            <a:picLocks noChangeAspect="1"/>
          </p:cNvPicPr>
          <p:nvPr/>
        </p:nvPicPr>
        <p:blipFill>
          <a:blip r:embed="rId1"/>
          <a:stretch>
            <a:fillRect/>
          </a:stretch>
        </p:blipFill>
        <p:spPr>
          <a:xfrm>
            <a:off x="1316736" y="2715768"/>
            <a:ext cx="566928" cy="566928"/>
          </a:xfrm>
          <a:prstGeom prst="rect">
            <a:avLst/>
          </a:prstGeom>
        </p:spPr>
      </p:pic>
      <p:sp>
        <p:nvSpPr>
          <p:cNvPr id="9" name="Text 6"/>
          <p:cNvSpPr txBox="1"/>
          <p:nvPr/>
        </p:nvSpPr>
        <p:spPr>
          <a:xfrm>
            <a:off x="640080" y="3675888"/>
            <a:ext cx="1920240" cy="219456"/>
          </a:xfrm>
          <a:prstGeom prst="rect">
            <a:avLst/>
          </a:prstGeom>
          <a:noFill/>
          <a:ln/>
        </p:spPr>
        <p:txBody>
          <a:bodyPr wrap="square" lIns="0" tIns="0" rIns="0" bIns="0" rtlCol="0" anchor="ctr">
            <a:normAutofit/>
          </a:bodyPr>
          <a:lstStyle/>
          <a:p>
            <a:pPr algn="ctr" indent="0" marL="0">
              <a:lnSpc>
                <a:spcPct val="100000"/>
              </a:lnSpc>
              <a:buNone/>
            </a:pPr>
            <a:r>
              <a:rPr lang="en-US" sz="860" dirty="0">
                <a:solidFill>
                  <a:srgbClr val="667792"/>
                </a:solidFill>
                <a:latin typeface="Montserrat" pitchFamily="34" charset="0"/>
                <a:ea typeface="Montserrat" pitchFamily="34" charset="-122"/>
                <a:cs typeface="Montserrat" pitchFamily="34" charset="-120"/>
              </a:rPr>
              <a:t>Giao diện Next.js</a:t>
            </a:r>
            <a:endParaRPr lang="en-US" sz="860" dirty="0"/>
          </a:p>
        </p:txBody>
      </p:sp>
      <p:sp>
        <p:nvSpPr>
          <p:cNvPr id="10" name="Shape 7"/>
          <p:cNvSpPr/>
          <p:nvPr/>
        </p:nvSpPr>
        <p:spPr>
          <a:xfrm>
            <a:off x="2651760" y="2706624"/>
            <a:ext cx="868680" cy="0"/>
          </a:xfrm>
          <a:prstGeom prst="line">
            <a:avLst/>
          </a:prstGeom>
          <a:noFill/>
          <a:ln w="19050">
            <a:solidFill>
              <a:srgbClr val="7899E8"/>
            </a:solidFill>
            <a:prstDash val="solid"/>
            <a:headEnd type="none"/>
            <a:tailEnd type="triangle"/>
          </a:ln>
        </p:spPr>
      </p:sp>
      <p:sp>
        <p:nvSpPr>
          <p:cNvPr id="11" name="Shape 8"/>
          <p:cNvSpPr/>
          <p:nvPr/>
        </p:nvSpPr>
        <p:spPr>
          <a:xfrm>
            <a:off x="2651760" y="2999232"/>
            <a:ext cx="868680" cy="0"/>
          </a:xfrm>
          <a:prstGeom prst="line">
            <a:avLst/>
          </a:prstGeom>
          <a:noFill/>
          <a:ln w="19050">
            <a:solidFill>
              <a:srgbClr val="7899E8"/>
            </a:solidFill>
            <a:prstDash val="solid"/>
            <a:headEnd type="triangle"/>
            <a:tailEnd type="none"/>
          </a:ln>
        </p:spPr>
      </p:sp>
      <p:sp>
        <p:nvSpPr>
          <p:cNvPr id="12" name="Shape 9"/>
          <p:cNvSpPr/>
          <p:nvPr/>
        </p:nvSpPr>
        <p:spPr>
          <a:xfrm>
            <a:off x="2692908" y="2487168"/>
            <a:ext cx="786384" cy="731520"/>
          </a:xfrm>
          <a:prstGeom prst="roundRect">
            <a:avLst>
              <a:gd name="adj" fmla="val 11250"/>
            </a:avLst>
          </a:prstGeom>
          <a:solidFill>
            <a:srgbClr val="FFFFFF"/>
          </a:solidFill>
          <a:ln w="12700">
            <a:solidFill>
              <a:srgbClr val="C3D3EE"/>
            </a:solidFill>
            <a:prstDash val="solid"/>
          </a:ln>
        </p:spPr>
      </p:sp>
      <p:sp>
        <p:nvSpPr>
          <p:cNvPr id="13" name="Text 10"/>
          <p:cNvSpPr txBox="1"/>
          <p:nvPr/>
        </p:nvSpPr>
        <p:spPr>
          <a:xfrm>
            <a:off x="2729484" y="2487168"/>
            <a:ext cx="713232" cy="731520"/>
          </a:xfrm>
          <a:prstGeom prst="rect">
            <a:avLst/>
          </a:prstGeom>
          <a:noFill/>
          <a:ln/>
        </p:spPr>
        <p:txBody>
          <a:bodyPr wrap="square" lIns="0" tIns="0" rIns="0" bIns="0" rtlCol="0" anchor="ctr">
            <a:normAutofit/>
          </a:bodyPr>
          <a:lstStyle/>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Gửi yêu cầu /</a:t>
            </a:r>
            <a:endParaRPr lang="en-US" sz="700" dirty="0"/>
          </a:p>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Nhận kết quả</a:t>
            </a:r>
            <a:endParaRPr lang="en-US" sz="700" dirty="0"/>
          </a:p>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qua REST API</a:t>
            </a:r>
            <a:endParaRPr lang="en-US" sz="700" dirty="0"/>
          </a:p>
        </p:txBody>
      </p:sp>
      <p:sp>
        <p:nvSpPr>
          <p:cNvPr id="14" name="Shape 11"/>
          <p:cNvSpPr/>
          <p:nvPr/>
        </p:nvSpPr>
        <p:spPr>
          <a:xfrm>
            <a:off x="3520440" y="1417320"/>
            <a:ext cx="3931920" cy="4480560"/>
          </a:xfrm>
          <a:prstGeom prst="roundRect">
            <a:avLst>
              <a:gd name="adj" fmla="val 3256"/>
            </a:avLst>
          </a:prstGeom>
          <a:solidFill>
            <a:srgbClr val="FFFFFF"/>
          </a:solidFill>
          <a:ln w="15875">
            <a:solidFill>
              <a:srgbClr val="C3D3EE"/>
            </a:solidFill>
            <a:prstDash val="solid"/>
          </a:ln>
        </p:spPr>
      </p:sp>
      <p:sp>
        <p:nvSpPr>
          <p:cNvPr id="15" name="Shape 12"/>
          <p:cNvSpPr/>
          <p:nvPr/>
        </p:nvSpPr>
        <p:spPr>
          <a:xfrm>
            <a:off x="4960620" y="1271016"/>
            <a:ext cx="1051560" cy="292608"/>
          </a:xfrm>
          <a:prstGeom prst="roundRect">
            <a:avLst>
              <a:gd name="adj" fmla="val 50000"/>
            </a:avLst>
          </a:prstGeom>
          <a:solidFill>
            <a:srgbClr val="11284C"/>
          </a:solidFill>
          <a:ln w="12700">
            <a:solidFill>
              <a:srgbClr val="11284C"/>
            </a:solidFill>
            <a:prstDash val="solid"/>
          </a:ln>
        </p:spPr>
      </p:sp>
      <p:sp>
        <p:nvSpPr>
          <p:cNvPr id="16" name="Text 13"/>
          <p:cNvSpPr txBox="1"/>
          <p:nvPr/>
        </p:nvSpPr>
        <p:spPr>
          <a:xfrm>
            <a:off x="5006340" y="1280160"/>
            <a:ext cx="960120" cy="274320"/>
          </a:xfrm>
          <a:prstGeom prst="rect">
            <a:avLst/>
          </a:prstGeom>
          <a:noFill/>
          <a:ln/>
        </p:spPr>
        <p:txBody>
          <a:bodyPr wrap="square" lIns="0" tIns="0" rIns="0" bIns="0" rtlCol="0" anchor="ctr">
            <a:normAutofit/>
          </a:bodyPr>
          <a:lstStyle/>
          <a:p>
            <a:pPr algn="ctr" indent="0" marL="0">
              <a:lnSpc>
                <a:spcPct val="100000"/>
              </a:lnSpc>
              <a:buNone/>
            </a:pPr>
            <a:r>
              <a:rPr lang="en-US" sz="800" b="1" spc="70" kern="0" dirty="0">
                <a:solidFill>
                  <a:srgbClr val="FFFFFF"/>
                </a:solidFill>
                <a:latin typeface="Montserrat" pitchFamily="34" charset="0"/>
                <a:ea typeface="Montserrat" pitchFamily="34" charset="-122"/>
                <a:cs typeface="Montserrat" pitchFamily="34" charset="-120"/>
              </a:rPr>
              <a:t>SERVER</a:t>
            </a:r>
            <a:endParaRPr lang="en-US" sz="800" dirty="0"/>
          </a:p>
        </p:txBody>
      </p:sp>
      <p:sp>
        <p:nvSpPr>
          <p:cNvPr id="17" name="Shape 14"/>
          <p:cNvSpPr/>
          <p:nvPr/>
        </p:nvSpPr>
        <p:spPr>
          <a:xfrm>
            <a:off x="3703320" y="1828800"/>
            <a:ext cx="3566160" cy="3931920"/>
          </a:xfrm>
          <a:prstGeom prst="roundRect">
            <a:avLst>
              <a:gd name="adj" fmla="val 3590"/>
            </a:avLst>
          </a:prstGeom>
          <a:ln w="15875">
            <a:solidFill>
              <a:srgbClr val="7899E8"/>
            </a:solidFill>
            <a:prstDash val="dash"/>
          </a:ln>
        </p:spPr>
      </p:sp>
      <p:pic>
        <p:nvPicPr>
          <p:cNvPr id="18" name="Image 1" descr="C:\Users\Quan\Documents\AIthucchien\Projects\P-005\presentation\logos\docker.png">    </p:cNvPr>
          <p:cNvPicPr>
            <a:picLocks noChangeAspect="1"/>
          </p:cNvPicPr>
          <p:nvPr/>
        </p:nvPicPr>
        <p:blipFill>
          <a:blip r:embed="rId2"/>
          <a:stretch>
            <a:fillRect/>
          </a:stretch>
        </p:blipFill>
        <p:spPr>
          <a:xfrm>
            <a:off x="5111496" y="1920240"/>
            <a:ext cx="237744" cy="237744"/>
          </a:xfrm>
          <a:prstGeom prst="rect">
            <a:avLst/>
          </a:prstGeom>
        </p:spPr>
      </p:pic>
      <p:sp>
        <p:nvSpPr>
          <p:cNvPr id="19" name="Text 15"/>
          <p:cNvSpPr txBox="1"/>
          <p:nvPr/>
        </p:nvSpPr>
        <p:spPr>
          <a:xfrm>
            <a:off x="5422392" y="1938528"/>
            <a:ext cx="822960" cy="201168"/>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496ED"/>
                </a:solidFill>
                <a:latin typeface="Montserrat" pitchFamily="34" charset="0"/>
                <a:ea typeface="Montserrat" pitchFamily="34" charset="-122"/>
                <a:cs typeface="Montserrat" pitchFamily="34" charset="-120"/>
              </a:rPr>
              <a:t>docker</a:t>
            </a:r>
            <a:endParaRPr lang="en-US" sz="1100" dirty="0"/>
          </a:p>
        </p:txBody>
      </p:sp>
      <p:sp>
        <p:nvSpPr>
          <p:cNvPr id="20" name="Shape 16"/>
          <p:cNvSpPr/>
          <p:nvPr/>
        </p:nvSpPr>
        <p:spPr>
          <a:xfrm>
            <a:off x="3931920" y="2286000"/>
            <a:ext cx="3108960" cy="841248"/>
          </a:xfrm>
          <a:prstGeom prst="roundRect">
            <a:avLst>
              <a:gd name="adj" fmla="val 11957"/>
            </a:avLst>
          </a:prstGeom>
          <a:solidFill>
            <a:srgbClr val="FFFFFF"/>
          </a:solidFill>
          <a:ln w="15875">
            <a:solidFill>
              <a:srgbClr val="DCE6F8"/>
            </a:solidFill>
            <a:prstDash val="solid"/>
          </a:ln>
        </p:spPr>
      </p:sp>
      <p:pic>
        <p:nvPicPr>
          <p:cNvPr id="21" name="Image 2" descr="C:\Users\Quan\Documents\AIthucchien\Projects\P-005\presentation\logos\fastapi.png">    </p:cNvPr>
          <p:cNvPicPr>
            <a:picLocks noChangeAspect="1"/>
          </p:cNvPicPr>
          <p:nvPr/>
        </p:nvPicPr>
        <p:blipFill>
          <a:blip r:embed="rId3"/>
          <a:stretch>
            <a:fillRect/>
          </a:stretch>
        </p:blipFill>
        <p:spPr>
          <a:xfrm>
            <a:off x="5330952" y="2331720"/>
            <a:ext cx="310896" cy="310896"/>
          </a:xfrm>
          <a:prstGeom prst="rect">
            <a:avLst/>
          </a:prstGeom>
        </p:spPr>
      </p:pic>
      <p:sp>
        <p:nvSpPr>
          <p:cNvPr id="22" name="Text 17"/>
          <p:cNvSpPr txBox="1"/>
          <p:nvPr/>
        </p:nvSpPr>
        <p:spPr>
          <a:xfrm>
            <a:off x="3986784" y="2697480"/>
            <a:ext cx="2999232"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FastAPI</a:t>
            </a:r>
            <a:endParaRPr lang="en-US" sz="1250" dirty="0"/>
          </a:p>
        </p:txBody>
      </p:sp>
      <p:sp>
        <p:nvSpPr>
          <p:cNvPr id="23" name="Text 18"/>
          <p:cNvSpPr txBox="1"/>
          <p:nvPr/>
        </p:nvSpPr>
        <p:spPr>
          <a:xfrm>
            <a:off x="3986784" y="2916936"/>
            <a:ext cx="2999232" cy="164592"/>
          </a:xfrm>
          <a:prstGeom prst="rect">
            <a:avLst/>
          </a:prstGeom>
          <a:noFill/>
          <a:ln/>
        </p:spPr>
        <p:txBody>
          <a:bodyPr wrap="square" lIns="0" tIns="0" rIns="0" bIns="0" rtlCol="0" anchor="ctr">
            <a:normAutofit/>
          </a:bodyPr>
          <a:lstStyle/>
          <a:p>
            <a:pPr algn="ctr"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Backend API</a:t>
            </a:r>
            <a:endParaRPr lang="en-US" sz="820" dirty="0"/>
          </a:p>
        </p:txBody>
      </p:sp>
      <p:sp>
        <p:nvSpPr>
          <p:cNvPr id="24" name="Shape 19"/>
          <p:cNvSpPr/>
          <p:nvPr/>
        </p:nvSpPr>
        <p:spPr>
          <a:xfrm>
            <a:off x="5486400" y="3127248"/>
            <a:ext cx="0" cy="182880"/>
          </a:xfrm>
          <a:prstGeom prst="line">
            <a:avLst/>
          </a:prstGeom>
          <a:noFill/>
          <a:ln w="19050">
            <a:solidFill>
              <a:srgbClr val="7899E8"/>
            </a:solidFill>
            <a:prstDash val="solid"/>
            <a:headEnd type="none"/>
            <a:tailEnd type="triangle"/>
          </a:ln>
        </p:spPr>
      </p:sp>
      <p:sp>
        <p:nvSpPr>
          <p:cNvPr id="25" name="Shape 20"/>
          <p:cNvSpPr/>
          <p:nvPr/>
        </p:nvSpPr>
        <p:spPr>
          <a:xfrm>
            <a:off x="3931920" y="3310128"/>
            <a:ext cx="3108960" cy="530352"/>
          </a:xfrm>
          <a:prstGeom prst="roundRect">
            <a:avLst>
              <a:gd name="adj" fmla="val 18966"/>
            </a:avLst>
          </a:prstGeom>
          <a:solidFill>
            <a:srgbClr val="FFFFFF"/>
          </a:solidFill>
          <a:ln w="15875">
            <a:solidFill>
              <a:srgbClr val="DCE6F8"/>
            </a:solidFill>
            <a:prstDash val="solid"/>
          </a:ln>
        </p:spPr>
      </p:sp>
      <p:sp>
        <p:nvSpPr>
          <p:cNvPr id="26" name="Text 21"/>
          <p:cNvSpPr txBox="1"/>
          <p:nvPr/>
        </p:nvSpPr>
        <p:spPr>
          <a:xfrm>
            <a:off x="3986784" y="3465576"/>
            <a:ext cx="2999232"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Khởi chạy quy trình phân tích</a:t>
            </a:r>
            <a:endParaRPr lang="en-US" sz="1250" dirty="0"/>
          </a:p>
        </p:txBody>
      </p:sp>
      <p:sp>
        <p:nvSpPr>
          <p:cNvPr id="27" name="Shape 22"/>
          <p:cNvSpPr/>
          <p:nvPr/>
        </p:nvSpPr>
        <p:spPr>
          <a:xfrm>
            <a:off x="5486400" y="3840480"/>
            <a:ext cx="0" cy="182880"/>
          </a:xfrm>
          <a:prstGeom prst="line">
            <a:avLst/>
          </a:prstGeom>
          <a:noFill/>
          <a:ln w="19050">
            <a:solidFill>
              <a:srgbClr val="7899E8"/>
            </a:solidFill>
            <a:prstDash val="solid"/>
            <a:headEnd type="none"/>
            <a:tailEnd type="triangle"/>
          </a:ln>
        </p:spPr>
      </p:sp>
      <p:sp>
        <p:nvSpPr>
          <p:cNvPr id="28" name="Shape 23"/>
          <p:cNvSpPr/>
          <p:nvPr/>
        </p:nvSpPr>
        <p:spPr>
          <a:xfrm>
            <a:off x="3931920" y="4023360"/>
            <a:ext cx="3108960" cy="841248"/>
          </a:xfrm>
          <a:prstGeom prst="roundRect">
            <a:avLst>
              <a:gd name="adj" fmla="val 11957"/>
            </a:avLst>
          </a:prstGeom>
          <a:solidFill>
            <a:srgbClr val="FFFFFF"/>
          </a:solidFill>
          <a:ln w="15875">
            <a:solidFill>
              <a:srgbClr val="DCE6F8"/>
            </a:solidFill>
            <a:prstDash val="solid"/>
          </a:ln>
        </p:spPr>
      </p:sp>
      <p:pic>
        <p:nvPicPr>
          <p:cNvPr id="29" name="Image 3" descr="C:\Users\Quan\Documents\AIthucchien\Projects\P-005\presentation\logos\langgraph.png">    </p:cNvPr>
          <p:cNvPicPr>
            <a:picLocks noChangeAspect="1"/>
          </p:cNvPicPr>
          <p:nvPr/>
        </p:nvPicPr>
        <p:blipFill>
          <a:blip r:embed="rId4"/>
          <a:stretch>
            <a:fillRect/>
          </a:stretch>
        </p:blipFill>
        <p:spPr>
          <a:xfrm>
            <a:off x="5330952" y="4069080"/>
            <a:ext cx="310896" cy="310896"/>
          </a:xfrm>
          <a:prstGeom prst="rect">
            <a:avLst/>
          </a:prstGeom>
        </p:spPr>
      </p:pic>
      <p:sp>
        <p:nvSpPr>
          <p:cNvPr id="30" name="Text 24"/>
          <p:cNvSpPr txBox="1"/>
          <p:nvPr/>
        </p:nvSpPr>
        <p:spPr>
          <a:xfrm>
            <a:off x="3986784" y="4434840"/>
            <a:ext cx="2999232"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LangGraph</a:t>
            </a:r>
            <a:endParaRPr lang="en-US" sz="1250" dirty="0"/>
          </a:p>
        </p:txBody>
      </p:sp>
      <p:sp>
        <p:nvSpPr>
          <p:cNvPr id="31" name="Text 25"/>
          <p:cNvSpPr txBox="1"/>
          <p:nvPr/>
        </p:nvSpPr>
        <p:spPr>
          <a:xfrm>
            <a:off x="3986784" y="4654296"/>
            <a:ext cx="2999232" cy="164592"/>
          </a:xfrm>
          <a:prstGeom prst="rect">
            <a:avLst/>
          </a:prstGeom>
          <a:noFill/>
          <a:ln/>
        </p:spPr>
        <p:txBody>
          <a:bodyPr wrap="square" lIns="0" tIns="0" rIns="0" bIns="0" rtlCol="0" anchor="ctr">
            <a:normAutofit/>
          </a:bodyPr>
          <a:lstStyle/>
          <a:p>
            <a:pPr algn="ctr"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AI Agent</a:t>
            </a:r>
            <a:endParaRPr lang="en-US" sz="820" dirty="0"/>
          </a:p>
        </p:txBody>
      </p:sp>
      <p:sp>
        <p:nvSpPr>
          <p:cNvPr id="32" name="Shape 26"/>
          <p:cNvSpPr/>
          <p:nvPr/>
        </p:nvSpPr>
        <p:spPr>
          <a:xfrm>
            <a:off x="5486400" y="4864608"/>
            <a:ext cx="0" cy="182880"/>
          </a:xfrm>
          <a:prstGeom prst="line">
            <a:avLst/>
          </a:prstGeom>
          <a:noFill/>
          <a:ln w="19050">
            <a:solidFill>
              <a:srgbClr val="7899E8"/>
            </a:solidFill>
            <a:prstDash val="solid"/>
            <a:headEnd type="none"/>
            <a:tailEnd type="triangle"/>
          </a:ln>
        </p:spPr>
      </p:sp>
      <p:sp>
        <p:nvSpPr>
          <p:cNvPr id="33" name="Shape 27"/>
          <p:cNvSpPr/>
          <p:nvPr/>
        </p:nvSpPr>
        <p:spPr>
          <a:xfrm>
            <a:off x="3931920" y="5047488"/>
            <a:ext cx="3108960" cy="621792"/>
          </a:xfrm>
          <a:prstGeom prst="roundRect">
            <a:avLst>
              <a:gd name="adj" fmla="val 16176"/>
            </a:avLst>
          </a:prstGeom>
          <a:solidFill>
            <a:srgbClr val="FFFFFF"/>
          </a:solidFill>
          <a:ln w="15875">
            <a:solidFill>
              <a:srgbClr val="DCE6F8"/>
            </a:solidFill>
            <a:prstDash val="solid"/>
          </a:ln>
        </p:spPr>
      </p:sp>
      <p:sp>
        <p:nvSpPr>
          <p:cNvPr id="34" name="Text 28"/>
          <p:cNvSpPr txBox="1"/>
          <p:nvPr/>
        </p:nvSpPr>
        <p:spPr>
          <a:xfrm>
            <a:off x="3986784" y="5166360"/>
            <a:ext cx="2999232"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Tổng hợp giải thích</a:t>
            </a:r>
            <a:endParaRPr lang="en-US" sz="1250" dirty="0"/>
          </a:p>
        </p:txBody>
      </p:sp>
      <p:sp>
        <p:nvSpPr>
          <p:cNvPr id="35" name="Text 29"/>
          <p:cNvSpPr txBox="1"/>
          <p:nvPr/>
        </p:nvSpPr>
        <p:spPr>
          <a:xfrm>
            <a:off x="3986784" y="5385816"/>
            <a:ext cx="2999232" cy="164592"/>
          </a:xfrm>
          <a:prstGeom prst="rect">
            <a:avLst/>
          </a:prstGeom>
          <a:noFill/>
          <a:ln/>
        </p:spPr>
        <p:txBody>
          <a:bodyPr wrap="square" lIns="0" tIns="0" rIns="0" bIns="0" rtlCol="0" anchor="ctr">
            <a:normAutofit/>
          </a:bodyPr>
          <a:lstStyle/>
          <a:p>
            <a:pPr algn="ctr"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Nơi duy nhất gọi LLM</a:t>
            </a:r>
            <a:endParaRPr lang="en-US" sz="820" dirty="0"/>
          </a:p>
        </p:txBody>
      </p:sp>
      <p:pic>
        <p:nvPicPr>
          <p:cNvPr id="36" name="Image 4" descr="C:\Users\Quan\Documents\AIthucchien\Projects\P-005\presentation\logos\render.png">    </p:cNvPr>
          <p:cNvPicPr>
            <a:picLocks noChangeAspect="1"/>
          </p:cNvPicPr>
          <p:nvPr/>
        </p:nvPicPr>
        <p:blipFill>
          <a:blip r:embed="rId5"/>
          <a:stretch>
            <a:fillRect/>
          </a:stretch>
        </p:blipFill>
        <p:spPr>
          <a:xfrm>
            <a:off x="6611112" y="5815584"/>
            <a:ext cx="128016" cy="128016"/>
          </a:xfrm>
          <a:prstGeom prst="rect">
            <a:avLst/>
          </a:prstGeom>
        </p:spPr>
      </p:pic>
      <p:sp>
        <p:nvSpPr>
          <p:cNvPr id="37" name="Text 30"/>
          <p:cNvSpPr txBox="1"/>
          <p:nvPr/>
        </p:nvSpPr>
        <p:spPr>
          <a:xfrm>
            <a:off x="6830568" y="5806440"/>
            <a:ext cx="548640" cy="164592"/>
          </a:xfrm>
          <a:prstGeom prst="rect">
            <a:avLst/>
          </a:prstGeom>
          <a:noFill/>
          <a:ln/>
        </p:spPr>
        <p:txBody>
          <a:bodyPr wrap="square" lIns="0" tIns="0" rIns="0" bIns="0" rtlCol="0" anchor="ctr">
            <a:normAutofit/>
          </a:bodyPr>
          <a:lstStyle/>
          <a:p>
            <a:pPr algn="l" indent="0" marL="0">
              <a:lnSpc>
                <a:spcPct val="100000"/>
              </a:lnSpc>
              <a:buNone/>
            </a:pPr>
            <a:r>
              <a:rPr lang="en-US" sz="800" b="1" dirty="0">
                <a:solidFill>
                  <a:srgbClr val="667792"/>
                </a:solidFill>
                <a:latin typeface="Montserrat" pitchFamily="34" charset="0"/>
                <a:ea typeface="Montserrat" pitchFamily="34" charset="-122"/>
                <a:cs typeface="Montserrat" pitchFamily="34" charset="-120"/>
              </a:rPr>
              <a:t>Render</a:t>
            </a:r>
            <a:endParaRPr lang="en-US" sz="800" dirty="0"/>
          </a:p>
        </p:txBody>
      </p:sp>
      <p:sp>
        <p:nvSpPr>
          <p:cNvPr id="38" name="Shape 31"/>
          <p:cNvSpPr/>
          <p:nvPr/>
        </p:nvSpPr>
        <p:spPr>
          <a:xfrm>
            <a:off x="7452360" y="2706624"/>
            <a:ext cx="731520" cy="0"/>
          </a:xfrm>
          <a:prstGeom prst="line">
            <a:avLst/>
          </a:prstGeom>
          <a:noFill/>
          <a:ln w="19050">
            <a:solidFill>
              <a:srgbClr val="7899E8"/>
            </a:solidFill>
            <a:prstDash val="solid"/>
            <a:headEnd type="triangle"/>
            <a:tailEnd type="triangle"/>
          </a:ln>
        </p:spPr>
      </p:sp>
      <p:sp>
        <p:nvSpPr>
          <p:cNvPr id="39" name="Shape 32"/>
          <p:cNvSpPr/>
          <p:nvPr/>
        </p:nvSpPr>
        <p:spPr>
          <a:xfrm>
            <a:off x="7452360" y="4443984"/>
            <a:ext cx="731520" cy="0"/>
          </a:xfrm>
          <a:prstGeom prst="line">
            <a:avLst/>
          </a:prstGeom>
          <a:noFill/>
          <a:ln w="19050">
            <a:solidFill>
              <a:srgbClr val="7899E8"/>
            </a:solidFill>
            <a:prstDash val="solid"/>
            <a:headEnd type="triangle"/>
            <a:tailEnd type="triangle"/>
          </a:ln>
        </p:spPr>
      </p:sp>
      <p:sp>
        <p:nvSpPr>
          <p:cNvPr id="40" name="Shape 33"/>
          <p:cNvSpPr/>
          <p:nvPr/>
        </p:nvSpPr>
        <p:spPr>
          <a:xfrm>
            <a:off x="7452360" y="5358384"/>
            <a:ext cx="731520" cy="0"/>
          </a:xfrm>
          <a:prstGeom prst="line">
            <a:avLst/>
          </a:prstGeom>
          <a:noFill/>
          <a:ln w="19050">
            <a:solidFill>
              <a:srgbClr val="7899E8"/>
            </a:solidFill>
            <a:prstDash val="solid"/>
            <a:headEnd type="triangle"/>
            <a:tailEnd type="triangle"/>
          </a:ln>
        </p:spPr>
      </p:sp>
      <p:sp>
        <p:nvSpPr>
          <p:cNvPr id="41" name="Shape 34"/>
          <p:cNvSpPr/>
          <p:nvPr/>
        </p:nvSpPr>
        <p:spPr>
          <a:xfrm>
            <a:off x="8183880" y="2057400"/>
            <a:ext cx="3566160" cy="1280160"/>
          </a:xfrm>
          <a:prstGeom prst="roundRect">
            <a:avLst>
              <a:gd name="adj" fmla="val 10000"/>
            </a:avLst>
          </a:prstGeom>
          <a:solidFill>
            <a:srgbClr val="FFFFFF"/>
          </a:solidFill>
          <a:ln w="15875">
            <a:solidFill>
              <a:srgbClr val="C3D3EE"/>
            </a:solidFill>
            <a:prstDash val="solid"/>
          </a:ln>
        </p:spPr>
      </p:sp>
      <p:sp>
        <p:nvSpPr>
          <p:cNvPr id="42" name="Shape 35"/>
          <p:cNvSpPr/>
          <p:nvPr/>
        </p:nvSpPr>
        <p:spPr>
          <a:xfrm>
            <a:off x="9304020" y="1911096"/>
            <a:ext cx="1325880" cy="292608"/>
          </a:xfrm>
          <a:prstGeom prst="roundRect">
            <a:avLst>
              <a:gd name="adj" fmla="val 50000"/>
            </a:avLst>
          </a:prstGeom>
          <a:solidFill>
            <a:srgbClr val="11284C"/>
          </a:solidFill>
          <a:ln w="12700">
            <a:solidFill>
              <a:srgbClr val="11284C"/>
            </a:solidFill>
            <a:prstDash val="solid"/>
          </a:ln>
        </p:spPr>
      </p:sp>
      <p:sp>
        <p:nvSpPr>
          <p:cNvPr id="43" name="Text 36"/>
          <p:cNvSpPr txBox="1"/>
          <p:nvPr/>
        </p:nvSpPr>
        <p:spPr>
          <a:xfrm>
            <a:off x="9349740" y="1920240"/>
            <a:ext cx="1234440" cy="274320"/>
          </a:xfrm>
          <a:prstGeom prst="rect">
            <a:avLst/>
          </a:prstGeom>
          <a:noFill/>
          <a:ln/>
        </p:spPr>
        <p:txBody>
          <a:bodyPr wrap="square" lIns="0" tIns="0" rIns="0" bIns="0" rtlCol="0" anchor="ctr">
            <a:normAutofit/>
          </a:bodyPr>
          <a:lstStyle/>
          <a:p>
            <a:pPr algn="ctr" indent="0" marL="0">
              <a:lnSpc>
                <a:spcPct val="100000"/>
              </a:lnSpc>
              <a:buNone/>
            </a:pPr>
            <a:r>
              <a:rPr lang="en-US" sz="800" b="1" spc="70" kern="0" dirty="0">
                <a:solidFill>
                  <a:srgbClr val="FFFFFF"/>
                </a:solidFill>
                <a:latin typeface="Montserrat" pitchFamily="34" charset="0"/>
                <a:ea typeface="Montserrat" pitchFamily="34" charset="-122"/>
                <a:cs typeface="Montserrat" pitchFamily="34" charset="-120"/>
              </a:rPr>
              <a:t>DỊCH VỤ OCR</a:t>
            </a:r>
            <a:endParaRPr lang="en-US" sz="800" dirty="0"/>
          </a:p>
        </p:txBody>
      </p:sp>
      <p:sp>
        <p:nvSpPr>
          <p:cNvPr id="44" name="Shape 37"/>
          <p:cNvSpPr/>
          <p:nvPr/>
        </p:nvSpPr>
        <p:spPr>
          <a:xfrm>
            <a:off x="8366760" y="2395728"/>
            <a:ext cx="3200400" cy="804672"/>
          </a:xfrm>
          <a:prstGeom prst="roundRect">
            <a:avLst>
              <a:gd name="adj" fmla="val 12500"/>
            </a:avLst>
          </a:prstGeom>
          <a:solidFill>
            <a:srgbClr val="FFFFFF"/>
          </a:solidFill>
          <a:ln w="15875">
            <a:solidFill>
              <a:srgbClr val="DCE6F8"/>
            </a:solidFill>
            <a:prstDash val="solid"/>
          </a:ln>
        </p:spPr>
      </p:sp>
      <p:pic>
        <p:nvPicPr>
          <p:cNvPr id="45" name="Image 5" descr="C:\Users\Quan\Documents\AIthucchien\Projects\P-005\presentation\logos\modal.png">    </p:cNvPr>
          <p:cNvPicPr>
            <a:picLocks noChangeAspect="1"/>
          </p:cNvPicPr>
          <p:nvPr/>
        </p:nvPicPr>
        <p:blipFill>
          <a:blip r:embed="rId6"/>
          <a:stretch>
            <a:fillRect/>
          </a:stretch>
        </p:blipFill>
        <p:spPr>
          <a:xfrm>
            <a:off x="9811512" y="2423160"/>
            <a:ext cx="310896" cy="310896"/>
          </a:xfrm>
          <a:prstGeom prst="rect">
            <a:avLst/>
          </a:prstGeom>
        </p:spPr>
      </p:pic>
      <p:sp>
        <p:nvSpPr>
          <p:cNvPr id="46" name="Text 38"/>
          <p:cNvSpPr txBox="1"/>
          <p:nvPr/>
        </p:nvSpPr>
        <p:spPr>
          <a:xfrm>
            <a:off x="8421624" y="2788920"/>
            <a:ext cx="3090672"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OCR đơn thuốc</a:t>
            </a:r>
            <a:endParaRPr lang="en-US" sz="1250" dirty="0"/>
          </a:p>
        </p:txBody>
      </p:sp>
      <p:sp>
        <p:nvSpPr>
          <p:cNvPr id="47" name="Text 39"/>
          <p:cNvSpPr txBox="1"/>
          <p:nvPr/>
        </p:nvSpPr>
        <p:spPr>
          <a:xfrm>
            <a:off x="8421624" y="3008376"/>
            <a:ext cx="3090672" cy="164592"/>
          </a:xfrm>
          <a:prstGeom prst="rect">
            <a:avLst/>
          </a:prstGeom>
          <a:noFill/>
          <a:ln/>
        </p:spPr>
        <p:txBody>
          <a:bodyPr wrap="square" lIns="0" tIns="0" rIns="0" bIns="0" rtlCol="0" anchor="ctr">
            <a:normAutofit/>
          </a:bodyPr>
          <a:lstStyle/>
          <a:p>
            <a:pPr algn="ctr"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PaddleOCR + VietOCR</a:t>
            </a:r>
            <a:endParaRPr lang="en-US" sz="820" dirty="0"/>
          </a:p>
        </p:txBody>
      </p:sp>
      <p:sp>
        <p:nvSpPr>
          <p:cNvPr id="48" name="Shape 40"/>
          <p:cNvSpPr/>
          <p:nvPr/>
        </p:nvSpPr>
        <p:spPr>
          <a:xfrm>
            <a:off x="7470648" y="2450592"/>
            <a:ext cx="694944" cy="512064"/>
          </a:xfrm>
          <a:prstGeom prst="roundRect">
            <a:avLst>
              <a:gd name="adj" fmla="val 16071"/>
            </a:avLst>
          </a:prstGeom>
          <a:solidFill>
            <a:srgbClr val="FFFFFF"/>
          </a:solidFill>
          <a:ln w="12700">
            <a:solidFill>
              <a:srgbClr val="C3D3EE"/>
            </a:solidFill>
            <a:prstDash val="solid"/>
          </a:ln>
        </p:spPr>
      </p:sp>
      <p:sp>
        <p:nvSpPr>
          <p:cNvPr id="49" name="Text 41"/>
          <p:cNvSpPr txBox="1"/>
          <p:nvPr/>
        </p:nvSpPr>
        <p:spPr>
          <a:xfrm>
            <a:off x="7507224" y="2450592"/>
            <a:ext cx="621792" cy="512064"/>
          </a:xfrm>
          <a:prstGeom prst="rect">
            <a:avLst/>
          </a:prstGeom>
          <a:noFill/>
          <a:ln/>
        </p:spPr>
        <p:txBody>
          <a:bodyPr wrap="square" lIns="0" tIns="0" rIns="0" bIns="0" rtlCol="0" anchor="ctr">
            <a:normAutofit/>
          </a:bodyPr>
          <a:lstStyle/>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Quét ảnh</a:t>
            </a:r>
            <a:endParaRPr lang="en-US" sz="700" dirty="0"/>
          </a:p>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đơn thuốc</a:t>
            </a:r>
            <a:endParaRPr lang="en-US" sz="700" dirty="0"/>
          </a:p>
        </p:txBody>
      </p:sp>
      <p:sp>
        <p:nvSpPr>
          <p:cNvPr id="50" name="Shape 42"/>
          <p:cNvSpPr/>
          <p:nvPr/>
        </p:nvSpPr>
        <p:spPr>
          <a:xfrm>
            <a:off x="8183880" y="3520440"/>
            <a:ext cx="3566160" cy="1417320"/>
          </a:xfrm>
          <a:prstGeom prst="roundRect">
            <a:avLst>
              <a:gd name="adj" fmla="val 9032"/>
            </a:avLst>
          </a:prstGeom>
          <a:solidFill>
            <a:srgbClr val="FFFFFF"/>
          </a:solidFill>
          <a:ln w="15875">
            <a:solidFill>
              <a:srgbClr val="C3D3EE"/>
            </a:solidFill>
            <a:prstDash val="solid"/>
          </a:ln>
        </p:spPr>
      </p:sp>
      <p:sp>
        <p:nvSpPr>
          <p:cNvPr id="51" name="Shape 43"/>
          <p:cNvSpPr/>
          <p:nvPr/>
        </p:nvSpPr>
        <p:spPr>
          <a:xfrm>
            <a:off x="9258300" y="3374136"/>
            <a:ext cx="1417320" cy="292608"/>
          </a:xfrm>
          <a:prstGeom prst="roundRect">
            <a:avLst>
              <a:gd name="adj" fmla="val 50000"/>
            </a:avLst>
          </a:prstGeom>
          <a:solidFill>
            <a:srgbClr val="11284C"/>
          </a:solidFill>
          <a:ln w="12700">
            <a:solidFill>
              <a:srgbClr val="11284C"/>
            </a:solidFill>
            <a:prstDash val="solid"/>
          </a:ln>
        </p:spPr>
      </p:sp>
      <p:sp>
        <p:nvSpPr>
          <p:cNvPr id="52" name="Text 44"/>
          <p:cNvSpPr txBox="1"/>
          <p:nvPr/>
        </p:nvSpPr>
        <p:spPr>
          <a:xfrm>
            <a:off x="9304020" y="3383280"/>
            <a:ext cx="1325880" cy="274320"/>
          </a:xfrm>
          <a:prstGeom prst="rect">
            <a:avLst/>
          </a:prstGeom>
          <a:noFill/>
          <a:ln/>
        </p:spPr>
        <p:txBody>
          <a:bodyPr wrap="square" lIns="0" tIns="0" rIns="0" bIns="0" rtlCol="0" anchor="ctr">
            <a:normAutofit/>
          </a:bodyPr>
          <a:lstStyle/>
          <a:p>
            <a:pPr algn="ctr" indent="0" marL="0">
              <a:lnSpc>
                <a:spcPct val="100000"/>
              </a:lnSpc>
              <a:buNone/>
            </a:pPr>
            <a:r>
              <a:rPr lang="en-US" sz="800" b="1" spc="70" kern="0" dirty="0">
                <a:solidFill>
                  <a:srgbClr val="FFFFFF"/>
                </a:solidFill>
                <a:latin typeface="Montserrat" pitchFamily="34" charset="0"/>
                <a:ea typeface="Montserrat" pitchFamily="34" charset="-122"/>
                <a:cs typeface="Montserrat" pitchFamily="34" charset="-120"/>
              </a:rPr>
              <a:t>CƠ SỞ DỮ LIỆU</a:t>
            </a:r>
            <a:endParaRPr lang="en-US" sz="800" dirty="0"/>
          </a:p>
        </p:txBody>
      </p:sp>
      <p:sp>
        <p:nvSpPr>
          <p:cNvPr id="53" name="Shape 45"/>
          <p:cNvSpPr/>
          <p:nvPr/>
        </p:nvSpPr>
        <p:spPr>
          <a:xfrm>
            <a:off x="8366760" y="3886200"/>
            <a:ext cx="1536192" cy="932688"/>
          </a:xfrm>
          <a:prstGeom prst="roundRect">
            <a:avLst>
              <a:gd name="adj" fmla="val 10784"/>
            </a:avLst>
          </a:prstGeom>
          <a:solidFill>
            <a:srgbClr val="FFFFFF"/>
          </a:solidFill>
          <a:ln w="15875">
            <a:solidFill>
              <a:srgbClr val="DCE6F8"/>
            </a:solidFill>
            <a:prstDash val="solid"/>
          </a:ln>
        </p:spPr>
      </p:sp>
      <p:pic>
        <p:nvPicPr>
          <p:cNvPr id="54" name="Image 6" descr="C:\Users\Quan\Documents\AIthucchien\Projects\P-005\presentation\logos\supabase.png">    </p:cNvPr>
          <p:cNvPicPr>
            <a:picLocks noChangeAspect="1"/>
          </p:cNvPicPr>
          <p:nvPr/>
        </p:nvPicPr>
        <p:blipFill>
          <a:blip r:embed="rId7"/>
          <a:stretch>
            <a:fillRect/>
          </a:stretch>
        </p:blipFill>
        <p:spPr>
          <a:xfrm>
            <a:off x="8997696" y="3995928"/>
            <a:ext cx="274320" cy="274320"/>
          </a:xfrm>
          <a:prstGeom prst="rect">
            <a:avLst/>
          </a:prstGeom>
        </p:spPr>
      </p:pic>
      <p:sp>
        <p:nvSpPr>
          <p:cNvPr id="55" name="Text 46"/>
          <p:cNvSpPr txBox="1"/>
          <p:nvPr/>
        </p:nvSpPr>
        <p:spPr>
          <a:xfrm>
            <a:off x="8421624" y="4325112"/>
            <a:ext cx="1426464"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Supabase</a:t>
            </a:r>
            <a:endParaRPr lang="en-US" sz="1250" dirty="0"/>
          </a:p>
        </p:txBody>
      </p:sp>
      <p:sp>
        <p:nvSpPr>
          <p:cNvPr id="56" name="Text 47"/>
          <p:cNvSpPr txBox="1"/>
          <p:nvPr/>
        </p:nvSpPr>
        <p:spPr>
          <a:xfrm>
            <a:off x="8421624" y="4544568"/>
            <a:ext cx="1426464" cy="164592"/>
          </a:xfrm>
          <a:prstGeom prst="rect">
            <a:avLst/>
          </a:prstGeom>
          <a:noFill/>
          <a:ln/>
        </p:spPr>
        <p:txBody>
          <a:bodyPr wrap="square" lIns="0" tIns="0" rIns="0" bIns="0" rtlCol="0" anchor="ctr">
            <a:normAutofit/>
          </a:bodyPr>
          <a:lstStyle/>
          <a:p>
            <a:pPr algn="ctr"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Hồ sơ, lịch sử</a:t>
            </a:r>
            <a:endParaRPr lang="en-US" sz="820" dirty="0"/>
          </a:p>
        </p:txBody>
      </p:sp>
      <p:sp>
        <p:nvSpPr>
          <p:cNvPr id="57" name="Shape 48"/>
          <p:cNvSpPr/>
          <p:nvPr/>
        </p:nvSpPr>
        <p:spPr>
          <a:xfrm>
            <a:off x="10030968" y="3886200"/>
            <a:ext cx="1536192" cy="932688"/>
          </a:xfrm>
          <a:prstGeom prst="roundRect">
            <a:avLst>
              <a:gd name="adj" fmla="val 10784"/>
            </a:avLst>
          </a:prstGeom>
          <a:solidFill>
            <a:srgbClr val="FFFFFF"/>
          </a:solidFill>
          <a:ln w="15875">
            <a:solidFill>
              <a:srgbClr val="DCE6F8"/>
            </a:solidFill>
            <a:prstDash val="solid"/>
          </a:ln>
        </p:spPr>
      </p:sp>
      <p:pic>
        <p:nvPicPr>
          <p:cNvPr id="58" name="Image 7" descr="C:\Users\Quan\Documents\AIthucchien\Projects\P-005\presentation\logos\cockroachlabs.png">    </p:cNvPr>
          <p:cNvPicPr>
            <a:picLocks noChangeAspect="1"/>
          </p:cNvPicPr>
          <p:nvPr/>
        </p:nvPicPr>
        <p:blipFill>
          <a:blip r:embed="rId8"/>
          <a:stretch>
            <a:fillRect/>
          </a:stretch>
        </p:blipFill>
        <p:spPr>
          <a:xfrm>
            <a:off x="10661904" y="3995928"/>
            <a:ext cx="274320" cy="274320"/>
          </a:xfrm>
          <a:prstGeom prst="rect">
            <a:avLst/>
          </a:prstGeom>
        </p:spPr>
      </p:pic>
      <p:sp>
        <p:nvSpPr>
          <p:cNvPr id="59" name="Text 49"/>
          <p:cNvSpPr txBox="1"/>
          <p:nvPr/>
        </p:nvSpPr>
        <p:spPr>
          <a:xfrm>
            <a:off x="10085832" y="4325112"/>
            <a:ext cx="1426464"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CockroachDB</a:t>
            </a:r>
            <a:endParaRPr lang="en-US" sz="1250" dirty="0"/>
          </a:p>
        </p:txBody>
      </p:sp>
      <p:sp>
        <p:nvSpPr>
          <p:cNvPr id="60" name="Text 50"/>
          <p:cNvSpPr txBox="1"/>
          <p:nvPr/>
        </p:nvSpPr>
        <p:spPr>
          <a:xfrm>
            <a:off x="10085832" y="4544568"/>
            <a:ext cx="1426464" cy="164592"/>
          </a:xfrm>
          <a:prstGeom prst="rect">
            <a:avLst/>
          </a:prstGeom>
          <a:noFill/>
          <a:ln/>
        </p:spPr>
        <p:txBody>
          <a:bodyPr wrap="square" lIns="0" tIns="0" rIns="0" bIns="0" rtlCol="0" anchor="ctr">
            <a:normAutofit/>
          </a:bodyPr>
          <a:lstStyle/>
          <a:p>
            <a:pPr algn="ctr" indent="0" marL="0">
              <a:lnSpc>
                <a:spcPct val="100000"/>
              </a:lnSpc>
              <a:buNone/>
            </a:pPr>
            <a:r>
              <a:rPr lang="en-US" sz="820" dirty="0">
                <a:solidFill>
                  <a:srgbClr val="667792"/>
                </a:solidFill>
                <a:latin typeface="Montserrat" pitchFamily="34" charset="0"/>
                <a:ea typeface="Montserrat" pitchFamily="34" charset="-122"/>
                <a:cs typeface="Montserrat" pitchFamily="34" charset="-120"/>
              </a:rPr>
              <a:t>Dữ liệu DDInter</a:t>
            </a:r>
            <a:endParaRPr lang="en-US" sz="820" dirty="0"/>
          </a:p>
        </p:txBody>
      </p:sp>
      <p:sp>
        <p:nvSpPr>
          <p:cNvPr id="61" name="Shape 51"/>
          <p:cNvSpPr/>
          <p:nvPr/>
        </p:nvSpPr>
        <p:spPr>
          <a:xfrm>
            <a:off x="7470648" y="4187952"/>
            <a:ext cx="694944" cy="512064"/>
          </a:xfrm>
          <a:prstGeom prst="roundRect">
            <a:avLst>
              <a:gd name="adj" fmla="val 16071"/>
            </a:avLst>
          </a:prstGeom>
          <a:solidFill>
            <a:srgbClr val="FFFFFF"/>
          </a:solidFill>
          <a:ln w="12700">
            <a:solidFill>
              <a:srgbClr val="C3D3EE"/>
            </a:solidFill>
            <a:prstDash val="solid"/>
          </a:ln>
        </p:spPr>
      </p:sp>
      <p:sp>
        <p:nvSpPr>
          <p:cNvPr id="62" name="Text 52"/>
          <p:cNvSpPr txBox="1"/>
          <p:nvPr/>
        </p:nvSpPr>
        <p:spPr>
          <a:xfrm>
            <a:off x="7507224" y="4187952"/>
            <a:ext cx="621792" cy="512064"/>
          </a:xfrm>
          <a:prstGeom prst="rect">
            <a:avLst/>
          </a:prstGeom>
          <a:noFill/>
          <a:ln/>
        </p:spPr>
        <p:txBody>
          <a:bodyPr wrap="square" lIns="0" tIns="0" rIns="0" bIns="0" rtlCol="0" anchor="ctr">
            <a:normAutofit/>
          </a:bodyPr>
          <a:lstStyle/>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Tra cứu tương tác</a:t>
            </a:r>
            <a:endParaRPr lang="en-US" sz="700" dirty="0"/>
          </a:p>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và lưu kết quả</a:t>
            </a:r>
            <a:endParaRPr lang="en-US" sz="700" dirty="0"/>
          </a:p>
        </p:txBody>
      </p:sp>
      <p:sp>
        <p:nvSpPr>
          <p:cNvPr id="63" name="Shape 53"/>
          <p:cNvSpPr/>
          <p:nvPr/>
        </p:nvSpPr>
        <p:spPr>
          <a:xfrm>
            <a:off x="8183880" y="5120640"/>
            <a:ext cx="3566160" cy="1143000"/>
          </a:xfrm>
          <a:prstGeom prst="roundRect">
            <a:avLst>
              <a:gd name="adj" fmla="val 11200"/>
            </a:avLst>
          </a:prstGeom>
          <a:solidFill>
            <a:srgbClr val="FFFFFF"/>
          </a:solidFill>
          <a:ln w="15875">
            <a:solidFill>
              <a:srgbClr val="C3D3EE"/>
            </a:solidFill>
            <a:prstDash val="solid"/>
          </a:ln>
        </p:spPr>
      </p:sp>
      <p:sp>
        <p:nvSpPr>
          <p:cNvPr id="64" name="Shape 54"/>
          <p:cNvSpPr/>
          <p:nvPr/>
        </p:nvSpPr>
        <p:spPr>
          <a:xfrm>
            <a:off x="9395460" y="4974336"/>
            <a:ext cx="1143000" cy="292608"/>
          </a:xfrm>
          <a:prstGeom prst="roundRect">
            <a:avLst>
              <a:gd name="adj" fmla="val 50000"/>
            </a:avLst>
          </a:prstGeom>
          <a:solidFill>
            <a:srgbClr val="11284C"/>
          </a:solidFill>
          <a:ln w="12700">
            <a:solidFill>
              <a:srgbClr val="11284C"/>
            </a:solidFill>
            <a:prstDash val="solid"/>
          </a:ln>
        </p:spPr>
      </p:sp>
      <p:sp>
        <p:nvSpPr>
          <p:cNvPr id="65" name="Text 55"/>
          <p:cNvSpPr txBox="1"/>
          <p:nvPr/>
        </p:nvSpPr>
        <p:spPr>
          <a:xfrm>
            <a:off x="9441180" y="4983480"/>
            <a:ext cx="1051560" cy="274320"/>
          </a:xfrm>
          <a:prstGeom prst="rect">
            <a:avLst/>
          </a:prstGeom>
          <a:noFill/>
          <a:ln/>
        </p:spPr>
        <p:txBody>
          <a:bodyPr wrap="square" lIns="0" tIns="0" rIns="0" bIns="0" rtlCol="0" anchor="ctr">
            <a:normAutofit/>
          </a:bodyPr>
          <a:lstStyle/>
          <a:p>
            <a:pPr algn="ctr" indent="0" marL="0">
              <a:lnSpc>
                <a:spcPct val="100000"/>
              </a:lnSpc>
              <a:buNone/>
            </a:pPr>
            <a:r>
              <a:rPr lang="en-US" sz="800" b="1" spc="70" kern="0" dirty="0">
                <a:solidFill>
                  <a:srgbClr val="FFFFFF"/>
                </a:solidFill>
                <a:latin typeface="Montserrat" pitchFamily="34" charset="0"/>
                <a:ea typeface="Montserrat" pitchFamily="34" charset="-122"/>
                <a:cs typeface="Montserrat" pitchFamily="34" charset="-120"/>
              </a:rPr>
              <a:t>DỊCH VỤ AI</a:t>
            </a:r>
            <a:endParaRPr lang="en-US" sz="800" dirty="0"/>
          </a:p>
        </p:txBody>
      </p:sp>
      <p:sp>
        <p:nvSpPr>
          <p:cNvPr id="66" name="Shape 56"/>
          <p:cNvSpPr/>
          <p:nvPr/>
        </p:nvSpPr>
        <p:spPr>
          <a:xfrm>
            <a:off x="8366760" y="5349240"/>
            <a:ext cx="3200400" cy="777240"/>
          </a:xfrm>
          <a:prstGeom prst="roundRect">
            <a:avLst>
              <a:gd name="adj" fmla="val 12941"/>
            </a:avLst>
          </a:prstGeom>
          <a:solidFill>
            <a:srgbClr val="FFFFFF"/>
          </a:solidFill>
          <a:ln w="15875">
            <a:solidFill>
              <a:srgbClr val="DCE6F8"/>
            </a:solidFill>
            <a:prstDash val="solid"/>
          </a:ln>
        </p:spPr>
      </p:sp>
      <p:pic>
        <p:nvPicPr>
          <p:cNvPr id="67" name="Image 8" descr="C:\Users\Quan\Documents\AIthucchien\Projects\P-005\presentation\logos\deepseek.png">    </p:cNvPr>
          <p:cNvPicPr>
            <a:picLocks noChangeAspect="1"/>
          </p:cNvPicPr>
          <p:nvPr/>
        </p:nvPicPr>
        <p:blipFill>
          <a:blip r:embed="rId9"/>
          <a:stretch>
            <a:fillRect/>
          </a:stretch>
        </p:blipFill>
        <p:spPr>
          <a:xfrm>
            <a:off x="9784080" y="5417820"/>
            <a:ext cx="365760" cy="365760"/>
          </a:xfrm>
          <a:prstGeom prst="rect">
            <a:avLst/>
          </a:prstGeom>
        </p:spPr>
      </p:pic>
      <p:sp>
        <p:nvSpPr>
          <p:cNvPr id="68" name="Text 57"/>
          <p:cNvSpPr txBox="1"/>
          <p:nvPr/>
        </p:nvSpPr>
        <p:spPr>
          <a:xfrm>
            <a:off x="8421624" y="5838444"/>
            <a:ext cx="3090672" cy="219456"/>
          </a:xfrm>
          <a:prstGeom prst="rect">
            <a:avLst/>
          </a:prstGeom>
          <a:noFill/>
          <a:ln/>
        </p:spPr>
        <p:txBody>
          <a:bodyPr wrap="square" lIns="0" tIns="0" rIns="0" bIns="0" rtlCol="0" anchor="ctr">
            <a:normAutofit/>
          </a:bodyPr>
          <a:lstStyle/>
          <a:p>
            <a:pPr algn="ctr" indent="0" marL="0">
              <a:lnSpc>
                <a:spcPct val="100000"/>
              </a:lnSpc>
              <a:buNone/>
            </a:pPr>
            <a:r>
              <a:rPr lang="en-US" sz="1250" b="1" dirty="0">
                <a:solidFill>
                  <a:srgbClr val="11284C"/>
                </a:solidFill>
                <a:latin typeface="Montserrat" pitchFamily="34" charset="0"/>
                <a:ea typeface="Montserrat" pitchFamily="34" charset="-122"/>
                <a:cs typeface="Montserrat" pitchFamily="34" charset="-120"/>
              </a:rPr>
              <a:t>DeepSeek Chat API</a:t>
            </a:r>
            <a:endParaRPr lang="en-US" sz="1250" dirty="0"/>
          </a:p>
        </p:txBody>
      </p:sp>
      <p:sp>
        <p:nvSpPr>
          <p:cNvPr id="69" name="Shape 58"/>
          <p:cNvSpPr/>
          <p:nvPr/>
        </p:nvSpPr>
        <p:spPr>
          <a:xfrm>
            <a:off x="7470648" y="5129784"/>
            <a:ext cx="694944" cy="457200"/>
          </a:xfrm>
          <a:prstGeom prst="roundRect">
            <a:avLst>
              <a:gd name="adj" fmla="val 18000"/>
            </a:avLst>
          </a:prstGeom>
          <a:solidFill>
            <a:srgbClr val="FFFFFF"/>
          </a:solidFill>
          <a:ln w="12700">
            <a:solidFill>
              <a:srgbClr val="C3D3EE"/>
            </a:solidFill>
            <a:prstDash val="solid"/>
          </a:ln>
        </p:spPr>
      </p:sp>
      <p:sp>
        <p:nvSpPr>
          <p:cNvPr id="70" name="Text 59"/>
          <p:cNvSpPr txBox="1"/>
          <p:nvPr/>
        </p:nvSpPr>
        <p:spPr>
          <a:xfrm>
            <a:off x="7507224" y="5129784"/>
            <a:ext cx="621792" cy="457200"/>
          </a:xfrm>
          <a:prstGeom prst="rect">
            <a:avLst/>
          </a:prstGeom>
          <a:noFill/>
          <a:ln/>
        </p:spPr>
        <p:txBody>
          <a:bodyPr wrap="square" lIns="0" tIns="0" rIns="0" bIns="0" rtlCol="0" anchor="ctr">
            <a:normAutofit/>
          </a:bodyPr>
          <a:lstStyle/>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Dịch và tổng hợp</a:t>
            </a:r>
            <a:endParaRPr lang="en-US" sz="700" dirty="0"/>
          </a:p>
          <a:p>
            <a:pPr algn="ctr" indent="0" marL="0">
              <a:lnSpc>
                <a:spcPct val="110000"/>
              </a:lnSpc>
              <a:buNone/>
            </a:pPr>
            <a:r>
              <a:rPr lang="en-US" sz="700" dirty="0">
                <a:solidFill>
                  <a:srgbClr val="253B5F"/>
                </a:solidFill>
                <a:latin typeface="Montserrat" pitchFamily="34" charset="0"/>
                <a:ea typeface="Montserrat" pitchFamily="34" charset="-122"/>
                <a:cs typeface="Montserrat" pitchFamily="34" charset="-120"/>
              </a:rPr>
              <a:t>giải thích</a:t>
            </a:r>
            <a:endParaRPr lang="en-US" sz="700" dirty="0"/>
          </a:p>
        </p:txBody>
      </p:sp>
      <p:sp>
        <p:nvSpPr>
          <p:cNvPr id="25" name="Slide Number Placeholder 0"/>
          <p:cNvSpPr>
            <a:spLocks noGrp="1"/>
          </p:cNvSpPr>
          <p:nvPr>
            <p:ph type="sldNum" sz="quarter" idx="4294967295"/>
          </p:nvPr>
        </p:nvSpPr>
        <p:spPr>
          <a:xfrm>
            <a:off x="11155680" y="6473952"/>
            <a:ext cx="50292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3829E"/>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AI20K Build Phase — Cohort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MediCheck — Kiến trúc hệ thống</dc:title>
  <dc:subject>Kiến trúc hệ thống MediCheck</dc:subject>
  <dc:creator>Team MediCheck — VMEC-12</dc:creator>
  <cp:lastModifiedBy>Team MediCheck — VMEC-12</cp:lastModifiedBy>
  <cp:revision>1</cp:revision>
  <dcterms:created xsi:type="dcterms:W3CDTF">2026-09-01T16:30:29Z</dcterms:created>
  <dcterms:modified xsi:type="dcterms:W3CDTF">2026-09-01T16:30:29Z</dcterms:modified>
</cp:coreProperties>
</file>