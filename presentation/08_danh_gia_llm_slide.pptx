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Điểm quan trọng nhất của slide này không phải con số, mà là CÁCH đo. Nhóm tách riêng 40 case chưa từng dùng để sửa hệ thống, vì nếu chỉ báo cáo trên tập đã tối ưu thì điểm sẽ đẹp một cách giả tạo. Chênh lệch chỉ 2-3% giữa hai tập cho thấy các sửa đổi mang tính tổng quát. Nhóm cũng chủ động hạ hai chỉ số từng hiển thị hoàn hảo, sau khi phát hiện công thức đo cũ quá dễ dãi: completeness chỉ kiểm tra có nhắc cơ chế và hậu quả hay không, còn guardrail thì tự quy chiếu bằng chính bộ lọc của mình. Bốn case còn sai đều đã truy được nguyên nhân và phân loại thành ba kiểu lỗi hệ thống.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EDICHECK">
    <p:bg>
      <p:bgPr>
        <a:solidFill>
          <a:srgbClr val="F5F8FD"/>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4D73C9"/>
          </a:solidFill>
          <a:ln w="12700">
            <a:solidFill>
              <a:srgbClr val="4D73C9"/>
            </a:solidFill>
            <a:prstDash val="solid"/>
          </a:ln>
        </p:spPr>
      </p:sp>
      <p:sp>
        <p:nvSpPr>
          <p:cNvPr id="3" name="Text 1"/>
          <p:cNvSpPr/>
          <p:nvPr/>
        </p:nvSpPr>
        <p:spPr>
          <a:xfrm>
            <a:off x="502920" y="6510528"/>
            <a:ext cx="2743200" cy="164592"/>
          </a:xfrm>
          <a:prstGeom prst="rect">
            <a:avLst/>
          </a:prstGeom>
          <a:noFill/>
          <a:ln/>
        </p:spPr>
        <p:txBody>
          <a:bodyPr wrap="square" lIns="0" tIns="0" rIns="0" bIns="0" rtlCol="0" anchor="ctr"/>
          <a:lstStyle/>
          <a:p>
            <a:pPr indent="0" marL="0">
              <a:buNone/>
            </a:pPr>
            <a:r>
              <a:rPr lang="en-US" sz="750" b="1" spc="140" kern="0" dirty="0">
                <a:solidFill>
                  <a:srgbClr val="73829E"/>
                </a:solidFill>
                <a:latin typeface="Montserrat" pitchFamily="34" charset="0"/>
                <a:ea typeface="Montserrat" pitchFamily="34" charset="-122"/>
                <a:cs typeface="Montserrat" pitchFamily="34" charset="-120"/>
              </a:rPr>
              <a:t>MEDICHECK  /  VMEC-12</a:t>
            </a:r>
            <a:endParaRPr lang="en-US" sz="750" dirty="0"/>
          </a:p>
        </p:txBody>
      </p:sp>
      <p:sp>
        <p:nvSpPr>
          <p:cNvPr id="25" name="Slide Number Placeholder 0"/>
          <p:cNvSpPr>
            <a:spLocks noGrp="1"/>
          </p:cNvSpPr>
          <p:nvPr>
            <p:ph type="sldNum" sz="quarter" idx="4294967295"/>
          </p:nvPr>
        </p:nvSpPr>
        <p:spPr>
          <a:xfrm>
            <a:off x="11155680" y="6473952"/>
            <a:ext cx="502920"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73829E"/>
                </a:solidFill>
                <a:latin typeface="Montserrat"/>
                <a:ea typeface="Montserrat"/>
                <a:cs typeface="Montserrat"/>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73952"/>
            <a:ext cx="502920"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73829E"/>
                </a:solidFill>
                <a:latin typeface="Montserrat"/>
                <a:ea typeface="Montserrat"/>
                <a:cs typeface="Montserrat"/>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30352" y="310896"/>
            <a:ext cx="4754880" cy="256032"/>
          </a:xfrm>
          <a:prstGeom prst="rect">
            <a:avLst/>
          </a:prstGeom>
          <a:noFill/>
          <a:ln/>
        </p:spPr>
        <p:txBody>
          <a:bodyPr wrap="square" lIns="0" tIns="0" rIns="0" bIns="0" rtlCol="0" anchor="ctr">
            <a:normAutofit/>
          </a:bodyPr>
          <a:lstStyle/>
          <a:p>
            <a:pPr algn="l" indent="0" marL="0">
              <a:lnSpc>
                <a:spcPct val="100000"/>
              </a:lnSpc>
              <a:buNone/>
            </a:pPr>
            <a:r>
              <a:rPr lang="en-US" sz="1000" b="1" spc="180" kern="0" dirty="0">
                <a:solidFill>
                  <a:srgbClr val="4D73C9"/>
                </a:solidFill>
                <a:latin typeface="Montserrat" pitchFamily="34" charset="0"/>
                <a:ea typeface="Montserrat" pitchFamily="34" charset="-122"/>
                <a:cs typeface="Montserrat" pitchFamily="34" charset="-120"/>
              </a:rPr>
              <a:t>08 / ĐÁNH GIÁ</a:t>
            </a:r>
            <a:endParaRPr lang="en-US" sz="1000" dirty="0"/>
          </a:p>
        </p:txBody>
      </p:sp>
      <p:sp>
        <p:nvSpPr>
          <p:cNvPr id="3" name="Text 1"/>
          <p:cNvSpPr txBox="1"/>
          <p:nvPr/>
        </p:nvSpPr>
        <p:spPr>
          <a:xfrm>
            <a:off x="530352" y="640080"/>
            <a:ext cx="11155680" cy="566928"/>
          </a:xfrm>
          <a:prstGeom prst="rect">
            <a:avLst/>
          </a:prstGeom>
          <a:noFill/>
          <a:ln/>
        </p:spPr>
        <p:txBody>
          <a:bodyPr wrap="square" lIns="0" tIns="0" rIns="0" bIns="0" rtlCol="0" anchor="ctr">
            <a:normAutofit/>
          </a:bodyPr>
          <a:lstStyle/>
          <a:p>
            <a:pPr algn="l" indent="0" marL="0">
              <a:lnSpc>
                <a:spcPct val="100000"/>
              </a:lnSpc>
              <a:buNone/>
            </a:pPr>
            <a:r>
              <a:rPr lang="en-US" sz="2400" b="1" dirty="0">
                <a:solidFill>
                  <a:srgbClr val="11284C"/>
                </a:solidFill>
                <a:latin typeface="Montserrat" pitchFamily="34" charset="0"/>
                <a:ea typeface="Montserrat" pitchFamily="34" charset="-122"/>
                <a:cs typeface="Montserrat" pitchFamily="34" charset="-120"/>
              </a:rPr>
              <a:t>Chất lượng đoạn giải thích do LLM sinh ra — đo trên tập chưa từng thấy</a:t>
            </a:r>
            <a:endParaRPr lang="en-US" sz="2400" dirty="0"/>
          </a:p>
        </p:txBody>
      </p:sp>
      <p:sp>
        <p:nvSpPr>
          <p:cNvPr id="4" name="Text 2"/>
          <p:cNvSpPr txBox="1"/>
          <p:nvPr/>
        </p:nvSpPr>
        <p:spPr>
          <a:xfrm>
            <a:off x="530352" y="1197864"/>
            <a:ext cx="10972800" cy="384048"/>
          </a:xfrm>
          <a:prstGeom prst="rect">
            <a:avLst/>
          </a:prstGeom>
          <a:noFill/>
          <a:ln/>
        </p:spPr>
        <p:txBody>
          <a:bodyPr wrap="square" lIns="0" tIns="0" rIns="0" bIns="0" rtlCol="0" anchor="ctr">
            <a:normAutofit/>
          </a:bodyPr>
          <a:lstStyle/>
          <a:p>
            <a:pPr algn="l" indent="0" marL="0">
              <a:lnSpc>
                <a:spcPct val="100000"/>
              </a:lnSpc>
              <a:buNone/>
            </a:pPr>
            <a:r>
              <a:rPr lang="en-US" sz="1250" dirty="0">
                <a:solidFill>
                  <a:srgbClr val="667792"/>
                </a:solidFill>
                <a:latin typeface="Montserrat" pitchFamily="34" charset="0"/>
                <a:ea typeface="Montserrat" pitchFamily="34" charset="-122"/>
                <a:cs typeface="Montserrat" pitchFamily="34" charset="-120"/>
              </a:rPr>
              <a:t>40 case mới hoàn toàn, không nằm trong tập đã dùng để tìm và sửa lỗi — để biết chất lượng thật thay vì điểm đẹp do tối ưu sẵn. Giám khảo là AI khác nhà cung cấp với model sinh nội dung.</a:t>
            </a:r>
            <a:endParaRPr lang="en-US" sz="1250" dirty="0"/>
          </a:p>
        </p:txBody>
      </p:sp>
      <p:sp>
        <p:nvSpPr>
          <p:cNvPr id="5" name="Text 3"/>
          <p:cNvSpPr txBox="1"/>
          <p:nvPr/>
        </p:nvSpPr>
        <p:spPr>
          <a:xfrm>
            <a:off x="530352" y="1700784"/>
            <a:ext cx="4572000" cy="237744"/>
          </a:xfrm>
          <a:prstGeom prst="rect">
            <a:avLst/>
          </a:prstGeom>
          <a:noFill/>
          <a:ln/>
        </p:spPr>
        <p:txBody>
          <a:bodyPr wrap="square" lIns="0" tIns="0" rIns="0" bIns="0" rtlCol="0" anchor="ctr">
            <a:normAutofit/>
          </a:bodyPr>
          <a:lstStyle/>
          <a:p>
            <a:pPr algn="l" indent="0" marL="0">
              <a:lnSpc>
                <a:spcPct val="100000"/>
              </a:lnSpc>
              <a:buNone/>
            </a:pPr>
            <a:r>
              <a:rPr lang="en-US" sz="1000" b="1" spc="130" kern="0" dirty="0">
                <a:solidFill>
                  <a:srgbClr val="4D73C9"/>
                </a:solidFill>
                <a:latin typeface="Montserrat" pitchFamily="34" charset="0"/>
                <a:ea typeface="Montserrat" pitchFamily="34" charset="-122"/>
                <a:cs typeface="Montserrat" pitchFamily="34" charset="-120"/>
              </a:rPr>
              <a:t>SCORECARD  ·  HELD-OUT SET (40 CASE)</a:t>
            </a:r>
            <a:endParaRPr lang="en-US" sz="1000" dirty="0"/>
          </a:p>
        </p:txBody>
      </p:sp>
      <p:sp>
        <p:nvSpPr>
          <p:cNvPr id="6" name="Shape 4"/>
          <p:cNvSpPr/>
          <p:nvPr/>
        </p:nvSpPr>
        <p:spPr>
          <a:xfrm>
            <a:off x="530352" y="1993392"/>
            <a:ext cx="2658618" cy="1115568"/>
          </a:xfrm>
          <a:prstGeom prst="roundRect">
            <a:avLst>
              <a:gd name="adj" fmla="val 13115"/>
            </a:avLst>
          </a:prstGeom>
          <a:solidFill>
            <a:srgbClr val="FFF1D9"/>
          </a:solidFill>
          <a:ln w="12700">
            <a:solidFill>
              <a:srgbClr val="FFF1D9"/>
            </a:solidFill>
            <a:prstDash val="solid"/>
          </a:ln>
        </p:spPr>
      </p:sp>
      <p:sp>
        <p:nvSpPr>
          <p:cNvPr id="7" name="Text 5"/>
          <p:cNvSpPr txBox="1"/>
          <p:nvPr/>
        </p:nvSpPr>
        <p:spPr>
          <a:xfrm>
            <a:off x="713232" y="2121408"/>
            <a:ext cx="2292858" cy="457200"/>
          </a:xfrm>
          <a:prstGeom prst="rect">
            <a:avLst/>
          </a:prstGeom>
          <a:noFill/>
          <a:ln/>
        </p:spPr>
        <p:txBody>
          <a:bodyPr wrap="square" lIns="0" tIns="0" rIns="0" bIns="0" rtlCol="0" anchor="ctr">
            <a:normAutofit/>
          </a:bodyPr>
          <a:lstStyle/>
          <a:p>
            <a:pPr algn="l" indent="0" marL="0">
              <a:lnSpc>
                <a:spcPct val="100000"/>
              </a:lnSpc>
              <a:buNone/>
            </a:pPr>
            <a:r>
              <a:rPr lang="en-US" sz="2200" b="1" dirty="0">
                <a:solidFill>
                  <a:srgbClr val="C68A2E"/>
                </a:solidFill>
                <a:latin typeface="Montserrat" pitchFamily="34" charset="0"/>
                <a:ea typeface="Montserrat" pitchFamily="34" charset="-122"/>
                <a:cs typeface="Montserrat" pitchFamily="34" charset="-120"/>
              </a:rPr>
              <a:t>0,948</a:t>
            </a:r>
            <a:endParaRPr lang="en-US" sz="2200" dirty="0"/>
          </a:p>
        </p:txBody>
      </p:sp>
      <p:sp>
        <p:nvSpPr>
          <p:cNvPr id="8" name="Text 6"/>
          <p:cNvSpPr txBox="1"/>
          <p:nvPr/>
        </p:nvSpPr>
        <p:spPr>
          <a:xfrm>
            <a:off x="713232" y="2596896"/>
            <a:ext cx="2292858" cy="256032"/>
          </a:xfrm>
          <a:prstGeom prst="rect">
            <a:avLst/>
          </a:prstGeom>
          <a:noFill/>
          <a:ln/>
        </p:spPr>
        <p:txBody>
          <a:bodyPr wrap="square" lIns="0" tIns="0" rIns="0" bIns="0" rtlCol="0" anchor="ctr">
            <a:normAutofit/>
          </a:bodyPr>
          <a:lstStyle/>
          <a:p>
            <a:pPr algn="l" indent="0" marL="0">
              <a:lnSpc>
                <a:spcPct val="100000"/>
              </a:lnSpc>
              <a:buNone/>
            </a:pPr>
            <a:r>
              <a:rPr lang="en-US" sz="1100" b="1" dirty="0">
                <a:solidFill>
                  <a:srgbClr val="11284C"/>
                </a:solidFill>
                <a:latin typeface="Montserrat" pitchFamily="34" charset="0"/>
                <a:ea typeface="Montserrat" pitchFamily="34" charset="-122"/>
                <a:cs typeface="Montserrat" pitchFamily="34" charset="-120"/>
              </a:rPr>
              <a:t>Faithfulness</a:t>
            </a:r>
            <a:endParaRPr lang="en-US" sz="1100" dirty="0"/>
          </a:p>
        </p:txBody>
      </p:sp>
      <p:sp>
        <p:nvSpPr>
          <p:cNvPr id="9" name="Text 7"/>
          <p:cNvSpPr txBox="1"/>
          <p:nvPr/>
        </p:nvSpPr>
        <p:spPr>
          <a:xfrm>
            <a:off x="713232" y="2834640"/>
            <a:ext cx="2292858" cy="256032"/>
          </a:xfrm>
          <a:prstGeom prst="rect">
            <a:avLst/>
          </a:prstGeom>
          <a:noFill/>
          <a:ln/>
        </p:spPr>
        <p:txBody>
          <a:bodyPr wrap="square" lIns="0" tIns="0" rIns="0" bIns="0" rtlCol="0" anchor="ctr">
            <a:normAutofit/>
          </a:bodyPr>
          <a:lstStyle/>
          <a:p>
            <a:pPr algn="l" indent="0" marL="0">
              <a:lnSpc>
                <a:spcPct val="100000"/>
              </a:lnSpc>
              <a:buNone/>
            </a:pPr>
            <a:r>
              <a:rPr lang="en-US" sz="820" dirty="0">
                <a:solidFill>
                  <a:srgbClr val="667792"/>
                </a:solidFill>
                <a:latin typeface="Montserrat" pitchFamily="34" charset="0"/>
                <a:ea typeface="Montserrat" pitchFamily="34" charset="-122"/>
                <a:cs typeface="Montserrat" pitchFamily="34" charset="-120"/>
              </a:rPr>
              <a:t>bám sát nguồn · ngưỡng 0,95</a:t>
            </a:r>
            <a:endParaRPr lang="en-US" sz="820" dirty="0"/>
          </a:p>
        </p:txBody>
      </p:sp>
      <p:sp>
        <p:nvSpPr>
          <p:cNvPr id="10" name="Shape 8"/>
          <p:cNvSpPr/>
          <p:nvPr/>
        </p:nvSpPr>
        <p:spPr>
          <a:xfrm>
            <a:off x="3353562" y="1993392"/>
            <a:ext cx="2658618" cy="1115568"/>
          </a:xfrm>
          <a:prstGeom prst="roundRect">
            <a:avLst>
              <a:gd name="adj" fmla="val 13115"/>
            </a:avLst>
          </a:prstGeom>
          <a:solidFill>
            <a:srgbClr val="E1F5EF"/>
          </a:solidFill>
          <a:ln w="12700">
            <a:solidFill>
              <a:srgbClr val="E1F5EF"/>
            </a:solidFill>
            <a:prstDash val="solid"/>
          </a:ln>
        </p:spPr>
      </p:sp>
      <p:sp>
        <p:nvSpPr>
          <p:cNvPr id="11" name="Text 9"/>
          <p:cNvSpPr txBox="1"/>
          <p:nvPr/>
        </p:nvSpPr>
        <p:spPr>
          <a:xfrm>
            <a:off x="3536442" y="2121408"/>
            <a:ext cx="2292858" cy="457200"/>
          </a:xfrm>
          <a:prstGeom prst="rect">
            <a:avLst/>
          </a:prstGeom>
          <a:noFill/>
          <a:ln/>
        </p:spPr>
        <p:txBody>
          <a:bodyPr wrap="square" lIns="0" tIns="0" rIns="0" bIns="0" rtlCol="0" anchor="ctr">
            <a:normAutofit/>
          </a:bodyPr>
          <a:lstStyle/>
          <a:p>
            <a:pPr algn="l" indent="0" marL="0">
              <a:lnSpc>
                <a:spcPct val="100000"/>
              </a:lnSpc>
              <a:buNone/>
            </a:pPr>
            <a:r>
              <a:rPr lang="en-US" sz="2200" b="1" dirty="0">
                <a:solidFill>
                  <a:srgbClr val="2C9A83"/>
                </a:solidFill>
                <a:latin typeface="Montserrat" pitchFamily="34" charset="0"/>
                <a:ea typeface="Montserrat" pitchFamily="34" charset="-122"/>
                <a:cs typeface="Montserrat" pitchFamily="34" charset="-120"/>
              </a:rPr>
              <a:t>4,64</a:t>
            </a:r>
            <a:endParaRPr lang="en-US" sz="2200" dirty="0"/>
          </a:p>
        </p:txBody>
      </p:sp>
      <p:sp>
        <p:nvSpPr>
          <p:cNvPr id="12" name="Text 10"/>
          <p:cNvSpPr txBox="1"/>
          <p:nvPr/>
        </p:nvSpPr>
        <p:spPr>
          <a:xfrm>
            <a:off x="3536442" y="2596896"/>
            <a:ext cx="2292858" cy="256032"/>
          </a:xfrm>
          <a:prstGeom prst="rect">
            <a:avLst/>
          </a:prstGeom>
          <a:noFill/>
          <a:ln/>
        </p:spPr>
        <p:txBody>
          <a:bodyPr wrap="square" lIns="0" tIns="0" rIns="0" bIns="0" rtlCol="0" anchor="ctr">
            <a:normAutofit/>
          </a:bodyPr>
          <a:lstStyle/>
          <a:p>
            <a:pPr algn="l" indent="0" marL="0">
              <a:lnSpc>
                <a:spcPct val="100000"/>
              </a:lnSpc>
              <a:buNone/>
            </a:pPr>
            <a:r>
              <a:rPr lang="en-US" sz="1100" b="1" dirty="0">
                <a:solidFill>
                  <a:srgbClr val="11284C"/>
                </a:solidFill>
                <a:latin typeface="Montserrat" pitchFamily="34" charset="0"/>
                <a:ea typeface="Montserrat" pitchFamily="34" charset="-122"/>
                <a:cs typeface="Montserrat" pitchFamily="34" charset="-120"/>
              </a:rPr>
              <a:t>Relevance  /5</a:t>
            </a:r>
            <a:endParaRPr lang="en-US" sz="1100" dirty="0"/>
          </a:p>
        </p:txBody>
      </p:sp>
      <p:sp>
        <p:nvSpPr>
          <p:cNvPr id="13" name="Text 11"/>
          <p:cNvSpPr txBox="1"/>
          <p:nvPr/>
        </p:nvSpPr>
        <p:spPr>
          <a:xfrm>
            <a:off x="3536442" y="2834640"/>
            <a:ext cx="2292858" cy="256032"/>
          </a:xfrm>
          <a:prstGeom prst="rect">
            <a:avLst/>
          </a:prstGeom>
          <a:noFill/>
          <a:ln/>
        </p:spPr>
        <p:txBody>
          <a:bodyPr wrap="square" lIns="0" tIns="0" rIns="0" bIns="0" rtlCol="0" anchor="ctr">
            <a:normAutofit/>
          </a:bodyPr>
          <a:lstStyle/>
          <a:p>
            <a:pPr algn="l" indent="0" marL="0">
              <a:lnSpc>
                <a:spcPct val="100000"/>
              </a:lnSpc>
              <a:buNone/>
            </a:pPr>
            <a:r>
              <a:rPr lang="en-US" sz="820" dirty="0">
                <a:solidFill>
                  <a:srgbClr val="667792"/>
                </a:solidFill>
                <a:latin typeface="Montserrat" pitchFamily="34" charset="0"/>
                <a:ea typeface="Montserrat" pitchFamily="34" charset="-122"/>
                <a:cs typeface="Montserrat" pitchFamily="34" charset="-120"/>
              </a:rPr>
              <a:t>đúng trọng tâm · ngưỡng 4,3</a:t>
            </a:r>
            <a:endParaRPr lang="en-US" sz="820" dirty="0"/>
          </a:p>
        </p:txBody>
      </p:sp>
      <p:sp>
        <p:nvSpPr>
          <p:cNvPr id="14" name="Shape 12"/>
          <p:cNvSpPr/>
          <p:nvPr/>
        </p:nvSpPr>
        <p:spPr>
          <a:xfrm>
            <a:off x="6176772" y="1993392"/>
            <a:ext cx="2658618" cy="1115568"/>
          </a:xfrm>
          <a:prstGeom prst="roundRect">
            <a:avLst>
              <a:gd name="adj" fmla="val 13115"/>
            </a:avLst>
          </a:prstGeom>
          <a:solidFill>
            <a:srgbClr val="E1F5EF"/>
          </a:solidFill>
          <a:ln w="12700">
            <a:solidFill>
              <a:srgbClr val="E1F5EF"/>
            </a:solidFill>
            <a:prstDash val="solid"/>
          </a:ln>
        </p:spPr>
      </p:sp>
      <p:sp>
        <p:nvSpPr>
          <p:cNvPr id="15" name="Text 13"/>
          <p:cNvSpPr txBox="1"/>
          <p:nvPr/>
        </p:nvSpPr>
        <p:spPr>
          <a:xfrm>
            <a:off x="6359652" y="2121408"/>
            <a:ext cx="2292858" cy="457200"/>
          </a:xfrm>
          <a:prstGeom prst="rect">
            <a:avLst/>
          </a:prstGeom>
          <a:noFill/>
          <a:ln/>
        </p:spPr>
        <p:txBody>
          <a:bodyPr wrap="square" lIns="0" tIns="0" rIns="0" bIns="0" rtlCol="0" anchor="ctr">
            <a:normAutofit/>
          </a:bodyPr>
          <a:lstStyle/>
          <a:p>
            <a:pPr algn="l" indent="0" marL="0">
              <a:lnSpc>
                <a:spcPct val="100000"/>
              </a:lnSpc>
              <a:buNone/>
            </a:pPr>
            <a:r>
              <a:rPr lang="en-US" sz="2200" b="1" dirty="0">
                <a:solidFill>
                  <a:srgbClr val="2C9A83"/>
                </a:solidFill>
                <a:latin typeface="Montserrat" pitchFamily="34" charset="0"/>
                <a:ea typeface="Montserrat" pitchFamily="34" charset="-122"/>
                <a:cs typeface="Montserrat" pitchFamily="34" charset="-120"/>
              </a:rPr>
              <a:t>0,944</a:t>
            </a:r>
            <a:endParaRPr lang="en-US" sz="2200" dirty="0"/>
          </a:p>
        </p:txBody>
      </p:sp>
      <p:sp>
        <p:nvSpPr>
          <p:cNvPr id="16" name="Text 14"/>
          <p:cNvSpPr txBox="1"/>
          <p:nvPr/>
        </p:nvSpPr>
        <p:spPr>
          <a:xfrm>
            <a:off x="6359652" y="2596896"/>
            <a:ext cx="2292858" cy="256032"/>
          </a:xfrm>
          <a:prstGeom prst="rect">
            <a:avLst/>
          </a:prstGeom>
          <a:noFill/>
          <a:ln/>
        </p:spPr>
        <p:txBody>
          <a:bodyPr wrap="square" lIns="0" tIns="0" rIns="0" bIns="0" rtlCol="0" anchor="ctr">
            <a:normAutofit/>
          </a:bodyPr>
          <a:lstStyle/>
          <a:p>
            <a:pPr algn="l" indent="0" marL="0">
              <a:lnSpc>
                <a:spcPct val="100000"/>
              </a:lnSpc>
              <a:buNone/>
            </a:pPr>
            <a:r>
              <a:rPr lang="en-US" sz="1100" b="1" dirty="0">
                <a:solidFill>
                  <a:srgbClr val="11284C"/>
                </a:solidFill>
                <a:latin typeface="Montserrat" pitchFamily="34" charset="0"/>
                <a:ea typeface="Montserrat" pitchFamily="34" charset="-122"/>
                <a:cs typeface="Montserrat" pitchFamily="34" charset="-120"/>
              </a:rPr>
              <a:t>Completeness</a:t>
            </a:r>
            <a:endParaRPr lang="en-US" sz="1100" dirty="0"/>
          </a:p>
        </p:txBody>
      </p:sp>
      <p:sp>
        <p:nvSpPr>
          <p:cNvPr id="17" name="Text 15"/>
          <p:cNvSpPr txBox="1"/>
          <p:nvPr/>
        </p:nvSpPr>
        <p:spPr>
          <a:xfrm>
            <a:off x="6359652" y="2834640"/>
            <a:ext cx="2292858" cy="256032"/>
          </a:xfrm>
          <a:prstGeom prst="rect">
            <a:avLst/>
          </a:prstGeom>
          <a:noFill/>
          <a:ln/>
        </p:spPr>
        <p:txBody>
          <a:bodyPr wrap="square" lIns="0" tIns="0" rIns="0" bIns="0" rtlCol="0" anchor="ctr">
            <a:normAutofit/>
          </a:bodyPr>
          <a:lstStyle/>
          <a:p>
            <a:pPr algn="l" indent="0" marL="0">
              <a:lnSpc>
                <a:spcPct val="100000"/>
              </a:lnSpc>
              <a:buNone/>
            </a:pPr>
            <a:r>
              <a:rPr lang="en-US" sz="820" dirty="0">
                <a:solidFill>
                  <a:srgbClr val="667792"/>
                </a:solidFill>
                <a:latin typeface="Montserrat" pitchFamily="34" charset="0"/>
                <a:ea typeface="Montserrat" pitchFamily="34" charset="-122"/>
                <a:cs typeface="Montserrat" pitchFamily="34" charset="-120"/>
              </a:rPr>
              <a:t>đủ cơ chế + hậu quả · ngưỡng 0,90</a:t>
            </a:r>
            <a:endParaRPr lang="en-US" sz="820" dirty="0"/>
          </a:p>
        </p:txBody>
      </p:sp>
      <p:sp>
        <p:nvSpPr>
          <p:cNvPr id="18" name="Shape 16"/>
          <p:cNvSpPr/>
          <p:nvPr/>
        </p:nvSpPr>
        <p:spPr>
          <a:xfrm>
            <a:off x="8999982" y="1993392"/>
            <a:ext cx="2658618" cy="1115568"/>
          </a:xfrm>
          <a:prstGeom prst="roundRect">
            <a:avLst>
              <a:gd name="adj" fmla="val 13115"/>
            </a:avLst>
          </a:prstGeom>
          <a:solidFill>
            <a:srgbClr val="FFF1D9"/>
          </a:solidFill>
          <a:ln w="12700">
            <a:solidFill>
              <a:srgbClr val="FFF1D9"/>
            </a:solidFill>
            <a:prstDash val="solid"/>
          </a:ln>
        </p:spPr>
      </p:sp>
      <p:sp>
        <p:nvSpPr>
          <p:cNvPr id="19" name="Text 17"/>
          <p:cNvSpPr txBox="1"/>
          <p:nvPr/>
        </p:nvSpPr>
        <p:spPr>
          <a:xfrm>
            <a:off x="9182862" y="2121408"/>
            <a:ext cx="2292858" cy="457200"/>
          </a:xfrm>
          <a:prstGeom prst="rect">
            <a:avLst/>
          </a:prstGeom>
          <a:noFill/>
          <a:ln/>
        </p:spPr>
        <p:txBody>
          <a:bodyPr wrap="square" lIns="0" tIns="0" rIns="0" bIns="0" rtlCol="0" anchor="ctr">
            <a:normAutofit/>
          </a:bodyPr>
          <a:lstStyle/>
          <a:p>
            <a:pPr algn="l" indent="0" marL="0">
              <a:lnSpc>
                <a:spcPct val="100000"/>
              </a:lnSpc>
              <a:buNone/>
            </a:pPr>
            <a:r>
              <a:rPr lang="en-US" sz="2200" b="1" dirty="0">
                <a:solidFill>
                  <a:srgbClr val="C68A2E"/>
                </a:solidFill>
                <a:latin typeface="Montserrat" pitchFamily="34" charset="0"/>
                <a:ea typeface="Montserrat" pitchFamily="34" charset="-122"/>
                <a:cs typeface="Montserrat" pitchFamily="34" charset="-120"/>
              </a:rPr>
              <a:t>0,957</a:t>
            </a:r>
            <a:endParaRPr lang="en-US" sz="2200" dirty="0"/>
          </a:p>
        </p:txBody>
      </p:sp>
      <p:sp>
        <p:nvSpPr>
          <p:cNvPr id="20" name="Text 18"/>
          <p:cNvSpPr txBox="1"/>
          <p:nvPr/>
        </p:nvSpPr>
        <p:spPr>
          <a:xfrm>
            <a:off x="9182862" y="2596896"/>
            <a:ext cx="2292858" cy="256032"/>
          </a:xfrm>
          <a:prstGeom prst="rect">
            <a:avLst/>
          </a:prstGeom>
          <a:noFill/>
          <a:ln/>
        </p:spPr>
        <p:txBody>
          <a:bodyPr wrap="square" lIns="0" tIns="0" rIns="0" bIns="0" rtlCol="0" anchor="ctr">
            <a:normAutofit/>
          </a:bodyPr>
          <a:lstStyle/>
          <a:p>
            <a:pPr algn="l" indent="0" marL="0">
              <a:lnSpc>
                <a:spcPct val="100000"/>
              </a:lnSpc>
              <a:buNone/>
            </a:pPr>
            <a:r>
              <a:rPr lang="en-US" sz="1100" b="1" dirty="0">
                <a:solidFill>
                  <a:srgbClr val="11284C"/>
                </a:solidFill>
                <a:latin typeface="Montserrat" pitchFamily="34" charset="0"/>
                <a:ea typeface="Montserrat" pitchFamily="34" charset="-122"/>
                <a:cs typeface="Montserrat" pitchFamily="34" charset="-120"/>
              </a:rPr>
              <a:t>Safety</a:t>
            </a:r>
            <a:endParaRPr lang="en-US" sz="1100" dirty="0"/>
          </a:p>
        </p:txBody>
      </p:sp>
      <p:sp>
        <p:nvSpPr>
          <p:cNvPr id="21" name="Text 19"/>
          <p:cNvSpPr txBox="1"/>
          <p:nvPr/>
        </p:nvSpPr>
        <p:spPr>
          <a:xfrm>
            <a:off x="9182862" y="2834640"/>
            <a:ext cx="2292858" cy="256032"/>
          </a:xfrm>
          <a:prstGeom prst="rect">
            <a:avLst/>
          </a:prstGeom>
          <a:noFill/>
          <a:ln/>
        </p:spPr>
        <p:txBody>
          <a:bodyPr wrap="square" lIns="0" tIns="0" rIns="0" bIns="0" rtlCol="0" anchor="ctr">
            <a:normAutofit/>
          </a:bodyPr>
          <a:lstStyle/>
          <a:p>
            <a:pPr algn="l" indent="0" marL="0">
              <a:lnSpc>
                <a:spcPct val="100000"/>
              </a:lnSpc>
              <a:buNone/>
            </a:pPr>
            <a:r>
              <a:rPr lang="en-US" sz="820" dirty="0">
                <a:solidFill>
                  <a:srgbClr val="667792"/>
                </a:solidFill>
                <a:latin typeface="Montserrat" pitchFamily="34" charset="0"/>
                <a:ea typeface="Montserrat" pitchFamily="34" charset="-122"/>
                <a:cs typeface="Montserrat" pitchFamily="34" charset="-120"/>
              </a:rPr>
              <a:t>không lộ lời khuyên xử trí · 22/23</a:t>
            </a:r>
            <a:endParaRPr lang="en-US" sz="820" dirty="0"/>
          </a:p>
        </p:txBody>
      </p:sp>
      <p:sp>
        <p:nvSpPr>
          <p:cNvPr id="22" name="Text 20"/>
          <p:cNvSpPr txBox="1"/>
          <p:nvPr/>
        </p:nvSpPr>
        <p:spPr>
          <a:xfrm>
            <a:off x="530352" y="3163824"/>
            <a:ext cx="11128248" cy="237744"/>
          </a:xfrm>
          <a:prstGeom prst="rect">
            <a:avLst/>
          </a:prstGeom>
          <a:noFill/>
          <a:ln/>
        </p:spPr>
        <p:txBody>
          <a:bodyPr wrap="square" lIns="0" tIns="0" rIns="0" bIns="0" rtlCol="0" anchor="ctr">
            <a:normAutofit/>
          </a:bodyPr>
          <a:lstStyle/>
          <a:p>
            <a:pPr algn="l" indent="0" marL="0">
              <a:lnSpc>
                <a:spcPct val="100000"/>
              </a:lnSpc>
              <a:buNone/>
            </a:pPr>
            <a:r>
              <a:rPr lang="en-US" sz="960" i="1" dirty="0">
                <a:solidFill>
                  <a:srgbClr val="667792"/>
                </a:solidFill>
                <a:latin typeface="Montserrat" pitchFamily="34" charset="0"/>
                <a:ea typeface="Montserrat" pitchFamily="34" charset="-122"/>
                <a:cs typeface="Montserrat" pitchFamily="34" charset="-120"/>
              </a:rPr>
              <a:t>Chênh 2–3% so với tập đã tối ưu (0,970 / 4,67 / 0,930 / 0,969) → hệ thống tổng quát hoá tốt, không học thuộc case cũ.</a:t>
            </a:r>
            <a:endParaRPr lang="en-US" sz="960" dirty="0"/>
          </a:p>
        </p:txBody>
      </p:sp>
      <p:sp>
        <p:nvSpPr>
          <p:cNvPr id="23" name="Text 21"/>
          <p:cNvSpPr txBox="1"/>
          <p:nvPr/>
        </p:nvSpPr>
        <p:spPr>
          <a:xfrm>
            <a:off x="530352" y="3529584"/>
            <a:ext cx="4572000" cy="237744"/>
          </a:xfrm>
          <a:prstGeom prst="rect">
            <a:avLst/>
          </a:prstGeom>
          <a:noFill/>
          <a:ln/>
        </p:spPr>
        <p:txBody>
          <a:bodyPr wrap="square" lIns="0" tIns="0" rIns="0" bIns="0" rtlCol="0" anchor="ctr">
            <a:normAutofit/>
          </a:bodyPr>
          <a:lstStyle/>
          <a:p>
            <a:pPr algn="l" indent="0" marL="0">
              <a:lnSpc>
                <a:spcPct val="100000"/>
              </a:lnSpc>
              <a:buNone/>
            </a:pPr>
            <a:r>
              <a:rPr lang="en-US" sz="1000" b="1" spc="130" kern="0" dirty="0">
                <a:solidFill>
                  <a:srgbClr val="4D73C9"/>
                </a:solidFill>
                <a:latin typeface="Montserrat" pitchFamily="34" charset="0"/>
                <a:ea typeface="Montserrat" pitchFamily="34" charset="-122"/>
                <a:cs typeface="Montserrat" pitchFamily="34" charset="-120"/>
              </a:rPr>
              <a:t>HAI VÍ DỤ THẬT TỪ TẬP KIỂM TRA</a:t>
            </a:r>
            <a:endParaRPr lang="en-US" sz="1000" dirty="0"/>
          </a:p>
        </p:txBody>
      </p:sp>
      <p:sp>
        <p:nvSpPr>
          <p:cNvPr id="24" name="Shape 22"/>
          <p:cNvSpPr/>
          <p:nvPr/>
        </p:nvSpPr>
        <p:spPr>
          <a:xfrm>
            <a:off x="530352" y="3822192"/>
            <a:ext cx="5468112" cy="1783080"/>
          </a:xfrm>
          <a:prstGeom prst="roundRect">
            <a:avLst>
              <a:gd name="adj" fmla="val 8718"/>
            </a:avLst>
          </a:prstGeom>
          <a:solidFill>
            <a:srgbClr val="E1F5EF"/>
          </a:solidFill>
          <a:ln w="12700">
            <a:solidFill>
              <a:srgbClr val="E1F5EF"/>
            </a:solidFill>
            <a:prstDash val="solid"/>
          </a:ln>
        </p:spPr>
      </p:sp>
      <p:sp>
        <p:nvSpPr>
          <p:cNvPr id="25" name="Shape 23"/>
          <p:cNvSpPr/>
          <p:nvPr/>
        </p:nvSpPr>
        <p:spPr>
          <a:xfrm>
            <a:off x="530352" y="3822192"/>
            <a:ext cx="73152" cy="1783080"/>
          </a:xfrm>
          <a:prstGeom prst="rect">
            <a:avLst/>
          </a:prstGeom>
          <a:solidFill>
            <a:srgbClr val="2C9A83"/>
          </a:solidFill>
          <a:ln w="12700">
            <a:solidFill>
              <a:srgbClr val="2C9A83"/>
            </a:solidFill>
            <a:prstDash val="solid"/>
          </a:ln>
        </p:spPr>
      </p:sp>
      <p:sp>
        <p:nvSpPr>
          <p:cNvPr id="26" name="Text 24"/>
          <p:cNvSpPr txBox="1"/>
          <p:nvPr/>
        </p:nvSpPr>
        <p:spPr>
          <a:xfrm>
            <a:off x="786384" y="3968496"/>
            <a:ext cx="2194560" cy="237744"/>
          </a:xfrm>
          <a:prstGeom prst="rect">
            <a:avLst/>
          </a:prstGeom>
          <a:noFill/>
          <a:ln/>
        </p:spPr>
        <p:txBody>
          <a:bodyPr wrap="square" lIns="0" tIns="0" rIns="0" bIns="0" rtlCol="0" anchor="ctr">
            <a:normAutofit/>
          </a:bodyPr>
          <a:lstStyle/>
          <a:p>
            <a:pPr algn="l" indent="0" marL="0">
              <a:lnSpc>
                <a:spcPct val="100000"/>
              </a:lnSpc>
              <a:buNone/>
            </a:pPr>
            <a:r>
              <a:rPr lang="en-US" sz="1000" b="1" spc="80" kern="0" dirty="0">
                <a:solidFill>
                  <a:srgbClr val="2C9A83"/>
                </a:solidFill>
                <a:latin typeface="Montserrat" pitchFamily="34" charset="0"/>
                <a:ea typeface="Montserrat" pitchFamily="34" charset="-122"/>
                <a:cs typeface="Montserrat" pitchFamily="34" charset="-120"/>
              </a:rPr>
              <a:t>✓  LỌC ĐÚNG</a:t>
            </a:r>
            <a:endParaRPr lang="en-US" sz="1000" dirty="0"/>
          </a:p>
        </p:txBody>
      </p:sp>
      <p:sp>
        <p:nvSpPr>
          <p:cNvPr id="27" name="Text 25"/>
          <p:cNvSpPr txBox="1"/>
          <p:nvPr/>
        </p:nvSpPr>
        <p:spPr>
          <a:xfrm>
            <a:off x="786384" y="4224528"/>
            <a:ext cx="4937760" cy="237744"/>
          </a:xfrm>
          <a:prstGeom prst="rect">
            <a:avLst/>
          </a:prstGeom>
          <a:noFill/>
          <a:ln/>
        </p:spPr>
        <p:txBody>
          <a:bodyPr wrap="square" lIns="0" tIns="0" rIns="0" bIns="0" rtlCol="0" anchor="ctr">
            <a:normAutofit/>
          </a:bodyPr>
          <a:lstStyle/>
          <a:p>
            <a:pPr algn="l" indent="0" marL="0">
              <a:lnSpc>
                <a:spcPct val="100000"/>
              </a:lnSpc>
              <a:buNone/>
            </a:pPr>
            <a:r>
              <a:rPr lang="en-US" sz="1100" b="1" dirty="0">
                <a:solidFill>
                  <a:srgbClr val="11284C"/>
                </a:solidFill>
                <a:latin typeface="Montserrat" pitchFamily="34" charset="0"/>
                <a:ea typeface="Montserrat" pitchFamily="34" charset="-122"/>
                <a:cs typeface="Montserrat" pitchFamily="34" charset="-120"/>
              </a:rPr>
              <a:t>Penicillamine × thức ăn — người dùng là bệnh nhân</a:t>
            </a:r>
            <a:endParaRPr lang="en-US" sz="1100" dirty="0"/>
          </a:p>
        </p:txBody>
      </p:sp>
      <p:sp>
        <p:nvSpPr>
          <p:cNvPr id="28" name="Text 26"/>
          <p:cNvSpPr txBox="1"/>
          <p:nvPr/>
        </p:nvSpPr>
        <p:spPr>
          <a:xfrm>
            <a:off x="786384" y="4517136"/>
            <a:ext cx="4937760" cy="969264"/>
          </a:xfrm>
          <a:prstGeom prst="rect">
            <a:avLst/>
          </a:prstGeom>
          <a:noFill/>
          <a:ln/>
        </p:spPr>
        <p:txBody>
          <a:bodyPr wrap="square" lIns="0" tIns="0" rIns="0" bIns="0" rtlCol="0" anchor="t">
            <a:normAutofit/>
          </a:bodyPr>
          <a:lstStyle/>
          <a:p>
            <a:pPr algn="l" indent="0" marL="0">
              <a:lnSpc>
                <a:spcPct val="105000"/>
              </a:lnSpc>
              <a:buNone/>
            </a:pPr>
            <a:r>
              <a:rPr lang="en-US" sz="1000" dirty="0">
                <a:solidFill>
                  <a:srgbClr val="253B5F"/>
                </a:solidFill>
                <a:latin typeface="Montserrat" pitchFamily="34" charset="0"/>
                <a:ea typeface="Montserrat" pitchFamily="34" charset="-122"/>
                <a:cs typeface="Montserrat" pitchFamily="34" charset="-120"/>
              </a:rPr>
              <a:t>Nguồn có chỉ dẫn cụ thể: "uống lúc đói, ít nhất 1 giờ trước hoặc 2 giờ sau bữa ăn".</a:t>
            </a:r>
            <a:endParaRPr lang="en-US" sz="1000" dirty="0"/>
          </a:p>
          <a:p>
            <a:pPr algn="l" indent="0" marL="0">
              <a:lnSpc>
                <a:spcPct val="105000"/>
              </a:lnSpc>
              <a:buNone/>
            </a:pPr>
            <a:r>
              <a:rPr lang="en-US" sz="1000" dirty="0">
                <a:solidFill>
                  <a:srgbClr val="253B5F"/>
                </a:solidFill>
                <a:latin typeface="Montserrat" pitchFamily="34" charset="0"/>
                <a:ea typeface="Montserrat" pitchFamily="34" charset="-122"/>
                <a:cs typeface="Montserrat" pitchFamily="34" charset="-120"/>
              </a:rPr>
              <a:t>AI chỉ nói RỦI RO ("thức ăn cản trở hấp thu, thuốc kém tác dụng"), KHÔNG truyền chỉ dẫn giờ giấc — đúng thiết kế: quyết định xử trí thuộc về bác sĩ/dược sĩ.</a:t>
            </a:r>
            <a:endParaRPr lang="en-US" sz="1000" dirty="0"/>
          </a:p>
        </p:txBody>
      </p:sp>
      <p:sp>
        <p:nvSpPr>
          <p:cNvPr id="29" name="Shape 27"/>
          <p:cNvSpPr/>
          <p:nvPr/>
        </p:nvSpPr>
        <p:spPr>
          <a:xfrm>
            <a:off x="6190488" y="3822192"/>
            <a:ext cx="5468112" cy="1783080"/>
          </a:xfrm>
          <a:prstGeom prst="roundRect">
            <a:avLst>
              <a:gd name="adj" fmla="val 8718"/>
            </a:avLst>
          </a:prstGeom>
          <a:solidFill>
            <a:srgbClr val="FFE5E2"/>
          </a:solidFill>
          <a:ln w="12700">
            <a:solidFill>
              <a:srgbClr val="FFE5E2"/>
            </a:solidFill>
            <a:prstDash val="solid"/>
          </a:ln>
        </p:spPr>
      </p:sp>
      <p:sp>
        <p:nvSpPr>
          <p:cNvPr id="30" name="Shape 28"/>
          <p:cNvSpPr/>
          <p:nvPr/>
        </p:nvSpPr>
        <p:spPr>
          <a:xfrm>
            <a:off x="6190488" y="3822192"/>
            <a:ext cx="73152" cy="1783080"/>
          </a:xfrm>
          <a:prstGeom prst="rect">
            <a:avLst/>
          </a:prstGeom>
          <a:solidFill>
            <a:srgbClr val="D54B4B"/>
          </a:solidFill>
          <a:ln w="12700">
            <a:solidFill>
              <a:srgbClr val="D54B4B"/>
            </a:solidFill>
            <a:prstDash val="solid"/>
          </a:ln>
        </p:spPr>
      </p:sp>
      <p:sp>
        <p:nvSpPr>
          <p:cNvPr id="31" name="Text 29"/>
          <p:cNvSpPr txBox="1"/>
          <p:nvPr/>
        </p:nvSpPr>
        <p:spPr>
          <a:xfrm>
            <a:off x="6373368" y="3968496"/>
            <a:ext cx="2194560" cy="237744"/>
          </a:xfrm>
          <a:prstGeom prst="rect">
            <a:avLst/>
          </a:prstGeom>
          <a:noFill/>
          <a:ln/>
        </p:spPr>
        <p:txBody>
          <a:bodyPr wrap="square" lIns="0" tIns="0" rIns="0" bIns="0" rtlCol="0" anchor="ctr">
            <a:normAutofit/>
          </a:bodyPr>
          <a:lstStyle/>
          <a:p>
            <a:pPr algn="l" indent="0" marL="0">
              <a:lnSpc>
                <a:spcPct val="100000"/>
              </a:lnSpc>
              <a:buNone/>
            </a:pPr>
            <a:r>
              <a:rPr lang="en-US" sz="1000" b="1" spc="80" kern="0" dirty="0">
                <a:solidFill>
                  <a:srgbClr val="D54B4B"/>
                </a:solidFill>
                <a:latin typeface="Montserrat" pitchFamily="34" charset="0"/>
                <a:ea typeface="Montserrat" pitchFamily="34" charset="-122"/>
                <a:cs typeface="Montserrat" pitchFamily="34" charset="-120"/>
              </a:rPr>
              <a:t>✕  CÒN SAI</a:t>
            </a:r>
            <a:endParaRPr lang="en-US" sz="1000" dirty="0"/>
          </a:p>
        </p:txBody>
      </p:sp>
      <p:sp>
        <p:nvSpPr>
          <p:cNvPr id="32" name="Text 30"/>
          <p:cNvSpPr txBox="1"/>
          <p:nvPr/>
        </p:nvSpPr>
        <p:spPr>
          <a:xfrm>
            <a:off x="6373368" y="4224528"/>
            <a:ext cx="4937760" cy="237744"/>
          </a:xfrm>
          <a:prstGeom prst="rect">
            <a:avLst/>
          </a:prstGeom>
          <a:noFill/>
          <a:ln/>
        </p:spPr>
        <p:txBody>
          <a:bodyPr wrap="square" lIns="0" tIns="0" rIns="0" bIns="0" rtlCol="0" anchor="ctr">
            <a:normAutofit/>
          </a:bodyPr>
          <a:lstStyle/>
          <a:p>
            <a:pPr algn="l" indent="0" marL="0">
              <a:lnSpc>
                <a:spcPct val="100000"/>
              </a:lnSpc>
              <a:buNone/>
            </a:pPr>
            <a:r>
              <a:rPr lang="en-US" sz="1100" b="1" dirty="0">
                <a:solidFill>
                  <a:srgbClr val="11284C"/>
                </a:solidFill>
                <a:latin typeface="Montserrat" pitchFamily="34" charset="0"/>
                <a:ea typeface="Montserrat" pitchFamily="34" charset="-122"/>
                <a:cs typeface="Montserrat" pitchFamily="34" charset="-120"/>
              </a:rPr>
              <a:t>Vitamin C × Ephedrin — cảnh báo chỉ sai thuốc</a:t>
            </a:r>
            <a:endParaRPr lang="en-US" sz="1100" dirty="0"/>
          </a:p>
        </p:txBody>
      </p:sp>
      <p:sp>
        <p:nvSpPr>
          <p:cNvPr id="33" name="Text 31"/>
          <p:cNvSpPr txBox="1"/>
          <p:nvPr/>
        </p:nvSpPr>
        <p:spPr>
          <a:xfrm>
            <a:off x="6373368" y="4517136"/>
            <a:ext cx="4937760" cy="969264"/>
          </a:xfrm>
          <a:prstGeom prst="rect">
            <a:avLst/>
          </a:prstGeom>
          <a:noFill/>
          <a:ln/>
        </p:spPr>
        <p:txBody>
          <a:bodyPr wrap="square" lIns="0" tIns="0" rIns="0" bIns="0" rtlCol="0" anchor="t">
            <a:normAutofit/>
          </a:bodyPr>
          <a:lstStyle/>
          <a:p>
            <a:pPr algn="l" indent="0" marL="0">
              <a:lnSpc>
                <a:spcPct val="105000"/>
              </a:lnSpc>
              <a:buNone/>
            </a:pPr>
            <a:r>
              <a:rPr lang="en-US" sz="1000" dirty="0">
                <a:solidFill>
                  <a:srgbClr val="253B5F"/>
                </a:solidFill>
                <a:latin typeface="Montserrat" pitchFamily="34" charset="0"/>
                <a:ea typeface="Montserrat" pitchFamily="34" charset="-122"/>
                <a:cs typeface="Montserrat" pitchFamily="34" charset="-120"/>
              </a:rPr>
              <a:t>Cơ chế đúng: Vitamin C làm nước tiểu hoá acid → cơ thể thải Ephedrin nhanh hơn → EPHEDRIN mất tác dụng.</a:t>
            </a:r>
            <a:endParaRPr lang="en-US" sz="1000" dirty="0"/>
          </a:p>
          <a:p>
            <a:pPr algn="l" indent="0" marL="0">
              <a:lnSpc>
                <a:spcPct val="105000"/>
              </a:lnSpc>
              <a:buNone/>
            </a:pPr>
            <a:r>
              <a:rPr lang="en-US" sz="1000" dirty="0">
                <a:solidFill>
                  <a:srgbClr val="253B5F"/>
                </a:solidFill>
                <a:latin typeface="Montserrat" pitchFamily="34" charset="0"/>
                <a:ea typeface="Montserrat" pitchFamily="34" charset="-122"/>
                <a:cs typeface="Montserrat" pitchFamily="34" charset="-120"/>
              </a:rPr>
              <a:t>AI viết ngược: "làm giảm hiệu quả điều trị của VITAMIN C" — người đọc sẽ lo cho vitamin, trong khi thuốc thật sự bị ảnh hưởng là Ephedrin.</a:t>
            </a:r>
            <a:endParaRPr lang="en-US" sz="1000" dirty="0"/>
          </a:p>
        </p:txBody>
      </p:sp>
      <p:sp>
        <p:nvSpPr>
          <p:cNvPr id="34" name="Shape 32"/>
          <p:cNvSpPr/>
          <p:nvPr/>
        </p:nvSpPr>
        <p:spPr>
          <a:xfrm>
            <a:off x="530352" y="5742432"/>
            <a:ext cx="11128248" cy="420624"/>
          </a:xfrm>
          <a:prstGeom prst="roundRect">
            <a:avLst>
              <a:gd name="adj" fmla="val 30435"/>
            </a:avLst>
          </a:prstGeom>
          <a:solidFill>
            <a:srgbClr val="11284C"/>
          </a:solidFill>
          <a:ln w="12700">
            <a:solidFill>
              <a:srgbClr val="11284C"/>
            </a:solidFill>
            <a:prstDash val="solid"/>
          </a:ln>
        </p:spPr>
      </p:sp>
      <p:sp>
        <p:nvSpPr>
          <p:cNvPr id="35" name="Text 33"/>
          <p:cNvSpPr txBox="1"/>
          <p:nvPr/>
        </p:nvSpPr>
        <p:spPr>
          <a:xfrm>
            <a:off x="777240" y="5797296"/>
            <a:ext cx="10634472" cy="310896"/>
          </a:xfrm>
          <a:prstGeom prst="rect">
            <a:avLst/>
          </a:prstGeom>
          <a:noFill/>
          <a:ln/>
        </p:spPr>
        <p:txBody>
          <a:bodyPr wrap="square" lIns="0" tIns="0" rIns="0" bIns="0" rtlCol="0" anchor="ctr">
            <a:normAutofit/>
          </a:bodyPr>
          <a:lstStyle/>
          <a:p>
            <a:pPr algn="ctr" indent="0" marL="0">
              <a:lnSpc>
                <a:spcPct val="100000"/>
              </a:lnSpc>
              <a:buNone/>
            </a:pPr>
            <a:r>
              <a:rPr lang="en-US" sz="1050" b="1" dirty="0">
                <a:solidFill>
                  <a:srgbClr val="FFFFFF"/>
                </a:solidFill>
                <a:latin typeface="Montserrat" pitchFamily="34" charset="0"/>
                <a:ea typeface="Montserrat" pitchFamily="34" charset="-122"/>
                <a:cs typeface="Montserrat" pitchFamily="34" charset="-120"/>
              </a:rPr>
              <a:t>Không chỉ số nào đạt tuyệt đối — và đó chính là lý do hệ thống luôn giữ dược sĩ ở bước xác nhận cuối cùng trước khi cảnh báo tới người bệnh.</a:t>
            </a:r>
            <a:endParaRPr lang="en-US" sz="1050" dirty="0"/>
          </a:p>
        </p:txBody>
      </p:sp>
      <p:sp>
        <p:nvSpPr>
          <p:cNvPr id="25" name="Slide Number Placeholder 0"/>
          <p:cNvSpPr>
            <a:spLocks noGrp="1"/>
          </p:cNvSpPr>
          <p:nvPr>
            <p:ph type="sldNum" sz="quarter" idx="4294967295"/>
          </p:nvPr>
        </p:nvSpPr>
        <p:spPr>
          <a:xfrm>
            <a:off x="11155680" y="6473952"/>
            <a:ext cx="502920"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73829E"/>
                </a:solidFill>
                <a:latin typeface="Montserrat"/>
                <a:ea typeface="Montserrat"/>
                <a:cs typeface="Montserrat"/>
              </a:defRPr>
            </a:lvl1pPr>
          </a:lstStyle>
          <a:p>
            <a:pPr algn="r"/>
            <a:fld id="{F7021451-1387-4CA6-816F-3879F97B5CBC}" type="slidenum">
              <a:rPr b="0" lang="en-US"/>
              <a:t>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ontserra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ontserra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AI20K Build Phase — Cohort 3</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MediCheck — Đánh giá LLM</dc:title>
  <dc:subject>Đánh giá chất lượng giải thích AI</dc:subject>
  <dc:creator>Team MediCheck — VMEC-12</dc:creator>
  <cp:lastModifiedBy>Team MediCheck — VMEC-12</cp:lastModifiedBy>
  <cp:revision>1</cp:revision>
  <dcterms:created xsi:type="dcterms:W3CDTF">2026-09-01T11:01:22Z</dcterms:created>
  <dcterms:modified xsi:type="dcterms:W3CDTF">2026-09-01T11:01:22Z</dcterms:modified>
</cp:coreProperties>
</file>