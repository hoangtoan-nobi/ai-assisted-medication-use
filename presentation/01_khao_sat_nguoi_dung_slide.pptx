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này trả lời câu hỏi "nhu cầu có thật không". Nhóm khảo sát 54 người trước khi bắt tay vào xây. Kết quả: 75,9% chọn mức 3 trở lên về mức độ lo ngại tương tác thuốc, và 79,6% chọn mức 3 trở lên về mức sẵn sàng dùng một nền tảng tra cứu trước khi uống — trong đó gần 28% chọn thẳng mức 5. Hai con số nói hai chuyện khác nhau: mối lo đã có sẵn, và người dùng không ngại thêm một bước tra cứu nếu bước đó đủ nhanh. Nhóm cũng nói rõ giới hạn: đây là mẫu thuận tiện, cỡ 54, dùng để định hướng sản phẩm chứ không phải bằng chứng dịch tễ — bằng chứng quy mô lớn nằm ở slide dữ liệu 1.700 đơn thuốc.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CHECK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D73C9"/>
          </a:solidFill>
          <a:ln w="12700">
            <a:solidFill>
              <a:srgbClr val="4D73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7382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MEDICHECK  /  VMEC-12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829E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829E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80" kern="0" dirty="0">
                <a:solidFill>
                  <a:srgbClr val="4D7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/ BÀI TOÁN  ·  KHẢO SÁT NGƯỜI DÙNG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có thực sự cần một nơi để tra cứu tương tác thuốc?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978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Khảo sát online 54 người trước khi xây sản phẩm — kiểm chứng nhu cầu bằng dữ liệu, không phải bằng giả định của nhóm.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719072"/>
            <a:ext cx="5468112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719072"/>
            <a:ext cx="73152" cy="3017520"/>
          </a:xfrm>
          <a:prstGeom prst="rect">
            <a:avLst/>
          </a:prstGeom>
          <a:solidFill>
            <a:srgbClr val="4D73C9"/>
          </a:solidFill>
          <a:ln w="12700">
            <a:solidFill>
              <a:srgbClr val="4D73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920240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Bạn lo ngại về tương tác khi dùng nhiều thuốc ở mức nào?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50592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spc="60" kern="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54 câu trả lời  ·  thang 1–5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1225296" y="4297680"/>
            <a:ext cx="4462272" cy="9144"/>
          </a:xfrm>
          <a:prstGeom prst="rect">
            <a:avLst/>
          </a:prstGeom>
          <a:solidFill>
            <a:srgbClr val="CBD8ED"/>
          </a:solidFill>
          <a:ln w="12700">
            <a:solidFill>
              <a:srgbClr val="CBD8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41970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25296" y="3692769"/>
            <a:ext cx="4462272" cy="9144"/>
          </a:xfrm>
          <a:prstGeom prst="rect">
            <a:avLst/>
          </a:prstGeom>
          <a:solidFill>
            <a:srgbClr val="E4EBF7"/>
          </a:solidFill>
          <a:ln w="12700">
            <a:solidFill>
              <a:srgbClr val="E4EB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592185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225296" y="3087858"/>
            <a:ext cx="4462272" cy="9144"/>
          </a:xfrm>
          <a:prstGeom prst="rect">
            <a:avLst/>
          </a:prstGeom>
          <a:solidFill>
            <a:srgbClr val="E4EBF7"/>
          </a:solidFill>
          <a:ln w="12700">
            <a:solidFill>
              <a:srgbClr val="E4EB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98727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94862" y="3995225"/>
            <a:ext cx="553322" cy="302455"/>
          </a:xfrm>
          <a:prstGeom prst="rect">
            <a:avLst/>
          </a:prstGeom>
          <a:solidFill>
            <a:srgbClr val="A9C0EA"/>
          </a:solidFill>
          <a:ln w="12700">
            <a:solidFill>
              <a:srgbClr val="A9C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3966" y="3775769"/>
            <a:ext cx="117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· 9,3%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211982" y="4343400"/>
            <a:ext cx="9190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3B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7317" y="3813751"/>
            <a:ext cx="553322" cy="483929"/>
          </a:xfrm>
          <a:prstGeom prst="rect">
            <a:avLst/>
          </a:prstGeom>
          <a:solidFill>
            <a:srgbClr val="A9C0EA"/>
          </a:solidFill>
          <a:ln w="12700">
            <a:solidFill>
              <a:srgbClr val="A9C0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76421" y="3594295"/>
            <a:ext cx="117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· 14,8%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104437" y="4343400"/>
            <a:ext cx="9190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3B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9771" y="2966876"/>
            <a:ext cx="553322" cy="1330804"/>
          </a:xfrm>
          <a:prstGeom prst="rect">
            <a:avLst/>
          </a:prstGeom>
          <a:solidFill>
            <a:srgbClr val="4D73C9"/>
          </a:solidFill>
          <a:ln w="12700">
            <a:solidFill>
              <a:srgbClr val="4D73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68875" y="2747420"/>
            <a:ext cx="117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 · 40,7%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2996891" y="4343400"/>
            <a:ext cx="9190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3B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72226" y="3511296"/>
            <a:ext cx="553322" cy="786384"/>
          </a:xfrm>
          <a:prstGeom prst="rect">
            <a:avLst/>
          </a:prstGeom>
          <a:solidFill>
            <a:srgbClr val="4D73C9"/>
          </a:solidFill>
          <a:ln w="12700">
            <a:solidFill>
              <a:srgbClr val="4D73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61330" y="3291840"/>
            <a:ext cx="117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· 24,1%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3889346" y="4343400"/>
            <a:ext cx="9190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3B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64680" y="3934734"/>
            <a:ext cx="553322" cy="362946"/>
          </a:xfrm>
          <a:prstGeom prst="rect">
            <a:avLst/>
          </a:prstGeom>
          <a:solidFill>
            <a:srgbClr val="4D73C9"/>
          </a:solidFill>
          <a:ln w="12700">
            <a:solidFill>
              <a:srgbClr val="4D73C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53784" y="3715278"/>
            <a:ext cx="117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· 11,1%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781800" y="4343400"/>
            <a:ext cx="9190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3B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225296" y="4443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Không lo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4443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Rất lo · 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90488" y="1719072"/>
            <a:ext cx="5468112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BD8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0488" y="1719072"/>
            <a:ext cx="73152" cy="3017520"/>
          </a:xfrm>
          <a:prstGeom prst="rect">
            <a:avLst/>
          </a:prstGeom>
          <a:solidFill>
            <a:srgbClr val="4D73C9"/>
          </a:solidFill>
          <a:ln w="12700">
            <a:solidFill>
              <a:srgbClr val="4D73C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01384" y="1920240"/>
            <a:ext cx="4901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Bạn sẵn sàng dùng nền tảng tra cứu tương tác trước khi dùng nhiều thuốc ở mức nào?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501384" y="2450592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spc="60" kern="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54 câu trả lời  ·  thang 1–5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6885432" y="4297680"/>
            <a:ext cx="4462272" cy="9144"/>
          </a:xfrm>
          <a:prstGeom prst="rect">
            <a:avLst/>
          </a:prstGeom>
          <a:solidFill>
            <a:srgbClr val="CBD8ED"/>
          </a:solidFill>
          <a:ln w="12700">
            <a:solidFill>
              <a:srgbClr val="CBD8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01384" y="419709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885432" y="3692769"/>
            <a:ext cx="4462272" cy="9144"/>
          </a:xfrm>
          <a:prstGeom prst="rect">
            <a:avLst/>
          </a:prstGeom>
          <a:solidFill>
            <a:srgbClr val="E4EBF7"/>
          </a:solidFill>
          <a:ln w="12700">
            <a:solidFill>
              <a:srgbClr val="E4EBF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01384" y="3592185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85432" y="3087858"/>
            <a:ext cx="4462272" cy="9144"/>
          </a:xfrm>
          <a:prstGeom prst="rect">
            <a:avLst/>
          </a:prstGeom>
          <a:solidFill>
            <a:srgbClr val="E4EBF7"/>
          </a:solidFill>
          <a:ln w="12700">
            <a:solidFill>
              <a:srgbClr val="E4EBF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01384" y="298727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054998" y="3934734"/>
            <a:ext cx="553322" cy="362946"/>
          </a:xfrm>
          <a:prstGeom prst="rect">
            <a:avLst/>
          </a:prstGeom>
          <a:solidFill>
            <a:srgbClr val="A9C0EA"/>
          </a:solidFill>
          <a:ln w="12700">
            <a:solidFill>
              <a:srgbClr val="A9C0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44102" y="3715278"/>
            <a:ext cx="117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· 11,1%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872118" y="4343400"/>
            <a:ext cx="9190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3B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947453" y="3995225"/>
            <a:ext cx="553322" cy="302455"/>
          </a:xfrm>
          <a:prstGeom prst="rect">
            <a:avLst/>
          </a:prstGeom>
          <a:solidFill>
            <a:srgbClr val="A9C0EA"/>
          </a:solidFill>
          <a:ln w="12700">
            <a:solidFill>
              <a:srgbClr val="A9C0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36557" y="3775769"/>
            <a:ext cx="117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· 9,3%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7764573" y="4343400"/>
            <a:ext cx="9190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3B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839907" y="3148350"/>
            <a:ext cx="553322" cy="1149330"/>
          </a:xfrm>
          <a:prstGeom prst="rect">
            <a:avLst/>
          </a:prstGeom>
          <a:solidFill>
            <a:srgbClr val="4D73C9"/>
          </a:solidFill>
          <a:ln w="12700">
            <a:solidFill>
              <a:srgbClr val="4D73C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29011" y="2928894"/>
            <a:ext cx="117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 · 35,2%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8657027" y="4343400"/>
            <a:ext cx="9190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3B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32362" y="3753260"/>
            <a:ext cx="553322" cy="544420"/>
          </a:xfrm>
          <a:prstGeom prst="rect">
            <a:avLst/>
          </a:prstGeom>
          <a:solidFill>
            <a:srgbClr val="4D73C9"/>
          </a:solidFill>
          <a:ln w="12700">
            <a:solidFill>
              <a:srgbClr val="4D73C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421466" y="3533804"/>
            <a:ext cx="117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· 16,7%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9549482" y="4343400"/>
            <a:ext cx="9190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3B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0624816" y="3390314"/>
            <a:ext cx="553322" cy="907366"/>
          </a:xfrm>
          <a:prstGeom prst="rect">
            <a:avLst/>
          </a:prstGeom>
          <a:solidFill>
            <a:srgbClr val="4D73C9"/>
          </a:solidFill>
          <a:ln w="12700">
            <a:solidFill>
              <a:srgbClr val="4D73C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313920" y="3170858"/>
            <a:ext cx="117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· 27,8%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10441936" y="4343400"/>
            <a:ext cx="9190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3B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6885432" y="4443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Không dùng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8769096" y="4443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Chắc chắn dùng · 5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30352" y="4882896"/>
            <a:ext cx="5468112" cy="731520"/>
          </a:xfrm>
          <a:prstGeom prst="roundRect">
            <a:avLst>
              <a:gd name="adj" fmla="val 20000"/>
            </a:avLst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68096" y="49926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C68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75,9%</a:t>
            </a:r>
            <a:endParaRPr lang="en-US" sz="1900" dirty="0"/>
          </a:p>
        </p:txBody>
      </p:sp>
      <p:sp>
        <p:nvSpPr>
          <p:cNvPr id="61" name="Text 59"/>
          <p:cNvSpPr txBox="1"/>
          <p:nvPr/>
        </p:nvSpPr>
        <p:spPr>
          <a:xfrm>
            <a:off x="2221992" y="498348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chọn mức 3–5 về mức độ lo ngại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2221992" y="5248656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về tương tác thuốc là mối quan tâm phổ biến, không phải nhu cầu ngách.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6190488" y="4882896"/>
            <a:ext cx="5468112" cy="731520"/>
          </a:xfrm>
          <a:prstGeom prst="roundRect">
            <a:avLst>
              <a:gd name="adj" fmla="val 20000"/>
            </a:avLst>
          </a:prstGeom>
          <a:solidFill>
            <a:srgbClr val="E1F5EF"/>
          </a:solidFill>
          <a:ln w="12700">
            <a:solidFill>
              <a:srgbClr val="E1F5E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428232" y="49926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C9A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79,6%</a:t>
            </a:r>
            <a:endParaRPr lang="en-US" sz="1900" dirty="0"/>
          </a:p>
        </p:txBody>
      </p:sp>
      <p:sp>
        <p:nvSpPr>
          <p:cNvPr id="65" name="Text 63"/>
          <p:cNvSpPr txBox="1"/>
          <p:nvPr/>
        </p:nvSpPr>
        <p:spPr>
          <a:xfrm>
            <a:off x="7882128" y="498348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12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sẵn sàng tra cứu trước khi uống thuốc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7882128" y="5248656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27,8% chọn thẳng mức 5 — không ngại thêm một bước nếu bước đó đủ nhanh.</a:t>
            </a:r>
            <a:endParaRPr lang="en-US" sz="920" dirty="0"/>
          </a:p>
        </p:txBody>
      </p:sp>
      <p:sp>
        <p:nvSpPr>
          <p:cNvPr id="67" name="Text 65"/>
          <p:cNvSpPr txBox="1"/>
          <p:nvPr/>
        </p:nvSpPr>
        <p:spPr>
          <a:xfrm>
            <a:off x="530352" y="5705856"/>
            <a:ext cx="11128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6779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Mẫu thuận tiện, cỡ nhỏ (n = 54) — dùng để định hướng sản phẩm, chưa đại diện cho dân số chung.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30352" y="5980176"/>
            <a:ext cx="11128248" cy="420624"/>
          </a:xfrm>
          <a:prstGeom prst="roundRect">
            <a:avLst>
              <a:gd name="adj" fmla="val 30435"/>
            </a:avLst>
          </a:prstGeom>
          <a:solidFill>
            <a:srgbClr val="11284C"/>
          </a:solidFill>
          <a:ln w="12700">
            <a:solidFill>
              <a:srgbClr val="11284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77240" y="60350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đã lo sẵn — thứ họ thiếu là một chỗ tra cứu đủ tin cậy và đủ dễ hiểu để tự kiểm tra trước khi uống.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829E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AI20K Build Phase — Cohort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MediCheck — Khảo sát người dùng</dc:title>
  <dc:subject>Khảo sát nhu cầu người dùng</dc:subject>
  <dc:creator>Team MediCheck — VMEC-12</dc:creator>
  <cp:lastModifiedBy>Team MediCheck — VMEC-12</cp:lastModifiedBy>
  <cp:revision>1</cp:revision>
  <dcterms:created xsi:type="dcterms:W3CDTF">2026-09-01T15:02:49Z</dcterms:created>
  <dcterms:modified xsi:type="dcterms:W3CDTF">2026-09-01T15:02:49Z</dcterms:modified>
</cp:coreProperties>
</file>