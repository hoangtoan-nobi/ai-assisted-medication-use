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thầy cô và các bạn. Nhóm chúng em xin giới thiệu MediCheck — một trợ lý AI hỗ trợ kiểm tra tương tác thuốc, tập trung vào khả năng giải thích dễ hiểu và bảo đảm luôn có con người trong vòng kiểm soát.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Đối tượng chính là bệnh nhân dùng nhiều thuốc và dược sĩ tại nhà thuốc. Nỗi đau nằm ở việc tên thuốc không chuẩn, nguồn thông tin khó hiểu và thiếu bước xác nhận. Vì vậy sản phẩm phải giải quyết cả dữ liệu, trải nghiệm và trách nhiệm chuyên môn.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MediCheck không cố thay thế bác sĩ. Hệ thống phân công đúng việc: cơ sở dữ liệu cung cấp sự thật, AI giúp diễn giải, guardrail chặn lời khuyên nguy hiểm và dược sĩ xác nhận trong tình huống cần chuyên môn.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Bệnh nhân và dược sĩ không phải hai module rời nhau. Bệnh nhân gửi yêu cầu và nhận phản hồi; dược sĩ nhìn thấy ca cần ưu tiên, kiểm tra nguồn và xác nhận. Đây là vòng lặp tạo niềm tin cho sản phẩm.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vào của sản phẩm. Chúng em giảm ma sát bằng một ô tìm kiếm trực tiếp trên landing page. Người dùng chưa đăng nhập vẫn có thể thử; khi muốn lưu lịch sử hoặc kiểm tra nhiều thuốc hơn, hệ thống mới đề nghị tạo tài khoản.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trên màn hình có 5 cặp tương tác: 1 nghiêm trọng, 3 trung bình và 1 nhẹ. Màu sắc và đồ thị giúp định hướng chú ý, nhưng kết quả luôn kèm cảnh báo không tự ý đổi hoặc ngừng thuốc.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khác biệt quan trọng: hệ thống không dừng ở màn hình cảnh báo. Ca cần chú ý được đẩy sang dashboard dược sĩ, được ưu tiên, xác nhận và phản hồi lại cho bệnh nhân. Toàn bộ trạng thái được lưu để truy vết.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gồm bốn lớp chính. Frontend chỉ giao tiếp qua API. Backend chịu trách nhiệm xác thực và chuyển biệt dược thành hoạt chất. Agent xử lý theo pipeline, còn dữ liệu nguồn nằm ở DDInter và PostgreSQL. DeepSeek chỉ là dịch vụ sinh giải thích, không phải nguồn sự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thiết kế quan trọng là thứ tự: hệ thống tra dữ liệu trước rồi mới gọi LLM để diễn giải. Sau đó guardrail kiểm citation và loại bỏ ngôn ngữ có thể khiến người dùng tự thay đổi thuốc. Với ca cần chuyên môn, dược sĩ là lớp kiểm soát cuối cùng.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dùng Next.js, FastAPI, LangGraph và PostgreSQL. Toàn bộ hệ thống có thể chạy qua Docker Compose. Nhóm cũng đã chuẩn bị hướng dẫn xác thực production và smoke test. Các KPI chất lượng chưa có số đo chính thức nên trong deck này chúng em không đưa ra con số chưa được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Đợt đánh giá này đổi giám khảo từ DeepSeek-reasoner sang Claude để tránh việc AI tự chấm phiên bản anh em của chính nó, đồng thời rà soát kiến trúc và vá nhiều lỗi rò rỉ trước khi chấm diện rộng. Cả 3 chỉ số chất lượng chính đều đạt ngưỡng lần đầu tiên; điểm cần theo dõi tiếp là độ ổn định giữa các lần sinh.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 phân tích, sản phẩm có ba điểm mạnh: nguồn dữ liệu thật, trải nghiệm tiếng Việt và quy trình dược sĩ. Nhưng để đi tiếp, ưu tiên số một không phải thêm thật nhiều tính năng mà là đo lường, pilot với dược sĩ, hoàn thiện audit và bảo mật. Sau đó mới mở rộng OCR và mô hình kinh doanh.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MediCheck hướng tới một nguyên tắc đơn giản: cảnh báo y tế không chỉ cần đúng, mà còn phải dễ hiểu, có nguồn và có người chịu trách nhiệm. Nhóm xin cảm ơn và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EDICHECK">
    <p:bg>
      <p:bgPr>
        <a:solidFill>
          <a:srgbClr val="F5F8FD"/>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D73C9"/>
          </a:solidFill>
          <a:ln w="12700">
            <a:solidFill>
              <a:srgbClr val="4D73C9"/>
            </a:solidFill>
            <a:prstDash val="solid"/>
          </a:ln>
        </p:spPr>
      </p:sp>
      <p:sp>
        <p:nvSpPr>
          <p:cNvPr id="3" name="Text 1"/>
          <p:cNvSpPr/>
          <p:nvPr/>
        </p:nvSpPr>
        <p:spPr>
          <a:xfrm>
            <a:off x="502920" y="6510528"/>
            <a:ext cx="2743200" cy="164592"/>
          </a:xfrm>
          <a:prstGeom prst="rect">
            <a:avLst/>
          </a:prstGeom>
          <a:noFill/>
          <a:ln/>
        </p:spPr>
        <p:txBody>
          <a:bodyPr wrap="square" lIns="0" tIns="0" rIns="0" bIns="0" rtlCol="0" anchor="ctr"/>
          <a:lstStyle/>
          <a:p>
            <a:pPr indent="0" marL="0">
              <a:buNone/>
            </a:pPr>
            <a:r>
              <a:rPr lang="en-US" sz="750" b="1" spc="140" kern="0" dirty="0">
                <a:solidFill>
                  <a:srgbClr val="73829E"/>
                </a:solidFill>
                <a:latin typeface="Aptos" pitchFamily="34" charset="0"/>
                <a:ea typeface="Aptos" pitchFamily="34" charset="-122"/>
                <a:cs typeface="Aptos" pitchFamily="34" charset="-120"/>
              </a:rPr>
              <a:t>MEDICHECK  /  VMEC-12</a:t>
            </a:r>
            <a:endParaRPr lang="en-US" sz="75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326"/>
        </a:solidFill>
      </p:bgPr>
    </p:bg>
    <p:spTree>
      <p:nvGrpSpPr>
        <p:cNvPr id="1" name=""/>
        <p:cNvGrpSpPr/>
        <p:nvPr/>
      </p:nvGrpSpPr>
      <p:grpSpPr>
        <a:xfrm>
          <a:off x="0" y="0"/>
          <a:ext cx="0" cy="0"/>
          <a:chOff x="0" y="0"/>
          <a:chExt cx="0" cy="0"/>
        </a:xfrm>
      </p:grpSpPr>
      <p:sp>
        <p:nvSpPr>
          <p:cNvPr id="2" name="Shape 0"/>
          <p:cNvSpPr/>
          <p:nvPr/>
        </p:nvSpPr>
        <p:spPr>
          <a:xfrm>
            <a:off x="6537960" y="0"/>
            <a:ext cx="5653735" cy="6858000"/>
          </a:xfrm>
          <a:prstGeom prst="rect">
            <a:avLst/>
          </a:prstGeom>
          <a:solidFill>
            <a:srgbClr val="D8E6FF">
              <a:alpha val="98000"/>
            </a:srgbClr>
          </a:solidFill>
          <a:ln w="12700">
            <a:solidFill>
              <a:srgbClr val="D8E6FF">
                <a:alpha val="0"/>
              </a:srgbClr>
            </a:solidFill>
            <a:prstDash val="solid"/>
          </a:ln>
        </p:spPr>
      </p:sp>
      <p:pic>
        <p:nvPicPr>
          <p:cNvPr id="3" name="Image 0" descr="C:\Users\Quan\Documents\AIthucchien\Projects\P-005\docs\screenshots\landing-page.png">    </p:cNvPr>
          <p:cNvPicPr>
            <a:picLocks noChangeAspect="1"/>
          </p:cNvPicPr>
          <p:nvPr/>
        </p:nvPicPr>
        <p:blipFill>
          <a:blip r:embed="rId1"/>
          <a:stretch>
            <a:fillRect/>
          </a:stretch>
        </p:blipFill>
        <p:spPr>
          <a:xfrm>
            <a:off x="6693408" y="2206478"/>
            <a:ext cx="5349240" cy="2445045"/>
          </a:xfrm>
          <a:prstGeom prst="rect">
            <a:avLst/>
          </a:prstGeom>
        </p:spPr>
      </p:pic>
      <p:sp>
        <p:nvSpPr>
          <p:cNvPr id="4" name="Shape 1"/>
          <p:cNvSpPr/>
          <p:nvPr/>
        </p:nvSpPr>
        <p:spPr>
          <a:xfrm>
            <a:off x="6172200" y="0"/>
            <a:ext cx="1097280" cy="6858000"/>
          </a:xfrm>
          <a:prstGeom prst="rect">
            <a:avLst/>
          </a:prstGeom>
          <a:solidFill>
            <a:srgbClr val="071326">
              <a:alpha val="88000"/>
            </a:srgbClr>
          </a:solidFill>
          <a:ln w="12700">
            <a:solidFill>
              <a:srgbClr val="071326">
                <a:alpha val="0"/>
              </a:srgbClr>
            </a:solidFill>
            <a:prstDash val="solid"/>
          </a:ln>
        </p:spPr>
      </p:sp>
      <p:sp>
        <p:nvSpPr>
          <p:cNvPr id="5" name="Shape 2"/>
          <p:cNvSpPr/>
          <p:nvPr/>
        </p:nvSpPr>
        <p:spPr>
          <a:xfrm>
            <a:off x="530352" y="566928"/>
            <a:ext cx="1005840" cy="64008"/>
          </a:xfrm>
          <a:prstGeom prst="rect">
            <a:avLst/>
          </a:prstGeom>
          <a:solidFill>
            <a:srgbClr val="7899E8"/>
          </a:solidFill>
          <a:ln w="12700">
            <a:solidFill>
              <a:srgbClr val="7899E8"/>
            </a:solidFill>
            <a:prstDash val="solid"/>
          </a:ln>
        </p:spPr>
      </p:sp>
      <p:sp>
        <p:nvSpPr>
          <p:cNvPr id="6" name="Text 3"/>
          <p:cNvSpPr txBox="1"/>
          <p:nvPr/>
        </p:nvSpPr>
        <p:spPr>
          <a:xfrm>
            <a:off x="530352" y="749808"/>
            <a:ext cx="5212080" cy="274320"/>
          </a:xfrm>
          <a:prstGeom prst="rect">
            <a:avLst/>
          </a:prstGeom>
          <a:noFill/>
          <a:ln/>
        </p:spPr>
        <p:txBody>
          <a:bodyPr wrap="square" lIns="0" tIns="0" rIns="0" bIns="0" rtlCol="0" anchor="ctr">
            <a:normAutofit/>
          </a:bodyPr>
          <a:lstStyle/>
          <a:p>
            <a:pPr algn="l" indent="0" marL="0">
              <a:lnSpc>
                <a:spcPct val="100000"/>
              </a:lnSpc>
              <a:buNone/>
            </a:pPr>
            <a:r>
              <a:rPr lang="en-US" sz="1000" b="1" spc="150" kern="0" dirty="0">
                <a:solidFill>
                  <a:srgbClr val="9AB6F4"/>
                </a:solidFill>
                <a:latin typeface="Aptos" pitchFamily="34" charset="0"/>
                <a:ea typeface="Aptos" pitchFamily="34" charset="-122"/>
                <a:cs typeface="Aptos" pitchFamily="34" charset="-120"/>
              </a:rPr>
              <a:t>VMEC-12  •  AI FOR MEDICATION SAFETY</a:t>
            </a:r>
            <a:endParaRPr lang="en-US" sz="1000" dirty="0"/>
          </a:p>
        </p:txBody>
      </p:sp>
      <p:sp>
        <p:nvSpPr>
          <p:cNvPr id="7" name="Text 4"/>
          <p:cNvSpPr txBox="1"/>
          <p:nvPr/>
        </p:nvSpPr>
        <p:spPr>
          <a:xfrm>
            <a:off x="530352" y="1298448"/>
            <a:ext cx="5303520" cy="749808"/>
          </a:xfrm>
          <a:prstGeom prst="rect">
            <a:avLst/>
          </a:prstGeom>
          <a:noFill/>
          <a:ln/>
        </p:spPr>
        <p:txBody>
          <a:bodyPr wrap="square" lIns="0" tIns="0" rIns="0" bIns="0" rtlCol="0" anchor="ctr">
            <a:normAutofit/>
          </a:bodyPr>
          <a:lstStyle/>
          <a:p>
            <a:pPr algn="l" indent="0" marL="0">
              <a:lnSpc>
                <a:spcPct val="100000"/>
              </a:lnSpc>
              <a:buNone/>
            </a:pPr>
            <a:r>
              <a:rPr lang="en-US" sz="3900" b="1" dirty="0">
                <a:solidFill>
                  <a:srgbClr val="FFFFFF"/>
                </a:solidFill>
                <a:latin typeface="Aptos" pitchFamily="34" charset="0"/>
                <a:ea typeface="Aptos" pitchFamily="34" charset="-122"/>
                <a:cs typeface="Aptos" pitchFamily="34" charset="-120"/>
              </a:rPr>
              <a:t>MediCheck</a:t>
            </a:r>
            <a:endParaRPr lang="en-US" sz="3900" dirty="0"/>
          </a:p>
        </p:txBody>
      </p:sp>
      <p:sp>
        <p:nvSpPr>
          <p:cNvPr id="8" name="Text 5"/>
          <p:cNvSpPr txBox="1"/>
          <p:nvPr/>
        </p:nvSpPr>
        <p:spPr>
          <a:xfrm>
            <a:off x="530352" y="2057400"/>
            <a:ext cx="5394960" cy="1234440"/>
          </a:xfrm>
          <a:prstGeom prst="rect">
            <a:avLst/>
          </a:prstGeom>
          <a:noFill/>
          <a:ln/>
        </p:spPr>
        <p:txBody>
          <a:bodyPr wrap="square" lIns="0" tIns="0" rIns="0" bIns="0" rtlCol="0" anchor="t">
            <a:normAutofit/>
          </a:bodyPr>
          <a:lstStyle/>
          <a:p>
            <a:pPr algn="l" indent="0" marL="0">
              <a:lnSpc>
                <a:spcPct val="100000"/>
              </a:lnSpc>
              <a:buNone/>
            </a:pPr>
            <a:r>
              <a:rPr lang="en-US" sz="3100" b="1" dirty="0">
                <a:solidFill>
                  <a:srgbClr val="AFC8FF"/>
                </a:solidFill>
                <a:latin typeface="Aptos" pitchFamily="34" charset="0"/>
                <a:ea typeface="Aptos" pitchFamily="34" charset="-122"/>
                <a:cs typeface="Aptos" pitchFamily="34" charset="-120"/>
              </a:rPr>
              <a:t>Tra cứu thông minh,</a:t>
            </a:r>
            <a:endParaRPr lang="en-US" sz="3100" dirty="0"/>
          </a:p>
          <a:p>
            <a:pPr algn="l" indent="0" marL="0">
              <a:lnSpc>
                <a:spcPct val="100000"/>
              </a:lnSpc>
              <a:buNone/>
            </a:pPr>
            <a:r>
              <a:rPr lang="en-US" sz="3100" b="1" dirty="0">
                <a:solidFill>
                  <a:srgbClr val="AFC8FF"/>
                </a:solidFill>
                <a:latin typeface="Aptos" pitchFamily="34" charset="0"/>
                <a:ea typeface="Aptos" pitchFamily="34" charset="-122"/>
                <a:cs typeface="Aptos" pitchFamily="34" charset="-120"/>
              </a:rPr>
              <a:t>dùng thuốc an toàn</a:t>
            </a:r>
            <a:endParaRPr lang="en-US" sz="3100" dirty="0"/>
          </a:p>
        </p:txBody>
      </p:sp>
      <p:sp>
        <p:nvSpPr>
          <p:cNvPr id="9" name="Text 6"/>
          <p:cNvSpPr txBox="1"/>
          <p:nvPr/>
        </p:nvSpPr>
        <p:spPr>
          <a:xfrm>
            <a:off x="530352" y="3547872"/>
            <a:ext cx="5257800" cy="896112"/>
          </a:xfrm>
          <a:prstGeom prst="rect">
            <a:avLst/>
          </a:prstGeom>
          <a:noFill/>
          <a:ln/>
        </p:spPr>
        <p:txBody>
          <a:bodyPr wrap="square" lIns="0" tIns="0" rIns="0" bIns="0" rtlCol="0" anchor="t">
            <a:normAutofit/>
          </a:bodyPr>
          <a:lstStyle/>
          <a:p>
            <a:pPr algn="l" indent="0" marL="0">
              <a:lnSpc>
                <a:spcPct val="105000"/>
              </a:lnSpc>
              <a:buNone/>
            </a:pPr>
            <a:r>
              <a:rPr lang="en-US" sz="1500" dirty="0">
                <a:solidFill>
                  <a:srgbClr val="D6E2F7"/>
                </a:solidFill>
                <a:latin typeface="Aptos" pitchFamily="34" charset="0"/>
                <a:ea typeface="Aptos" pitchFamily="34" charset="-122"/>
                <a:cs typeface="Aptos" pitchFamily="34" charset="-120"/>
              </a:rPr>
              <a:t>AI Agent kiểm tra tương tác thuốc, giải thích bằng tiếng Việt và kết nối quy trình xác nhận của dược sĩ.</a:t>
            </a:r>
            <a:endParaRPr lang="en-US" sz="1500" dirty="0"/>
          </a:p>
        </p:txBody>
      </p:sp>
      <p:sp>
        <p:nvSpPr>
          <p:cNvPr id="10" name="Shape 7"/>
          <p:cNvSpPr/>
          <p:nvPr/>
        </p:nvSpPr>
        <p:spPr>
          <a:xfrm>
            <a:off x="530352" y="4828032"/>
            <a:ext cx="1234440" cy="310896"/>
          </a:xfrm>
          <a:prstGeom prst="roundRect">
            <a:avLst>
              <a:gd name="adj" fmla="val 50000"/>
            </a:avLst>
          </a:prstGeom>
          <a:solidFill>
            <a:srgbClr val="1C3561"/>
          </a:solidFill>
          <a:ln w="12700">
            <a:solidFill>
              <a:srgbClr val="1C3561"/>
            </a:solidFill>
            <a:prstDash val="solid"/>
          </a:ln>
        </p:spPr>
      </p:sp>
      <p:sp>
        <p:nvSpPr>
          <p:cNvPr id="11" name="Text 8"/>
          <p:cNvSpPr txBox="1"/>
          <p:nvPr/>
        </p:nvSpPr>
        <p:spPr>
          <a:xfrm>
            <a:off x="621792" y="4837176"/>
            <a:ext cx="1051560" cy="27432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BFD2FF"/>
                </a:solidFill>
                <a:latin typeface="Aptos" pitchFamily="34" charset="0"/>
                <a:ea typeface="Aptos" pitchFamily="34" charset="-122"/>
                <a:cs typeface="Aptos" pitchFamily="34" charset="-120"/>
              </a:rPr>
              <a:t>DDInter 2.0</a:t>
            </a:r>
            <a:endParaRPr lang="en-US" sz="900" dirty="0"/>
          </a:p>
        </p:txBody>
      </p:sp>
      <p:sp>
        <p:nvSpPr>
          <p:cNvPr id="12" name="Shape 9"/>
          <p:cNvSpPr/>
          <p:nvPr/>
        </p:nvSpPr>
        <p:spPr>
          <a:xfrm>
            <a:off x="1901952" y="4828032"/>
            <a:ext cx="1234440" cy="310896"/>
          </a:xfrm>
          <a:prstGeom prst="roundRect">
            <a:avLst>
              <a:gd name="adj" fmla="val 50000"/>
            </a:avLst>
          </a:prstGeom>
          <a:solidFill>
            <a:srgbClr val="1C3561"/>
          </a:solidFill>
          <a:ln w="12700">
            <a:solidFill>
              <a:srgbClr val="1C3561"/>
            </a:solidFill>
            <a:prstDash val="solid"/>
          </a:ln>
        </p:spPr>
      </p:sp>
      <p:sp>
        <p:nvSpPr>
          <p:cNvPr id="13" name="Text 10"/>
          <p:cNvSpPr txBox="1"/>
          <p:nvPr/>
        </p:nvSpPr>
        <p:spPr>
          <a:xfrm>
            <a:off x="1993392" y="4837176"/>
            <a:ext cx="1051560" cy="27432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BFD2FF"/>
                </a:solidFill>
                <a:latin typeface="Aptos" pitchFamily="34" charset="0"/>
                <a:ea typeface="Aptos" pitchFamily="34" charset="-122"/>
                <a:cs typeface="Aptos" pitchFamily="34" charset="-120"/>
              </a:rPr>
              <a:t>LangGraph</a:t>
            </a:r>
            <a:endParaRPr lang="en-US" sz="900" dirty="0"/>
          </a:p>
        </p:txBody>
      </p:sp>
      <p:sp>
        <p:nvSpPr>
          <p:cNvPr id="14" name="Shape 11"/>
          <p:cNvSpPr/>
          <p:nvPr/>
        </p:nvSpPr>
        <p:spPr>
          <a:xfrm>
            <a:off x="3273552" y="4828032"/>
            <a:ext cx="1682496" cy="310896"/>
          </a:xfrm>
          <a:prstGeom prst="roundRect">
            <a:avLst>
              <a:gd name="adj" fmla="val 50000"/>
            </a:avLst>
          </a:prstGeom>
          <a:solidFill>
            <a:srgbClr val="1C3561"/>
          </a:solidFill>
          <a:ln w="12700">
            <a:solidFill>
              <a:srgbClr val="1C3561"/>
            </a:solidFill>
            <a:prstDash val="solid"/>
          </a:ln>
        </p:spPr>
      </p:sp>
      <p:sp>
        <p:nvSpPr>
          <p:cNvPr id="15" name="Text 12"/>
          <p:cNvSpPr txBox="1"/>
          <p:nvPr/>
        </p:nvSpPr>
        <p:spPr>
          <a:xfrm>
            <a:off x="3364992" y="4837176"/>
            <a:ext cx="1499616" cy="27432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BFD2FF"/>
                </a:solidFill>
                <a:latin typeface="Aptos" pitchFamily="34" charset="0"/>
                <a:ea typeface="Aptos" pitchFamily="34" charset="-122"/>
                <a:cs typeface="Aptos" pitchFamily="34" charset="-120"/>
              </a:rPr>
              <a:t>Human-in-the-loop</a:t>
            </a:r>
            <a:endParaRPr lang="en-US" sz="900" dirty="0"/>
          </a:p>
        </p:txBody>
      </p:sp>
      <p:sp>
        <p:nvSpPr>
          <p:cNvPr id="16" name="Text 13"/>
          <p:cNvSpPr txBox="1"/>
          <p:nvPr/>
        </p:nvSpPr>
        <p:spPr>
          <a:xfrm>
            <a:off x="530352" y="6080760"/>
            <a:ext cx="3200400" cy="219456"/>
          </a:xfrm>
          <a:prstGeom prst="rect">
            <a:avLst/>
          </a:prstGeom>
          <a:noFill/>
          <a:ln/>
        </p:spPr>
        <p:txBody>
          <a:bodyPr wrap="square" lIns="0" tIns="0" rIns="0" bIns="0" rtlCol="0" anchor="ctr">
            <a:normAutofit/>
          </a:bodyPr>
          <a:lstStyle/>
          <a:p>
            <a:pPr algn="l" indent="0" marL="0">
              <a:lnSpc>
                <a:spcPct val="100000"/>
              </a:lnSpc>
              <a:buNone/>
            </a:pPr>
            <a:r>
              <a:rPr lang="en-US" sz="900" b="1" spc="150" kern="0" dirty="0">
                <a:solidFill>
                  <a:srgbClr val="7F97C4"/>
                </a:solidFill>
                <a:latin typeface="Aptos" pitchFamily="34" charset="0"/>
                <a:ea typeface="Aptos" pitchFamily="34" charset="-122"/>
                <a:cs typeface="Aptos" pitchFamily="34" charset="-120"/>
              </a:rPr>
              <a:t>TEAM MEDICHECK  /  2026</a:t>
            </a:r>
            <a:endParaRPr lang="en-US" sz="90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Aptos"/>
                <a:ea typeface="Aptos"/>
                <a:cs typeface="Apto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30352" y="310896"/>
            <a:ext cx="4754880" cy="256032"/>
          </a:xfrm>
          <a:prstGeom prst="rect">
            <a:avLst/>
          </a:prstGeom>
          <a:noFill/>
          <a:ln/>
        </p:spPr>
        <p:txBody>
          <a:bodyPr wrap="square" lIns="0" tIns="0" rIns="0" bIns="0" rtlCol="0" anchor="ctr">
            <a:normAutofit/>
          </a:bodyPr>
          <a:lstStyle/>
          <a:p>
            <a:pPr algn="l" indent="0" marL="0">
              <a:lnSpc>
                <a:spcPct val="100000"/>
              </a:lnSpc>
              <a:buNone/>
            </a:pPr>
            <a:r>
              <a:rPr lang="en-US" sz="1000" b="1" spc="180" kern="0" dirty="0">
                <a:solidFill>
                  <a:srgbClr val="4D73C9"/>
                </a:solidFill>
                <a:latin typeface="Aptos" pitchFamily="34" charset="0"/>
                <a:ea typeface="Aptos" pitchFamily="34" charset="-122"/>
                <a:cs typeface="Aptos" pitchFamily="34" charset="-120"/>
              </a:rPr>
              <a:t>01 / BÀI TOÁN</a:t>
            </a:r>
            <a:endParaRPr lang="en-US" sz="1000" dirty="0"/>
          </a:p>
        </p:txBody>
      </p:sp>
      <p:sp>
        <p:nvSpPr>
          <p:cNvPr id="3" name="Text 1"/>
          <p:cNvSpPr txBox="1"/>
          <p:nvPr/>
        </p:nvSpPr>
        <p:spPr>
          <a:xfrm>
            <a:off x="530352" y="658368"/>
            <a:ext cx="11064240" cy="530352"/>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1284C"/>
                </a:solidFill>
                <a:latin typeface="Aptos" pitchFamily="34" charset="0"/>
                <a:ea typeface="Aptos" pitchFamily="34" charset="-122"/>
                <a:cs typeface="Aptos" pitchFamily="34" charset="-120"/>
              </a:rPr>
              <a:t>Khi nhiều nguồn thuốc gặp nhau, rủi ro dễ bị bỏ sót</a:t>
            </a:r>
            <a:endParaRPr lang="en-US" sz="2700" dirty="0"/>
          </a:p>
        </p:txBody>
      </p:sp>
      <p:sp>
        <p:nvSpPr>
          <p:cNvPr id="4" name="Text 2"/>
          <p:cNvSpPr txBox="1"/>
          <p:nvPr/>
        </p:nvSpPr>
        <p:spPr>
          <a:xfrm>
            <a:off x="530352" y="1197864"/>
            <a:ext cx="10972800" cy="384048"/>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667792"/>
                </a:solidFill>
                <a:latin typeface="Aptos" pitchFamily="34" charset="0"/>
                <a:ea typeface="Aptos" pitchFamily="34" charset="-122"/>
                <a:cs typeface="Aptos" pitchFamily="34" charset="-120"/>
              </a:rPr>
              <a:t>Vấn đề không chỉ là thiếu dữ liệu — mà là thiếu một quy trình tra cứu nhanh, dễ hiểu và có người chịu trách nhiệm xác nhận.</a:t>
            </a:r>
            <a:endParaRPr lang="en-US" sz="1250" dirty="0"/>
          </a:p>
        </p:txBody>
      </p:sp>
      <p:sp>
        <p:nvSpPr>
          <p:cNvPr id="5" name="Shape 3"/>
          <p:cNvSpPr/>
          <p:nvPr/>
        </p:nvSpPr>
        <p:spPr>
          <a:xfrm>
            <a:off x="530352" y="1783080"/>
            <a:ext cx="3520440" cy="1874520"/>
          </a:xfrm>
          <a:prstGeom prst="roundRect">
            <a:avLst>
              <a:gd name="adj" fmla="val 8780"/>
            </a:avLst>
          </a:prstGeom>
          <a:solidFill>
            <a:srgbClr val="FFFFFF"/>
          </a:solidFill>
          <a:ln w="12700">
            <a:solidFill>
              <a:srgbClr val="CBD8ED"/>
            </a:solidFill>
            <a:prstDash val="solid"/>
          </a:ln>
        </p:spPr>
      </p:sp>
      <p:sp>
        <p:nvSpPr>
          <p:cNvPr id="6" name="Shape 4"/>
          <p:cNvSpPr/>
          <p:nvPr/>
        </p:nvSpPr>
        <p:spPr>
          <a:xfrm>
            <a:off x="530352" y="1783080"/>
            <a:ext cx="73152" cy="1874520"/>
          </a:xfrm>
          <a:prstGeom prst="rect">
            <a:avLst/>
          </a:prstGeom>
          <a:solidFill>
            <a:srgbClr val="D54B4B"/>
          </a:solidFill>
          <a:ln w="12700">
            <a:solidFill>
              <a:srgbClr val="D54B4B"/>
            </a:solidFill>
            <a:prstDash val="solid"/>
          </a:ln>
        </p:spPr>
      </p:sp>
      <p:sp>
        <p:nvSpPr>
          <p:cNvPr id="7" name="Shape 5"/>
          <p:cNvSpPr/>
          <p:nvPr/>
        </p:nvSpPr>
        <p:spPr>
          <a:xfrm>
            <a:off x="758952" y="2029968"/>
            <a:ext cx="384048" cy="384048"/>
          </a:xfrm>
          <a:prstGeom prst="ellipse">
            <a:avLst/>
          </a:prstGeom>
          <a:solidFill>
            <a:srgbClr val="D54B4B"/>
          </a:solidFill>
          <a:ln w="12700">
            <a:solidFill>
              <a:srgbClr val="D54B4B"/>
            </a:solidFill>
            <a:prstDash val="solid"/>
          </a:ln>
        </p:spPr>
      </p:sp>
      <p:sp>
        <p:nvSpPr>
          <p:cNvPr id="8" name="Text 6"/>
          <p:cNvSpPr txBox="1"/>
          <p:nvPr/>
        </p:nvSpPr>
        <p:spPr>
          <a:xfrm>
            <a:off x="758952" y="2039112"/>
            <a:ext cx="384048" cy="34747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01</a:t>
            </a:r>
            <a:endParaRPr lang="en-US" sz="1000" dirty="0"/>
          </a:p>
        </p:txBody>
      </p:sp>
      <p:sp>
        <p:nvSpPr>
          <p:cNvPr id="9" name="Text 7"/>
          <p:cNvSpPr txBox="1"/>
          <p:nvPr/>
        </p:nvSpPr>
        <p:spPr>
          <a:xfrm>
            <a:off x="1280160" y="1993392"/>
            <a:ext cx="2587752" cy="347472"/>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11284C"/>
                </a:solidFill>
                <a:latin typeface="Aptos" pitchFamily="34" charset="0"/>
                <a:ea typeface="Aptos" pitchFamily="34" charset="-122"/>
                <a:cs typeface="Aptos" pitchFamily="34" charset="-120"/>
              </a:rPr>
              <a:t>Bệnh nhân đa bệnh lý</a:t>
            </a:r>
            <a:endParaRPr lang="en-US" sz="1500" dirty="0"/>
          </a:p>
        </p:txBody>
      </p:sp>
      <p:sp>
        <p:nvSpPr>
          <p:cNvPr id="10" name="Text 8"/>
          <p:cNvSpPr txBox="1"/>
          <p:nvPr/>
        </p:nvSpPr>
        <p:spPr>
          <a:xfrm>
            <a:off x="786384" y="2450592"/>
            <a:ext cx="3008376" cy="1042416"/>
          </a:xfrm>
          <a:prstGeom prst="rect">
            <a:avLst/>
          </a:prstGeom>
          <a:noFill/>
          <a:ln/>
        </p:spPr>
        <p:txBody>
          <a:bodyPr wrap="square" lIns="0" tIns="0" rIns="0" bIns="0" rtlCol="0" anchor="t">
            <a:normAutofit/>
          </a:bodyPr>
          <a:lstStyle/>
          <a:p>
            <a:pPr algn="l" indent="0" marL="0">
              <a:lnSpc>
                <a:spcPct val="105000"/>
              </a:lnSpc>
              <a:buNone/>
            </a:pPr>
            <a:r>
              <a:rPr lang="en-US" sz="1120" dirty="0">
                <a:solidFill>
                  <a:srgbClr val="667792"/>
                </a:solidFill>
                <a:latin typeface="Aptos" pitchFamily="34" charset="0"/>
                <a:ea typeface="Aptos" pitchFamily="34" charset="-122"/>
                <a:cs typeface="Aptos" pitchFamily="34" charset="-120"/>
              </a:rPr>
              <a:t>Dùng nhiều thuốc từ nhiều bác sĩ, cộng thêm thuốc OTC hoặc thực phẩm chức năng; khó nhận biết các cặp tương tác.</a:t>
            </a:r>
            <a:endParaRPr lang="en-US" sz="1120" dirty="0"/>
          </a:p>
        </p:txBody>
      </p:sp>
      <p:sp>
        <p:nvSpPr>
          <p:cNvPr id="11" name="Shape 9"/>
          <p:cNvSpPr/>
          <p:nvPr/>
        </p:nvSpPr>
        <p:spPr>
          <a:xfrm>
            <a:off x="4334256" y="1783080"/>
            <a:ext cx="3520440" cy="1874520"/>
          </a:xfrm>
          <a:prstGeom prst="roundRect">
            <a:avLst>
              <a:gd name="adj" fmla="val 8780"/>
            </a:avLst>
          </a:prstGeom>
          <a:solidFill>
            <a:srgbClr val="FFFFFF"/>
          </a:solidFill>
          <a:ln w="12700">
            <a:solidFill>
              <a:srgbClr val="CBD8ED"/>
            </a:solidFill>
            <a:prstDash val="solid"/>
          </a:ln>
        </p:spPr>
      </p:sp>
      <p:sp>
        <p:nvSpPr>
          <p:cNvPr id="12" name="Shape 10"/>
          <p:cNvSpPr/>
          <p:nvPr/>
        </p:nvSpPr>
        <p:spPr>
          <a:xfrm>
            <a:off x="4334256" y="1783080"/>
            <a:ext cx="73152" cy="1874520"/>
          </a:xfrm>
          <a:prstGeom prst="rect">
            <a:avLst/>
          </a:prstGeom>
          <a:solidFill>
            <a:srgbClr val="C68A2E"/>
          </a:solidFill>
          <a:ln w="12700">
            <a:solidFill>
              <a:srgbClr val="C68A2E"/>
            </a:solidFill>
            <a:prstDash val="solid"/>
          </a:ln>
        </p:spPr>
      </p:sp>
      <p:sp>
        <p:nvSpPr>
          <p:cNvPr id="13" name="Shape 11"/>
          <p:cNvSpPr/>
          <p:nvPr/>
        </p:nvSpPr>
        <p:spPr>
          <a:xfrm>
            <a:off x="4562856" y="2029968"/>
            <a:ext cx="384048" cy="384048"/>
          </a:xfrm>
          <a:prstGeom prst="ellipse">
            <a:avLst/>
          </a:prstGeom>
          <a:solidFill>
            <a:srgbClr val="C68A2E"/>
          </a:solidFill>
          <a:ln w="12700">
            <a:solidFill>
              <a:srgbClr val="C68A2E"/>
            </a:solidFill>
            <a:prstDash val="solid"/>
          </a:ln>
        </p:spPr>
      </p:sp>
      <p:sp>
        <p:nvSpPr>
          <p:cNvPr id="14" name="Text 12"/>
          <p:cNvSpPr txBox="1"/>
          <p:nvPr/>
        </p:nvSpPr>
        <p:spPr>
          <a:xfrm>
            <a:off x="4562856" y="2039112"/>
            <a:ext cx="384048" cy="34747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02</a:t>
            </a:r>
            <a:endParaRPr lang="en-US" sz="1000" dirty="0"/>
          </a:p>
        </p:txBody>
      </p:sp>
      <p:sp>
        <p:nvSpPr>
          <p:cNvPr id="15" name="Text 13"/>
          <p:cNvSpPr txBox="1"/>
          <p:nvPr/>
        </p:nvSpPr>
        <p:spPr>
          <a:xfrm>
            <a:off x="5084064" y="1993392"/>
            <a:ext cx="2587752" cy="347472"/>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11284C"/>
                </a:solidFill>
                <a:latin typeface="Aptos" pitchFamily="34" charset="0"/>
                <a:ea typeface="Aptos" pitchFamily="34" charset="-122"/>
                <a:cs typeface="Aptos" pitchFamily="34" charset="-120"/>
              </a:rPr>
              <a:t>Thông tin phân mảnh</a:t>
            </a:r>
            <a:endParaRPr lang="en-US" sz="1500" dirty="0"/>
          </a:p>
        </p:txBody>
      </p:sp>
      <p:sp>
        <p:nvSpPr>
          <p:cNvPr id="16" name="Text 14"/>
          <p:cNvSpPr txBox="1"/>
          <p:nvPr/>
        </p:nvSpPr>
        <p:spPr>
          <a:xfrm>
            <a:off x="4590288" y="2450592"/>
            <a:ext cx="3008376" cy="1042416"/>
          </a:xfrm>
          <a:prstGeom prst="rect">
            <a:avLst/>
          </a:prstGeom>
          <a:noFill/>
          <a:ln/>
        </p:spPr>
        <p:txBody>
          <a:bodyPr wrap="square" lIns="0" tIns="0" rIns="0" bIns="0" rtlCol="0" anchor="t">
            <a:normAutofit/>
          </a:bodyPr>
          <a:lstStyle/>
          <a:p>
            <a:pPr algn="l" indent="0" marL="0">
              <a:lnSpc>
                <a:spcPct val="105000"/>
              </a:lnSpc>
              <a:buNone/>
            </a:pPr>
            <a:r>
              <a:rPr lang="en-US" sz="1120" dirty="0">
                <a:solidFill>
                  <a:srgbClr val="667792"/>
                </a:solidFill>
                <a:latin typeface="Aptos" pitchFamily="34" charset="0"/>
                <a:ea typeface="Aptos" pitchFamily="34" charset="-122"/>
                <a:cs typeface="Aptos" pitchFamily="34" charset="-120"/>
              </a:rPr>
              <a:t>Tờ hướng dẫn dài, kết quả tìm kiếm rời rạc và thuật ngữ chuyên môn khiến người dùng dễ hiểu sai mức độ nghiêm trọng.</a:t>
            </a:r>
            <a:endParaRPr lang="en-US" sz="1120" dirty="0"/>
          </a:p>
        </p:txBody>
      </p:sp>
      <p:sp>
        <p:nvSpPr>
          <p:cNvPr id="17" name="Shape 15"/>
          <p:cNvSpPr/>
          <p:nvPr/>
        </p:nvSpPr>
        <p:spPr>
          <a:xfrm>
            <a:off x="8138160" y="1783080"/>
            <a:ext cx="3520440" cy="1874520"/>
          </a:xfrm>
          <a:prstGeom prst="roundRect">
            <a:avLst>
              <a:gd name="adj" fmla="val 8780"/>
            </a:avLst>
          </a:prstGeom>
          <a:solidFill>
            <a:srgbClr val="FFFFFF"/>
          </a:solidFill>
          <a:ln w="12700">
            <a:solidFill>
              <a:srgbClr val="CBD8ED"/>
            </a:solidFill>
            <a:prstDash val="solid"/>
          </a:ln>
        </p:spPr>
      </p:sp>
      <p:sp>
        <p:nvSpPr>
          <p:cNvPr id="18" name="Shape 16"/>
          <p:cNvSpPr/>
          <p:nvPr/>
        </p:nvSpPr>
        <p:spPr>
          <a:xfrm>
            <a:off x="8138160" y="1783080"/>
            <a:ext cx="73152" cy="1874520"/>
          </a:xfrm>
          <a:prstGeom prst="rect">
            <a:avLst/>
          </a:prstGeom>
          <a:solidFill>
            <a:srgbClr val="8156BF"/>
          </a:solidFill>
          <a:ln w="12700">
            <a:solidFill>
              <a:srgbClr val="8156BF"/>
            </a:solidFill>
            <a:prstDash val="solid"/>
          </a:ln>
        </p:spPr>
      </p:sp>
      <p:sp>
        <p:nvSpPr>
          <p:cNvPr id="19" name="Shape 17"/>
          <p:cNvSpPr/>
          <p:nvPr/>
        </p:nvSpPr>
        <p:spPr>
          <a:xfrm>
            <a:off x="8366760" y="2029968"/>
            <a:ext cx="384048" cy="384048"/>
          </a:xfrm>
          <a:prstGeom prst="ellipse">
            <a:avLst/>
          </a:prstGeom>
          <a:solidFill>
            <a:srgbClr val="8156BF"/>
          </a:solidFill>
          <a:ln w="12700">
            <a:solidFill>
              <a:srgbClr val="8156BF"/>
            </a:solidFill>
            <a:prstDash val="solid"/>
          </a:ln>
        </p:spPr>
      </p:sp>
      <p:sp>
        <p:nvSpPr>
          <p:cNvPr id="20" name="Text 18"/>
          <p:cNvSpPr txBox="1"/>
          <p:nvPr/>
        </p:nvSpPr>
        <p:spPr>
          <a:xfrm>
            <a:off x="8366760" y="2039112"/>
            <a:ext cx="384048" cy="34747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03</a:t>
            </a:r>
            <a:endParaRPr lang="en-US" sz="1000" dirty="0"/>
          </a:p>
        </p:txBody>
      </p:sp>
      <p:sp>
        <p:nvSpPr>
          <p:cNvPr id="21" name="Text 19"/>
          <p:cNvSpPr txBox="1"/>
          <p:nvPr/>
        </p:nvSpPr>
        <p:spPr>
          <a:xfrm>
            <a:off x="8887968" y="1993392"/>
            <a:ext cx="2587752" cy="347472"/>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11284C"/>
                </a:solidFill>
                <a:latin typeface="Aptos" pitchFamily="34" charset="0"/>
                <a:ea typeface="Aptos" pitchFamily="34" charset="-122"/>
                <a:cs typeface="Aptos" pitchFamily="34" charset="-120"/>
              </a:rPr>
              <a:t>Dược sĩ thiếu thời gian</a:t>
            </a:r>
            <a:endParaRPr lang="en-US" sz="1500" dirty="0"/>
          </a:p>
        </p:txBody>
      </p:sp>
      <p:sp>
        <p:nvSpPr>
          <p:cNvPr id="22" name="Text 20"/>
          <p:cNvSpPr txBox="1"/>
          <p:nvPr/>
        </p:nvSpPr>
        <p:spPr>
          <a:xfrm>
            <a:off x="8394192" y="2450592"/>
            <a:ext cx="3008376" cy="1042416"/>
          </a:xfrm>
          <a:prstGeom prst="rect">
            <a:avLst/>
          </a:prstGeom>
          <a:noFill/>
          <a:ln/>
        </p:spPr>
        <p:txBody>
          <a:bodyPr wrap="square" lIns="0" tIns="0" rIns="0" bIns="0" rtlCol="0" anchor="t">
            <a:normAutofit/>
          </a:bodyPr>
          <a:lstStyle/>
          <a:p>
            <a:pPr algn="l" indent="0" marL="0">
              <a:lnSpc>
                <a:spcPct val="105000"/>
              </a:lnSpc>
              <a:buNone/>
            </a:pPr>
            <a:r>
              <a:rPr lang="en-US" sz="1120" dirty="0">
                <a:solidFill>
                  <a:srgbClr val="667792"/>
                </a:solidFill>
                <a:latin typeface="Aptos" pitchFamily="34" charset="0"/>
                <a:ea typeface="Aptos" pitchFamily="34" charset="-122"/>
                <a:cs typeface="Aptos" pitchFamily="34" charset="-120"/>
              </a:rPr>
              <a:t>Mỗi lượt tư vấn cần quyết định nhanh nhưng công cụ chuyên môn thường chưa gắn với hồ sơ và lịch sử của bệnh nhân.</a:t>
            </a:r>
            <a:endParaRPr lang="en-US" sz="1120" dirty="0"/>
          </a:p>
        </p:txBody>
      </p:sp>
      <p:sp>
        <p:nvSpPr>
          <p:cNvPr id="23" name="Text 21"/>
          <p:cNvSpPr txBox="1"/>
          <p:nvPr/>
        </p:nvSpPr>
        <p:spPr>
          <a:xfrm>
            <a:off x="530352" y="4096512"/>
            <a:ext cx="2926080" cy="310896"/>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11284C"/>
                </a:solidFill>
                <a:latin typeface="Aptos" pitchFamily="34" charset="0"/>
                <a:ea typeface="Aptos" pitchFamily="34" charset="-122"/>
                <a:cs typeface="Aptos" pitchFamily="34" charset="-120"/>
              </a:rPr>
              <a:t>Khoảng trống cần giải quyết</a:t>
            </a:r>
            <a:endParaRPr lang="en-US" sz="1400" dirty="0"/>
          </a:p>
        </p:txBody>
      </p:sp>
      <p:sp>
        <p:nvSpPr>
          <p:cNvPr id="24" name="Shape 22"/>
          <p:cNvSpPr/>
          <p:nvPr/>
        </p:nvSpPr>
        <p:spPr>
          <a:xfrm>
            <a:off x="530352" y="4590288"/>
            <a:ext cx="2267712" cy="987552"/>
          </a:xfrm>
          <a:prstGeom prst="roundRect">
            <a:avLst>
              <a:gd name="adj" fmla="val 14815"/>
            </a:avLst>
          </a:prstGeom>
          <a:solidFill>
            <a:srgbClr val="E9F0FF"/>
          </a:solidFill>
          <a:ln w="12700">
            <a:solidFill>
              <a:srgbClr val="E9F0FF"/>
            </a:solidFill>
            <a:prstDash val="solid"/>
          </a:ln>
        </p:spPr>
      </p:sp>
      <p:sp>
        <p:nvSpPr>
          <p:cNvPr id="25" name="Text 23"/>
          <p:cNvSpPr txBox="1"/>
          <p:nvPr/>
        </p:nvSpPr>
        <p:spPr>
          <a:xfrm>
            <a:off x="694944" y="4727448"/>
            <a:ext cx="1938528" cy="219456"/>
          </a:xfrm>
          <a:prstGeom prst="rect">
            <a:avLst/>
          </a:prstGeom>
          <a:noFill/>
          <a:ln/>
        </p:spPr>
        <p:txBody>
          <a:bodyPr wrap="square" lIns="0" tIns="0" rIns="0" bIns="0" rtlCol="0" anchor="ctr">
            <a:normAutofit/>
          </a:bodyPr>
          <a:lstStyle/>
          <a:p>
            <a:pPr algn="l" indent="0" marL="0">
              <a:lnSpc>
                <a:spcPct val="100000"/>
              </a:lnSpc>
              <a:buNone/>
            </a:pPr>
            <a:r>
              <a:rPr lang="en-US" sz="1000" b="1" spc="70" kern="0" dirty="0">
                <a:solidFill>
                  <a:srgbClr val="4D73C9"/>
                </a:solidFill>
                <a:latin typeface="Aptos" pitchFamily="34" charset="0"/>
                <a:ea typeface="Aptos" pitchFamily="34" charset="-122"/>
                <a:cs typeface="Aptos" pitchFamily="34" charset="-120"/>
              </a:rPr>
              <a:t>NHẬP THUỐC</a:t>
            </a:r>
            <a:endParaRPr lang="en-US" sz="1000" dirty="0"/>
          </a:p>
        </p:txBody>
      </p:sp>
      <p:sp>
        <p:nvSpPr>
          <p:cNvPr id="26" name="Text 24"/>
          <p:cNvSpPr txBox="1"/>
          <p:nvPr/>
        </p:nvSpPr>
        <p:spPr>
          <a:xfrm>
            <a:off x="694944" y="5020056"/>
            <a:ext cx="1938528" cy="347472"/>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253B5F"/>
                </a:solidFill>
                <a:latin typeface="Aptos" pitchFamily="34" charset="0"/>
                <a:ea typeface="Aptos" pitchFamily="34" charset="-122"/>
                <a:cs typeface="Aptos" pitchFamily="34" charset="-120"/>
              </a:rPr>
              <a:t>Biệt dược / tên viết tắt</a:t>
            </a:r>
            <a:endParaRPr lang="en-US" sz="1100" dirty="0"/>
          </a:p>
        </p:txBody>
      </p:sp>
      <p:sp>
        <p:nvSpPr>
          <p:cNvPr id="27" name="Shape 25"/>
          <p:cNvSpPr/>
          <p:nvPr/>
        </p:nvSpPr>
        <p:spPr>
          <a:xfrm>
            <a:off x="2843784" y="5084064"/>
            <a:ext cx="365760" cy="0"/>
          </a:xfrm>
          <a:prstGeom prst="line">
            <a:avLst/>
          </a:prstGeom>
          <a:noFill/>
          <a:ln w="20320">
            <a:solidFill>
              <a:srgbClr val="7899E8"/>
            </a:solidFill>
            <a:prstDash val="solid"/>
            <a:headEnd type="none"/>
            <a:tailEnd type="triangle"/>
          </a:ln>
        </p:spPr>
      </p:sp>
      <p:sp>
        <p:nvSpPr>
          <p:cNvPr id="28" name="Shape 26"/>
          <p:cNvSpPr/>
          <p:nvPr/>
        </p:nvSpPr>
        <p:spPr>
          <a:xfrm>
            <a:off x="3319272" y="4590288"/>
            <a:ext cx="2267712" cy="987552"/>
          </a:xfrm>
          <a:prstGeom prst="roundRect">
            <a:avLst>
              <a:gd name="adj" fmla="val 14815"/>
            </a:avLst>
          </a:prstGeom>
          <a:solidFill>
            <a:srgbClr val="E9F0FF"/>
          </a:solidFill>
          <a:ln w="12700">
            <a:solidFill>
              <a:srgbClr val="E9F0FF"/>
            </a:solidFill>
            <a:prstDash val="solid"/>
          </a:ln>
        </p:spPr>
      </p:sp>
      <p:sp>
        <p:nvSpPr>
          <p:cNvPr id="29" name="Text 27"/>
          <p:cNvSpPr txBox="1"/>
          <p:nvPr/>
        </p:nvSpPr>
        <p:spPr>
          <a:xfrm>
            <a:off x="3483864" y="4727448"/>
            <a:ext cx="1938528" cy="219456"/>
          </a:xfrm>
          <a:prstGeom prst="rect">
            <a:avLst/>
          </a:prstGeom>
          <a:noFill/>
          <a:ln/>
        </p:spPr>
        <p:txBody>
          <a:bodyPr wrap="square" lIns="0" tIns="0" rIns="0" bIns="0" rtlCol="0" anchor="ctr">
            <a:normAutofit/>
          </a:bodyPr>
          <a:lstStyle/>
          <a:p>
            <a:pPr algn="l" indent="0" marL="0">
              <a:lnSpc>
                <a:spcPct val="100000"/>
              </a:lnSpc>
              <a:buNone/>
            </a:pPr>
            <a:r>
              <a:rPr lang="en-US" sz="1000" b="1" spc="70" kern="0" dirty="0">
                <a:solidFill>
                  <a:srgbClr val="4D73C9"/>
                </a:solidFill>
                <a:latin typeface="Aptos" pitchFamily="34" charset="0"/>
                <a:ea typeface="Aptos" pitchFamily="34" charset="-122"/>
                <a:cs typeface="Aptos" pitchFamily="34" charset="-120"/>
              </a:rPr>
              <a:t>ĐỐI CHIẾU</a:t>
            </a:r>
            <a:endParaRPr lang="en-US" sz="1000" dirty="0"/>
          </a:p>
        </p:txBody>
      </p:sp>
      <p:sp>
        <p:nvSpPr>
          <p:cNvPr id="30" name="Text 28"/>
          <p:cNvSpPr txBox="1"/>
          <p:nvPr/>
        </p:nvSpPr>
        <p:spPr>
          <a:xfrm>
            <a:off x="3483864" y="5020056"/>
            <a:ext cx="1938528" cy="347472"/>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253B5F"/>
                </a:solidFill>
                <a:latin typeface="Aptos" pitchFamily="34" charset="0"/>
                <a:ea typeface="Aptos" pitchFamily="34" charset="-122"/>
                <a:cs typeface="Aptos" pitchFamily="34" charset="-120"/>
              </a:rPr>
              <a:t>Nguồn dữ liệu có trích dẫn</a:t>
            </a:r>
            <a:endParaRPr lang="en-US" sz="1100" dirty="0"/>
          </a:p>
        </p:txBody>
      </p:sp>
      <p:sp>
        <p:nvSpPr>
          <p:cNvPr id="31" name="Shape 29"/>
          <p:cNvSpPr/>
          <p:nvPr/>
        </p:nvSpPr>
        <p:spPr>
          <a:xfrm>
            <a:off x="5632704" y="5084064"/>
            <a:ext cx="365760" cy="0"/>
          </a:xfrm>
          <a:prstGeom prst="line">
            <a:avLst/>
          </a:prstGeom>
          <a:noFill/>
          <a:ln w="20320">
            <a:solidFill>
              <a:srgbClr val="7899E8"/>
            </a:solidFill>
            <a:prstDash val="solid"/>
            <a:headEnd type="none"/>
            <a:tailEnd type="triangle"/>
          </a:ln>
        </p:spPr>
      </p:sp>
      <p:sp>
        <p:nvSpPr>
          <p:cNvPr id="32" name="Shape 30"/>
          <p:cNvSpPr/>
          <p:nvPr/>
        </p:nvSpPr>
        <p:spPr>
          <a:xfrm>
            <a:off x="6108192" y="4590288"/>
            <a:ext cx="2267712" cy="987552"/>
          </a:xfrm>
          <a:prstGeom prst="roundRect">
            <a:avLst>
              <a:gd name="adj" fmla="val 14815"/>
            </a:avLst>
          </a:prstGeom>
          <a:solidFill>
            <a:srgbClr val="E9F0FF"/>
          </a:solidFill>
          <a:ln w="12700">
            <a:solidFill>
              <a:srgbClr val="E9F0FF"/>
            </a:solidFill>
            <a:prstDash val="solid"/>
          </a:ln>
        </p:spPr>
      </p:sp>
      <p:sp>
        <p:nvSpPr>
          <p:cNvPr id="33" name="Text 31"/>
          <p:cNvSpPr txBox="1"/>
          <p:nvPr/>
        </p:nvSpPr>
        <p:spPr>
          <a:xfrm>
            <a:off x="6272784" y="4727448"/>
            <a:ext cx="1938528" cy="219456"/>
          </a:xfrm>
          <a:prstGeom prst="rect">
            <a:avLst/>
          </a:prstGeom>
          <a:noFill/>
          <a:ln/>
        </p:spPr>
        <p:txBody>
          <a:bodyPr wrap="square" lIns="0" tIns="0" rIns="0" bIns="0" rtlCol="0" anchor="ctr">
            <a:normAutofit/>
          </a:bodyPr>
          <a:lstStyle/>
          <a:p>
            <a:pPr algn="l" indent="0" marL="0">
              <a:lnSpc>
                <a:spcPct val="100000"/>
              </a:lnSpc>
              <a:buNone/>
            </a:pPr>
            <a:r>
              <a:rPr lang="en-US" sz="1000" b="1" spc="70" kern="0" dirty="0">
                <a:solidFill>
                  <a:srgbClr val="4D73C9"/>
                </a:solidFill>
                <a:latin typeface="Aptos" pitchFamily="34" charset="0"/>
                <a:ea typeface="Aptos" pitchFamily="34" charset="-122"/>
                <a:cs typeface="Aptos" pitchFamily="34" charset="-120"/>
              </a:rPr>
              <a:t>HIỂU RỦI RO</a:t>
            </a:r>
            <a:endParaRPr lang="en-US" sz="1000" dirty="0"/>
          </a:p>
        </p:txBody>
      </p:sp>
      <p:sp>
        <p:nvSpPr>
          <p:cNvPr id="34" name="Text 32"/>
          <p:cNvSpPr txBox="1"/>
          <p:nvPr/>
        </p:nvSpPr>
        <p:spPr>
          <a:xfrm>
            <a:off x="6272784" y="5020056"/>
            <a:ext cx="1938528" cy="347472"/>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253B5F"/>
                </a:solidFill>
                <a:latin typeface="Aptos" pitchFamily="34" charset="0"/>
                <a:ea typeface="Aptos" pitchFamily="34" charset="-122"/>
                <a:cs typeface="Aptos" pitchFamily="34" charset="-120"/>
              </a:rPr>
              <a:t>Ngôn ngữ tiếng Việt rõ ràng</a:t>
            </a:r>
            <a:endParaRPr lang="en-US" sz="1100" dirty="0"/>
          </a:p>
        </p:txBody>
      </p:sp>
      <p:sp>
        <p:nvSpPr>
          <p:cNvPr id="35" name="Shape 33"/>
          <p:cNvSpPr/>
          <p:nvPr/>
        </p:nvSpPr>
        <p:spPr>
          <a:xfrm>
            <a:off x="8421624" y="5084064"/>
            <a:ext cx="365760" cy="0"/>
          </a:xfrm>
          <a:prstGeom prst="line">
            <a:avLst/>
          </a:prstGeom>
          <a:noFill/>
          <a:ln w="20320">
            <a:solidFill>
              <a:srgbClr val="7899E8"/>
            </a:solidFill>
            <a:prstDash val="solid"/>
            <a:headEnd type="none"/>
            <a:tailEnd type="triangle"/>
          </a:ln>
        </p:spPr>
      </p:sp>
      <p:sp>
        <p:nvSpPr>
          <p:cNvPr id="36" name="Shape 34"/>
          <p:cNvSpPr/>
          <p:nvPr/>
        </p:nvSpPr>
        <p:spPr>
          <a:xfrm>
            <a:off x="8897112" y="4590288"/>
            <a:ext cx="2267712" cy="987552"/>
          </a:xfrm>
          <a:prstGeom prst="roundRect">
            <a:avLst>
              <a:gd name="adj" fmla="val 14815"/>
            </a:avLst>
          </a:prstGeom>
          <a:solidFill>
            <a:srgbClr val="E1F5EF"/>
          </a:solidFill>
          <a:ln w="12700">
            <a:solidFill>
              <a:srgbClr val="E1F5EF"/>
            </a:solidFill>
            <a:prstDash val="solid"/>
          </a:ln>
        </p:spPr>
      </p:sp>
      <p:sp>
        <p:nvSpPr>
          <p:cNvPr id="37" name="Text 35"/>
          <p:cNvSpPr txBox="1"/>
          <p:nvPr/>
        </p:nvSpPr>
        <p:spPr>
          <a:xfrm>
            <a:off x="9061704" y="4727448"/>
            <a:ext cx="1938528" cy="219456"/>
          </a:xfrm>
          <a:prstGeom prst="rect">
            <a:avLst/>
          </a:prstGeom>
          <a:noFill/>
          <a:ln/>
        </p:spPr>
        <p:txBody>
          <a:bodyPr wrap="square" lIns="0" tIns="0" rIns="0" bIns="0" rtlCol="0" anchor="ctr">
            <a:normAutofit/>
          </a:bodyPr>
          <a:lstStyle/>
          <a:p>
            <a:pPr algn="l" indent="0" marL="0">
              <a:lnSpc>
                <a:spcPct val="100000"/>
              </a:lnSpc>
              <a:buNone/>
            </a:pPr>
            <a:r>
              <a:rPr lang="en-US" sz="1000" b="1" spc="70" kern="0" dirty="0">
                <a:solidFill>
                  <a:srgbClr val="2C9A83"/>
                </a:solidFill>
                <a:latin typeface="Aptos" pitchFamily="34" charset="0"/>
                <a:ea typeface="Aptos" pitchFamily="34" charset="-122"/>
                <a:cs typeface="Aptos" pitchFamily="34" charset="-120"/>
              </a:rPr>
              <a:t>XÁC NHẬN</a:t>
            </a:r>
            <a:endParaRPr lang="en-US" sz="1000" dirty="0"/>
          </a:p>
        </p:txBody>
      </p:sp>
      <p:sp>
        <p:nvSpPr>
          <p:cNvPr id="38" name="Text 36"/>
          <p:cNvSpPr txBox="1"/>
          <p:nvPr/>
        </p:nvSpPr>
        <p:spPr>
          <a:xfrm>
            <a:off x="9061704" y="5020056"/>
            <a:ext cx="1938528" cy="347472"/>
          </a:xfrm>
          <a:prstGeom prst="rect">
            <a:avLst/>
          </a:prstGeom>
          <a:noFill/>
          <a:ln/>
        </p:spPr>
        <p:txBody>
          <a:bodyPr wrap="square" lIns="0" tIns="0" rIns="0" bIns="0" rtlCol="0" anchor="ctr">
            <a:normAutofit/>
          </a:bodyPr>
          <a:lstStyle/>
          <a:p>
            <a:pPr algn="l" indent="0" marL="0">
              <a:lnSpc>
                <a:spcPct val="100000"/>
              </a:lnSpc>
              <a:buNone/>
            </a:pPr>
            <a:r>
              <a:rPr lang="en-US" sz="1100" dirty="0">
                <a:solidFill>
                  <a:srgbClr val="253B5F"/>
                </a:solidFill>
                <a:latin typeface="Aptos" pitchFamily="34" charset="0"/>
                <a:ea typeface="Aptos" pitchFamily="34" charset="-122"/>
                <a:cs typeface="Aptos" pitchFamily="34" charset="-120"/>
              </a:rPr>
              <a:t>Dược sĩ xem xét khi cần</a:t>
            </a:r>
            <a:endParaRPr lang="en-US" sz="1100" dirty="0"/>
          </a:p>
        </p:txBody>
      </p:sp>
      <p:sp>
        <p:nvSpPr>
          <p:cNvPr id="39" name="Shape 37"/>
          <p:cNvSpPr/>
          <p:nvPr/>
        </p:nvSpPr>
        <p:spPr>
          <a:xfrm>
            <a:off x="530352" y="5806440"/>
            <a:ext cx="11128248" cy="438912"/>
          </a:xfrm>
          <a:prstGeom prst="roundRect">
            <a:avLst>
              <a:gd name="adj" fmla="val 29167"/>
            </a:avLst>
          </a:prstGeom>
          <a:solidFill>
            <a:srgbClr val="11284C"/>
          </a:solidFill>
          <a:ln w="12700">
            <a:solidFill>
              <a:srgbClr val="11284C"/>
            </a:solidFill>
            <a:prstDash val="solid"/>
          </a:ln>
        </p:spPr>
      </p:sp>
      <p:sp>
        <p:nvSpPr>
          <p:cNvPr id="40" name="Text 38"/>
          <p:cNvSpPr txBox="1"/>
          <p:nvPr/>
        </p:nvSpPr>
        <p:spPr>
          <a:xfrm>
            <a:off x="777240" y="5870448"/>
            <a:ext cx="10634472" cy="274320"/>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MediCheck biến quy trình trên thành một luồng liền mạch — từ tên thuốc đời thường đến cảnh báo có căn cứ.</a:t>
            </a:r>
            <a:endParaRPr lang="en-US" sz="120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30352" y="310896"/>
            <a:ext cx="4754880" cy="256032"/>
          </a:xfrm>
          <a:prstGeom prst="rect">
            <a:avLst/>
          </a:prstGeom>
          <a:noFill/>
          <a:ln/>
        </p:spPr>
        <p:txBody>
          <a:bodyPr wrap="square" lIns="0" tIns="0" rIns="0" bIns="0" rtlCol="0" anchor="ctr">
            <a:normAutofit/>
          </a:bodyPr>
          <a:lstStyle/>
          <a:p>
            <a:pPr algn="l" indent="0" marL="0">
              <a:lnSpc>
                <a:spcPct val="100000"/>
              </a:lnSpc>
              <a:buNone/>
            </a:pPr>
            <a:r>
              <a:rPr lang="en-US" sz="1000" b="1" spc="180" kern="0" dirty="0">
                <a:solidFill>
                  <a:srgbClr val="4D73C9"/>
                </a:solidFill>
                <a:latin typeface="Aptos" pitchFamily="34" charset="0"/>
                <a:ea typeface="Aptos" pitchFamily="34" charset="-122"/>
                <a:cs typeface="Aptos" pitchFamily="34" charset="-120"/>
              </a:rPr>
              <a:t>02 / GIẢI PHÁP</a:t>
            </a:r>
            <a:endParaRPr lang="en-US" sz="1000" dirty="0"/>
          </a:p>
        </p:txBody>
      </p:sp>
      <p:sp>
        <p:nvSpPr>
          <p:cNvPr id="3" name="Text 1"/>
          <p:cNvSpPr txBox="1"/>
          <p:nvPr/>
        </p:nvSpPr>
        <p:spPr>
          <a:xfrm>
            <a:off x="530352" y="658368"/>
            <a:ext cx="11064240" cy="530352"/>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1284C"/>
                </a:solidFill>
                <a:latin typeface="Aptos" pitchFamily="34" charset="0"/>
                <a:ea typeface="Aptos" pitchFamily="34" charset="-122"/>
                <a:cs typeface="Aptos" pitchFamily="34" charset="-120"/>
              </a:rPr>
              <a:t>Một trợ lý an toàn dùng thuốc — không phải bác sĩ ảo</a:t>
            </a:r>
            <a:endParaRPr lang="en-US" sz="2700" dirty="0"/>
          </a:p>
        </p:txBody>
      </p:sp>
      <p:sp>
        <p:nvSpPr>
          <p:cNvPr id="4" name="Text 2"/>
          <p:cNvSpPr txBox="1"/>
          <p:nvPr/>
        </p:nvSpPr>
        <p:spPr>
          <a:xfrm>
            <a:off x="530352" y="1197864"/>
            <a:ext cx="10972800" cy="384048"/>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667792"/>
                </a:solidFill>
                <a:latin typeface="Aptos" pitchFamily="34" charset="0"/>
                <a:ea typeface="Aptos" pitchFamily="34" charset="-122"/>
                <a:cs typeface="Aptos" pitchFamily="34" charset="-120"/>
              </a:rPr>
              <a:t>AI đảm nhiệm việc chuẩn hóa, tra cứu và diễn giải; dữ liệu nguồn và dược sĩ giữ vai trò kiểm chứng.</a:t>
            </a:r>
            <a:endParaRPr lang="en-US" sz="1250" dirty="0"/>
          </a:p>
        </p:txBody>
      </p:sp>
      <p:sp>
        <p:nvSpPr>
          <p:cNvPr id="5" name="Shape 3"/>
          <p:cNvSpPr/>
          <p:nvPr/>
        </p:nvSpPr>
        <p:spPr>
          <a:xfrm>
            <a:off x="1152144" y="1847088"/>
            <a:ext cx="621792" cy="621792"/>
          </a:xfrm>
          <a:prstGeom prst="ellipse">
            <a:avLst/>
          </a:prstGeom>
          <a:solidFill>
            <a:srgbClr val="4D73C9"/>
          </a:solidFill>
          <a:ln w="12700">
            <a:solidFill>
              <a:srgbClr val="4D73C9"/>
            </a:solidFill>
            <a:prstDash val="solid"/>
          </a:ln>
        </p:spPr>
      </p:sp>
      <p:sp>
        <p:nvSpPr>
          <p:cNvPr id="6" name="Text 4"/>
          <p:cNvSpPr txBox="1"/>
          <p:nvPr/>
        </p:nvSpPr>
        <p:spPr>
          <a:xfrm>
            <a:off x="1152144" y="1883664"/>
            <a:ext cx="621792" cy="475488"/>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01</a:t>
            </a:r>
            <a:endParaRPr lang="en-US" sz="1300" dirty="0"/>
          </a:p>
        </p:txBody>
      </p:sp>
      <p:sp>
        <p:nvSpPr>
          <p:cNvPr id="7" name="Shape 5"/>
          <p:cNvSpPr/>
          <p:nvPr/>
        </p:nvSpPr>
        <p:spPr>
          <a:xfrm>
            <a:off x="1828800" y="2157984"/>
            <a:ext cx="804672" cy="0"/>
          </a:xfrm>
          <a:prstGeom prst="line">
            <a:avLst/>
          </a:prstGeom>
          <a:noFill/>
          <a:ln w="22860">
            <a:solidFill>
              <a:srgbClr val="CBD8ED"/>
            </a:solidFill>
            <a:prstDash val="solid"/>
            <a:headEnd type="none"/>
            <a:tailEnd type="triangle"/>
          </a:ln>
        </p:spPr>
      </p:sp>
      <p:sp>
        <p:nvSpPr>
          <p:cNvPr id="8" name="Text 6"/>
          <p:cNvSpPr txBox="1"/>
          <p:nvPr/>
        </p:nvSpPr>
        <p:spPr>
          <a:xfrm>
            <a:off x="530352" y="2596896"/>
            <a:ext cx="1874520" cy="411480"/>
          </a:xfrm>
          <a:prstGeom prst="rect">
            <a:avLst/>
          </a:prstGeom>
          <a:noFill/>
          <a:ln/>
        </p:spPr>
        <p:txBody>
          <a:bodyPr wrap="square" lIns="0" tIns="0" rIns="0" bIns="0" rtlCol="0" anchor="ctr">
            <a:normAutofit/>
          </a:bodyPr>
          <a:lstStyle/>
          <a:p>
            <a:pPr algn="ctr" indent="0" marL="0">
              <a:lnSpc>
                <a:spcPct val="100000"/>
              </a:lnSpc>
              <a:buNone/>
            </a:pPr>
            <a:r>
              <a:rPr lang="en-US" sz="1320" b="1" dirty="0">
                <a:solidFill>
                  <a:srgbClr val="11284C"/>
                </a:solidFill>
                <a:latin typeface="Aptos" pitchFamily="34" charset="0"/>
                <a:ea typeface="Aptos" pitchFamily="34" charset="-122"/>
                <a:cs typeface="Aptos" pitchFamily="34" charset="-120"/>
              </a:rPr>
              <a:t>Nhập / quét đơn</a:t>
            </a:r>
            <a:endParaRPr lang="en-US" sz="1320" dirty="0"/>
          </a:p>
        </p:txBody>
      </p:sp>
      <p:sp>
        <p:nvSpPr>
          <p:cNvPr id="9" name="Text 7"/>
          <p:cNvSpPr txBox="1"/>
          <p:nvPr/>
        </p:nvSpPr>
        <p:spPr>
          <a:xfrm>
            <a:off x="530352" y="3044952"/>
            <a:ext cx="1874520" cy="786384"/>
          </a:xfrm>
          <a:prstGeom prst="rect">
            <a:avLst/>
          </a:prstGeom>
          <a:noFill/>
          <a:ln/>
        </p:spPr>
        <p:txBody>
          <a:bodyPr wrap="square" lIns="0" tIns="0" rIns="0" bIns="0" rtlCol="0" anchor="t">
            <a:normAutofit/>
          </a:bodyPr>
          <a:lstStyle/>
          <a:p>
            <a:pPr algn="ctr" indent="0" marL="0">
              <a:lnSpc>
                <a:spcPct val="100000"/>
              </a:lnSpc>
              <a:buNone/>
            </a:pPr>
            <a:r>
              <a:rPr lang="en-US" sz="1050" dirty="0">
                <a:solidFill>
                  <a:srgbClr val="667792"/>
                </a:solidFill>
                <a:latin typeface="Aptos" pitchFamily="34" charset="0"/>
                <a:ea typeface="Aptos" pitchFamily="34" charset="-122"/>
                <a:cs typeface="Aptos" pitchFamily="34" charset="-120"/>
              </a:rPr>
              <a:t>Tên biệt dược, hoạt chất hoặc ảnh đơn thuốc</a:t>
            </a:r>
            <a:endParaRPr lang="en-US" sz="1050" dirty="0"/>
          </a:p>
        </p:txBody>
      </p:sp>
      <p:sp>
        <p:nvSpPr>
          <p:cNvPr id="10" name="Shape 8"/>
          <p:cNvSpPr/>
          <p:nvPr/>
        </p:nvSpPr>
        <p:spPr>
          <a:xfrm>
            <a:off x="3401568" y="1847088"/>
            <a:ext cx="621792" cy="621792"/>
          </a:xfrm>
          <a:prstGeom prst="ellipse">
            <a:avLst/>
          </a:prstGeom>
          <a:solidFill>
            <a:srgbClr val="4D73C9"/>
          </a:solidFill>
          <a:ln w="12700">
            <a:solidFill>
              <a:srgbClr val="4D73C9"/>
            </a:solidFill>
            <a:prstDash val="solid"/>
          </a:ln>
        </p:spPr>
      </p:sp>
      <p:sp>
        <p:nvSpPr>
          <p:cNvPr id="11" name="Text 9"/>
          <p:cNvSpPr txBox="1"/>
          <p:nvPr/>
        </p:nvSpPr>
        <p:spPr>
          <a:xfrm>
            <a:off x="3401568" y="1883664"/>
            <a:ext cx="621792" cy="475488"/>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02</a:t>
            </a:r>
            <a:endParaRPr lang="en-US" sz="1300" dirty="0"/>
          </a:p>
        </p:txBody>
      </p:sp>
      <p:sp>
        <p:nvSpPr>
          <p:cNvPr id="12" name="Shape 10"/>
          <p:cNvSpPr/>
          <p:nvPr/>
        </p:nvSpPr>
        <p:spPr>
          <a:xfrm>
            <a:off x="4078224" y="2157984"/>
            <a:ext cx="804672" cy="0"/>
          </a:xfrm>
          <a:prstGeom prst="line">
            <a:avLst/>
          </a:prstGeom>
          <a:noFill/>
          <a:ln w="22860">
            <a:solidFill>
              <a:srgbClr val="CBD8ED"/>
            </a:solidFill>
            <a:prstDash val="solid"/>
            <a:headEnd type="none"/>
            <a:tailEnd type="triangle"/>
          </a:ln>
        </p:spPr>
      </p:sp>
      <p:sp>
        <p:nvSpPr>
          <p:cNvPr id="13" name="Text 11"/>
          <p:cNvSpPr txBox="1"/>
          <p:nvPr/>
        </p:nvSpPr>
        <p:spPr>
          <a:xfrm>
            <a:off x="2779776" y="2596896"/>
            <a:ext cx="1874520" cy="411480"/>
          </a:xfrm>
          <a:prstGeom prst="rect">
            <a:avLst/>
          </a:prstGeom>
          <a:noFill/>
          <a:ln/>
        </p:spPr>
        <p:txBody>
          <a:bodyPr wrap="square" lIns="0" tIns="0" rIns="0" bIns="0" rtlCol="0" anchor="ctr">
            <a:normAutofit/>
          </a:bodyPr>
          <a:lstStyle/>
          <a:p>
            <a:pPr algn="ctr" indent="0" marL="0">
              <a:lnSpc>
                <a:spcPct val="100000"/>
              </a:lnSpc>
              <a:buNone/>
            </a:pPr>
            <a:r>
              <a:rPr lang="en-US" sz="1320" b="1" dirty="0">
                <a:solidFill>
                  <a:srgbClr val="11284C"/>
                </a:solidFill>
                <a:latin typeface="Aptos" pitchFamily="34" charset="0"/>
                <a:ea typeface="Aptos" pitchFamily="34" charset="-122"/>
                <a:cs typeface="Aptos" pitchFamily="34" charset="-120"/>
              </a:rPr>
              <a:t>Chuẩn hóa tên</a:t>
            </a:r>
            <a:endParaRPr lang="en-US" sz="1320" dirty="0"/>
          </a:p>
        </p:txBody>
      </p:sp>
      <p:sp>
        <p:nvSpPr>
          <p:cNvPr id="14" name="Text 12"/>
          <p:cNvSpPr txBox="1"/>
          <p:nvPr/>
        </p:nvSpPr>
        <p:spPr>
          <a:xfrm>
            <a:off x="2779776" y="3044952"/>
            <a:ext cx="1874520" cy="786384"/>
          </a:xfrm>
          <a:prstGeom prst="rect">
            <a:avLst/>
          </a:prstGeom>
          <a:noFill/>
          <a:ln/>
        </p:spPr>
        <p:txBody>
          <a:bodyPr wrap="square" lIns="0" tIns="0" rIns="0" bIns="0" rtlCol="0" anchor="t">
            <a:normAutofit/>
          </a:bodyPr>
          <a:lstStyle/>
          <a:p>
            <a:pPr algn="ctr" indent="0" marL="0">
              <a:lnSpc>
                <a:spcPct val="100000"/>
              </a:lnSpc>
              <a:buNone/>
            </a:pPr>
            <a:r>
              <a:rPr lang="en-US" sz="1050" dirty="0">
                <a:solidFill>
                  <a:srgbClr val="667792"/>
                </a:solidFill>
                <a:latin typeface="Aptos" pitchFamily="34" charset="0"/>
                <a:ea typeface="Aptos" pitchFamily="34" charset="-122"/>
                <a:cs typeface="Aptos" pitchFamily="34" charset="-120"/>
              </a:rPr>
              <a:t>Biệt dược → hoạt chất và alias chuẩn</a:t>
            </a:r>
            <a:endParaRPr lang="en-US" sz="1050" dirty="0"/>
          </a:p>
        </p:txBody>
      </p:sp>
      <p:sp>
        <p:nvSpPr>
          <p:cNvPr id="15" name="Shape 13"/>
          <p:cNvSpPr/>
          <p:nvPr/>
        </p:nvSpPr>
        <p:spPr>
          <a:xfrm>
            <a:off x="5650992" y="1847088"/>
            <a:ext cx="621792" cy="621792"/>
          </a:xfrm>
          <a:prstGeom prst="ellipse">
            <a:avLst/>
          </a:prstGeom>
          <a:solidFill>
            <a:srgbClr val="4D73C9"/>
          </a:solidFill>
          <a:ln w="12700">
            <a:solidFill>
              <a:srgbClr val="4D73C9"/>
            </a:solidFill>
            <a:prstDash val="solid"/>
          </a:ln>
        </p:spPr>
      </p:sp>
      <p:sp>
        <p:nvSpPr>
          <p:cNvPr id="16" name="Text 14"/>
          <p:cNvSpPr txBox="1"/>
          <p:nvPr/>
        </p:nvSpPr>
        <p:spPr>
          <a:xfrm>
            <a:off x="5650992" y="1883664"/>
            <a:ext cx="621792" cy="475488"/>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03</a:t>
            </a:r>
            <a:endParaRPr lang="en-US" sz="1300" dirty="0"/>
          </a:p>
        </p:txBody>
      </p:sp>
      <p:sp>
        <p:nvSpPr>
          <p:cNvPr id="17" name="Shape 15"/>
          <p:cNvSpPr/>
          <p:nvPr/>
        </p:nvSpPr>
        <p:spPr>
          <a:xfrm>
            <a:off x="6327648" y="2157984"/>
            <a:ext cx="804672" cy="0"/>
          </a:xfrm>
          <a:prstGeom prst="line">
            <a:avLst/>
          </a:prstGeom>
          <a:noFill/>
          <a:ln w="22860">
            <a:solidFill>
              <a:srgbClr val="CBD8ED"/>
            </a:solidFill>
            <a:prstDash val="solid"/>
            <a:headEnd type="none"/>
            <a:tailEnd type="triangle"/>
          </a:ln>
        </p:spPr>
      </p:sp>
      <p:sp>
        <p:nvSpPr>
          <p:cNvPr id="18" name="Text 16"/>
          <p:cNvSpPr txBox="1"/>
          <p:nvPr/>
        </p:nvSpPr>
        <p:spPr>
          <a:xfrm>
            <a:off x="5029200" y="2596896"/>
            <a:ext cx="1874520" cy="411480"/>
          </a:xfrm>
          <a:prstGeom prst="rect">
            <a:avLst/>
          </a:prstGeom>
          <a:noFill/>
          <a:ln/>
        </p:spPr>
        <p:txBody>
          <a:bodyPr wrap="square" lIns="0" tIns="0" rIns="0" bIns="0" rtlCol="0" anchor="ctr">
            <a:normAutofit/>
          </a:bodyPr>
          <a:lstStyle/>
          <a:p>
            <a:pPr algn="ctr" indent="0" marL="0">
              <a:lnSpc>
                <a:spcPct val="100000"/>
              </a:lnSpc>
              <a:buNone/>
            </a:pPr>
            <a:r>
              <a:rPr lang="en-US" sz="1320" b="1" dirty="0">
                <a:solidFill>
                  <a:srgbClr val="11284C"/>
                </a:solidFill>
                <a:latin typeface="Aptos" pitchFamily="34" charset="0"/>
                <a:ea typeface="Aptos" pitchFamily="34" charset="-122"/>
                <a:cs typeface="Aptos" pitchFamily="34" charset="-120"/>
              </a:rPr>
              <a:t>Tra cứu</a:t>
            </a:r>
            <a:endParaRPr lang="en-US" sz="1320" dirty="0"/>
          </a:p>
        </p:txBody>
      </p:sp>
      <p:sp>
        <p:nvSpPr>
          <p:cNvPr id="19" name="Text 17"/>
          <p:cNvSpPr txBox="1"/>
          <p:nvPr/>
        </p:nvSpPr>
        <p:spPr>
          <a:xfrm>
            <a:off x="5029200" y="3044952"/>
            <a:ext cx="1874520" cy="786384"/>
          </a:xfrm>
          <a:prstGeom prst="rect">
            <a:avLst/>
          </a:prstGeom>
          <a:noFill/>
          <a:ln/>
        </p:spPr>
        <p:txBody>
          <a:bodyPr wrap="square" lIns="0" tIns="0" rIns="0" bIns="0" rtlCol="0" anchor="t">
            <a:normAutofit/>
          </a:bodyPr>
          <a:lstStyle/>
          <a:p>
            <a:pPr algn="ctr" indent="0" marL="0">
              <a:lnSpc>
                <a:spcPct val="100000"/>
              </a:lnSpc>
              <a:buNone/>
            </a:pPr>
            <a:r>
              <a:rPr lang="en-US" sz="1050" dirty="0">
                <a:solidFill>
                  <a:srgbClr val="667792"/>
                </a:solidFill>
                <a:latin typeface="Aptos" pitchFamily="34" charset="0"/>
                <a:ea typeface="Aptos" pitchFamily="34" charset="-122"/>
                <a:cs typeface="Aptos" pitchFamily="34" charset="-120"/>
              </a:rPr>
              <a:t>Đối chiếu các cặp trong DDInter 2.0</a:t>
            </a:r>
            <a:endParaRPr lang="en-US" sz="1050" dirty="0"/>
          </a:p>
        </p:txBody>
      </p:sp>
      <p:sp>
        <p:nvSpPr>
          <p:cNvPr id="20" name="Shape 18"/>
          <p:cNvSpPr/>
          <p:nvPr/>
        </p:nvSpPr>
        <p:spPr>
          <a:xfrm>
            <a:off x="7900416" y="1847088"/>
            <a:ext cx="621792" cy="621792"/>
          </a:xfrm>
          <a:prstGeom prst="ellipse">
            <a:avLst/>
          </a:prstGeom>
          <a:solidFill>
            <a:srgbClr val="4D73C9"/>
          </a:solidFill>
          <a:ln w="12700">
            <a:solidFill>
              <a:srgbClr val="4D73C9"/>
            </a:solidFill>
            <a:prstDash val="solid"/>
          </a:ln>
        </p:spPr>
      </p:sp>
      <p:sp>
        <p:nvSpPr>
          <p:cNvPr id="21" name="Text 19"/>
          <p:cNvSpPr txBox="1"/>
          <p:nvPr/>
        </p:nvSpPr>
        <p:spPr>
          <a:xfrm>
            <a:off x="7900416" y="1883664"/>
            <a:ext cx="621792" cy="475488"/>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04</a:t>
            </a:r>
            <a:endParaRPr lang="en-US" sz="1300" dirty="0"/>
          </a:p>
        </p:txBody>
      </p:sp>
      <p:sp>
        <p:nvSpPr>
          <p:cNvPr id="22" name="Shape 20"/>
          <p:cNvSpPr/>
          <p:nvPr/>
        </p:nvSpPr>
        <p:spPr>
          <a:xfrm>
            <a:off x="8577072" y="2157984"/>
            <a:ext cx="804672" cy="0"/>
          </a:xfrm>
          <a:prstGeom prst="line">
            <a:avLst/>
          </a:prstGeom>
          <a:noFill/>
          <a:ln w="22860">
            <a:solidFill>
              <a:srgbClr val="CBD8ED"/>
            </a:solidFill>
            <a:prstDash val="solid"/>
            <a:headEnd type="none"/>
            <a:tailEnd type="triangle"/>
          </a:ln>
        </p:spPr>
      </p:sp>
      <p:sp>
        <p:nvSpPr>
          <p:cNvPr id="23" name="Text 21"/>
          <p:cNvSpPr txBox="1"/>
          <p:nvPr/>
        </p:nvSpPr>
        <p:spPr>
          <a:xfrm>
            <a:off x="7278624" y="2596896"/>
            <a:ext cx="1874520" cy="411480"/>
          </a:xfrm>
          <a:prstGeom prst="rect">
            <a:avLst/>
          </a:prstGeom>
          <a:noFill/>
          <a:ln/>
        </p:spPr>
        <p:txBody>
          <a:bodyPr wrap="square" lIns="0" tIns="0" rIns="0" bIns="0" rtlCol="0" anchor="ctr">
            <a:normAutofit/>
          </a:bodyPr>
          <a:lstStyle/>
          <a:p>
            <a:pPr algn="ctr" indent="0" marL="0">
              <a:lnSpc>
                <a:spcPct val="100000"/>
              </a:lnSpc>
              <a:buNone/>
            </a:pPr>
            <a:r>
              <a:rPr lang="en-US" sz="1320" b="1" dirty="0">
                <a:solidFill>
                  <a:srgbClr val="11284C"/>
                </a:solidFill>
                <a:latin typeface="Aptos" pitchFamily="34" charset="0"/>
                <a:ea typeface="Aptos" pitchFamily="34" charset="-122"/>
                <a:cs typeface="Aptos" pitchFamily="34" charset="-120"/>
              </a:rPr>
              <a:t>Xếp hạng &amp; giải thích</a:t>
            </a:r>
            <a:endParaRPr lang="en-US" sz="1320" dirty="0"/>
          </a:p>
        </p:txBody>
      </p:sp>
      <p:sp>
        <p:nvSpPr>
          <p:cNvPr id="24" name="Text 22"/>
          <p:cNvSpPr txBox="1"/>
          <p:nvPr/>
        </p:nvSpPr>
        <p:spPr>
          <a:xfrm>
            <a:off x="7278624" y="3044952"/>
            <a:ext cx="1874520" cy="786384"/>
          </a:xfrm>
          <a:prstGeom prst="rect">
            <a:avLst/>
          </a:prstGeom>
          <a:noFill/>
          <a:ln/>
        </p:spPr>
        <p:txBody>
          <a:bodyPr wrap="square" lIns="0" tIns="0" rIns="0" bIns="0" rtlCol="0" anchor="t">
            <a:normAutofit/>
          </a:bodyPr>
          <a:lstStyle/>
          <a:p>
            <a:pPr algn="ctr" indent="0" marL="0">
              <a:lnSpc>
                <a:spcPct val="100000"/>
              </a:lnSpc>
              <a:buNone/>
            </a:pPr>
            <a:r>
              <a:rPr lang="en-US" sz="1050" dirty="0">
                <a:solidFill>
                  <a:srgbClr val="667792"/>
                </a:solidFill>
                <a:latin typeface="Aptos" pitchFamily="34" charset="0"/>
                <a:ea typeface="Aptos" pitchFamily="34" charset="-122"/>
                <a:cs typeface="Aptos" pitchFamily="34" charset="-120"/>
              </a:rPr>
              <a:t>Nhẹ / trung bình / nặng, bằng tiếng Việt</a:t>
            </a:r>
            <a:endParaRPr lang="en-US" sz="1050" dirty="0"/>
          </a:p>
        </p:txBody>
      </p:sp>
      <p:sp>
        <p:nvSpPr>
          <p:cNvPr id="25" name="Shape 23"/>
          <p:cNvSpPr/>
          <p:nvPr/>
        </p:nvSpPr>
        <p:spPr>
          <a:xfrm>
            <a:off x="10149840" y="1847088"/>
            <a:ext cx="621792" cy="621792"/>
          </a:xfrm>
          <a:prstGeom prst="ellipse">
            <a:avLst/>
          </a:prstGeom>
          <a:solidFill>
            <a:srgbClr val="2C9A83"/>
          </a:solidFill>
          <a:ln w="12700">
            <a:solidFill>
              <a:srgbClr val="2C9A83"/>
            </a:solidFill>
            <a:prstDash val="solid"/>
          </a:ln>
        </p:spPr>
      </p:sp>
      <p:sp>
        <p:nvSpPr>
          <p:cNvPr id="26" name="Text 24"/>
          <p:cNvSpPr txBox="1"/>
          <p:nvPr/>
        </p:nvSpPr>
        <p:spPr>
          <a:xfrm>
            <a:off x="10149840" y="1883664"/>
            <a:ext cx="621792" cy="475488"/>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05</a:t>
            </a:r>
            <a:endParaRPr lang="en-US" sz="1300" dirty="0"/>
          </a:p>
        </p:txBody>
      </p:sp>
      <p:sp>
        <p:nvSpPr>
          <p:cNvPr id="27" name="Text 25"/>
          <p:cNvSpPr txBox="1"/>
          <p:nvPr/>
        </p:nvSpPr>
        <p:spPr>
          <a:xfrm>
            <a:off x="9528048" y="2596896"/>
            <a:ext cx="1874520" cy="411480"/>
          </a:xfrm>
          <a:prstGeom prst="rect">
            <a:avLst/>
          </a:prstGeom>
          <a:noFill/>
          <a:ln/>
        </p:spPr>
        <p:txBody>
          <a:bodyPr wrap="square" lIns="0" tIns="0" rIns="0" bIns="0" rtlCol="0" anchor="ctr">
            <a:normAutofit/>
          </a:bodyPr>
          <a:lstStyle/>
          <a:p>
            <a:pPr algn="ctr" indent="0" marL="0">
              <a:lnSpc>
                <a:spcPct val="100000"/>
              </a:lnSpc>
              <a:buNone/>
            </a:pPr>
            <a:r>
              <a:rPr lang="en-US" sz="1320" b="1" dirty="0">
                <a:solidFill>
                  <a:srgbClr val="11284C"/>
                </a:solidFill>
                <a:latin typeface="Aptos" pitchFamily="34" charset="0"/>
                <a:ea typeface="Aptos" pitchFamily="34" charset="-122"/>
                <a:cs typeface="Aptos" pitchFamily="34" charset="-120"/>
              </a:rPr>
              <a:t>Guardrail &amp; review</a:t>
            </a:r>
            <a:endParaRPr lang="en-US" sz="1320" dirty="0"/>
          </a:p>
        </p:txBody>
      </p:sp>
      <p:sp>
        <p:nvSpPr>
          <p:cNvPr id="28" name="Text 26"/>
          <p:cNvSpPr txBox="1"/>
          <p:nvPr/>
        </p:nvSpPr>
        <p:spPr>
          <a:xfrm>
            <a:off x="9528048" y="3044952"/>
            <a:ext cx="1874520" cy="786384"/>
          </a:xfrm>
          <a:prstGeom prst="rect">
            <a:avLst/>
          </a:prstGeom>
          <a:noFill/>
          <a:ln/>
        </p:spPr>
        <p:txBody>
          <a:bodyPr wrap="square" lIns="0" tIns="0" rIns="0" bIns="0" rtlCol="0" anchor="t">
            <a:normAutofit/>
          </a:bodyPr>
          <a:lstStyle/>
          <a:p>
            <a:pPr algn="ctr" indent="0" marL="0">
              <a:lnSpc>
                <a:spcPct val="100000"/>
              </a:lnSpc>
              <a:buNone/>
            </a:pPr>
            <a:r>
              <a:rPr lang="en-US" sz="1050" dirty="0">
                <a:solidFill>
                  <a:srgbClr val="667792"/>
                </a:solidFill>
                <a:latin typeface="Aptos" pitchFamily="34" charset="0"/>
                <a:ea typeface="Aptos" pitchFamily="34" charset="-122"/>
                <a:cs typeface="Aptos" pitchFamily="34" charset="-120"/>
              </a:rPr>
              <a:t>Lọc ngôn ngữ rủi ro, chuyển dược sĩ khi cần</a:t>
            </a:r>
            <a:endParaRPr lang="en-US" sz="1050" dirty="0"/>
          </a:p>
        </p:txBody>
      </p:sp>
      <p:sp>
        <p:nvSpPr>
          <p:cNvPr id="29" name="Shape 27"/>
          <p:cNvSpPr/>
          <p:nvPr/>
        </p:nvSpPr>
        <p:spPr>
          <a:xfrm>
            <a:off x="530352" y="4279392"/>
            <a:ext cx="11128248" cy="1344168"/>
          </a:xfrm>
          <a:prstGeom prst="roundRect">
            <a:avLst>
              <a:gd name="adj" fmla="val 12245"/>
            </a:avLst>
          </a:prstGeom>
          <a:solidFill>
            <a:srgbClr val="FFFFFF"/>
          </a:solidFill>
          <a:ln w="12700">
            <a:solidFill>
              <a:srgbClr val="CBD8ED"/>
            </a:solidFill>
            <a:prstDash val="solid"/>
          </a:ln>
        </p:spPr>
      </p:sp>
      <p:sp>
        <p:nvSpPr>
          <p:cNvPr id="30" name="Text 28"/>
          <p:cNvSpPr txBox="1"/>
          <p:nvPr/>
        </p:nvSpPr>
        <p:spPr>
          <a:xfrm>
            <a:off x="795528" y="4498848"/>
            <a:ext cx="2011680" cy="256032"/>
          </a:xfrm>
          <a:prstGeom prst="rect">
            <a:avLst/>
          </a:prstGeom>
          <a:noFill/>
          <a:ln/>
        </p:spPr>
        <p:txBody>
          <a:bodyPr wrap="square" lIns="0" tIns="0" rIns="0" bIns="0" rtlCol="0" anchor="ctr">
            <a:normAutofit/>
          </a:bodyPr>
          <a:lstStyle/>
          <a:p>
            <a:pPr algn="l" indent="0" marL="0">
              <a:lnSpc>
                <a:spcPct val="100000"/>
              </a:lnSpc>
              <a:buNone/>
            </a:pPr>
            <a:r>
              <a:rPr lang="en-US" sz="1000" b="1" spc="130" kern="0" dirty="0">
                <a:solidFill>
                  <a:srgbClr val="4D73C9"/>
                </a:solidFill>
                <a:latin typeface="Aptos" pitchFamily="34" charset="0"/>
                <a:ea typeface="Aptos" pitchFamily="34" charset="-122"/>
                <a:cs typeface="Aptos" pitchFamily="34" charset="-120"/>
              </a:rPr>
              <a:t>GIÁ TRỊ KHÁC BIỆT</a:t>
            </a:r>
            <a:endParaRPr lang="en-US" sz="1000" dirty="0"/>
          </a:p>
        </p:txBody>
      </p:sp>
      <p:sp>
        <p:nvSpPr>
          <p:cNvPr id="31" name="Shape 29"/>
          <p:cNvSpPr/>
          <p:nvPr/>
        </p:nvSpPr>
        <p:spPr>
          <a:xfrm>
            <a:off x="2587752" y="4507992"/>
            <a:ext cx="0" cy="877824"/>
          </a:xfrm>
          <a:prstGeom prst="line">
            <a:avLst/>
          </a:prstGeom>
          <a:noFill/>
          <a:ln w="25400">
            <a:solidFill>
              <a:srgbClr val="4D73C9"/>
            </a:solidFill>
            <a:prstDash val="solid"/>
            <a:headEnd type="none"/>
            <a:tailEnd type="none"/>
          </a:ln>
        </p:spPr>
      </p:sp>
      <p:sp>
        <p:nvSpPr>
          <p:cNvPr id="32" name="Text 30"/>
          <p:cNvSpPr txBox="1"/>
          <p:nvPr/>
        </p:nvSpPr>
        <p:spPr>
          <a:xfrm>
            <a:off x="2788920" y="4471416"/>
            <a:ext cx="2514600" cy="310896"/>
          </a:xfrm>
          <a:prstGeom prst="rect">
            <a:avLst/>
          </a:prstGeom>
          <a:noFill/>
          <a:ln/>
        </p:spPr>
        <p:txBody>
          <a:bodyPr wrap="square" lIns="0" tIns="0" rIns="0" bIns="0" rtlCol="0" anchor="ctr">
            <a:normAutofit/>
          </a:bodyPr>
          <a:lstStyle/>
          <a:p>
            <a:pPr algn="l" indent="0" marL="0">
              <a:lnSpc>
                <a:spcPct val="100000"/>
              </a:lnSpc>
              <a:buNone/>
            </a:pPr>
            <a:r>
              <a:rPr lang="en-US" sz="1230" b="1" dirty="0">
                <a:solidFill>
                  <a:srgbClr val="11284C"/>
                </a:solidFill>
                <a:latin typeface="Aptos" pitchFamily="34" charset="0"/>
                <a:ea typeface="Aptos" pitchFamily="34" charset="-122"/>
                <a:cs typeface="Aptos" pitchFamily="34" charset="-120"/>
              </a:rPr>
              <a:t>Tiếng Việt dễ hiểu</a:t>
            </a:r>
            <a:endParaRPr lang="en-US" sz="1230" dirty="0"/>
          </a:p>
        </p:txBody>
      </p:sp>
      <p:sp>
        <p:nvSpPr>
          <p:cNvPr id="33" name="Text 31"/>
          <p:cNvSpPr txBox="1"/>
          <p:nvPr/>
        </p:nvSpPr>
        <p:spPr>
          <a:xfrm>
            <a:off x="2788920" y="4846320"/>
            <a:ext cx="2514600" cy="548640"/>
          </a:xfrm>
          <a:prstGeom prst="rect">
            <a:avLst/>
          </a:prstGeom>
          <a:noFill/>
          <a:ln/>
        </p:spPr>
        <p:txBody>
          <a:bodyPr wrap="square" lIns="0" tIns="0" rIns="0" bIns="0" rtlCol="0" anchor="t">
            <a:normAutofit/>
          </a:bodyPr>
          <a:lstStyle/>
          <a:p>
            <a:pPr algn="l" indent="0" marL="0">
              <a:lnSpc>
                <a:spcPct val="100000"/>
              </a:lnSpc>
              <a:buNone/>
            </a:pPr>
            <a:r>
              <a:rPr lang="en-US" sz="1020" dirty="0">
                <a:solidFill>
                  <a:srgbClr val="667792"/>
                </a:solidFill>
                <a:latin typeface="Aptos" pitchFamily="34" charset="0"/>
                <a:ea typeface="Aptos" pitchFamily="34" charset="-122"/>
                <a:cs typeface="Aptos" pitchFamily="34" charset="-120"/>
              </a:rPr>
              <a:t>Giảm khoảng cách giữa dữ liệu chuyên môn và người dùng.</a:t>
            </a:r>
            <a:endParaRPr lang="en-US" sz="1020" dirty="0"/>
          </a:p>
        </p:txBody>
      </p:sp>
      <p:sp>
        <p:nvSpPr>
          <p:cNvPr id="34" name="Shape 32"/>
          <p:cNvSpPr/>
          <p:nvPr/>
        </p:nvSpPr>
        <p:spPr>
          <a:xfrm>
            <a:off x="5513832" y="4507992"/>
            <a:ext cx="0" cy="877824"/>
          </a:xfrm>
          <a:prstGeom prst="line">
            <a:avLst/>
          </a:prstGeom>
          <a:noFill/>
          <a:ln w="25400">
            <a:solidFill>
              <a:srgbClr val="CBD8ED"/>
            </a:solidFill>
            <a:prstDash val="solid"/>
            <a:headEnd type="none"/>
            <a:tailEnd type="none"/>
          </a:ln>
        </p:spPr>
      </p:sp>
      <p:sp>
        <p:nvSpPr>
          <p:cNvPr id="35" name="Text 33"/>
          <p:cNvSpPr txBox="1"/>
          <p:nvPr/>
        </p:nvSpPr>
        <p:spPr>
          <a:xfrm>
            <a:off x="5715000" y="4471416"/>
            <a:ext cx="2514600" cy="310896"/>
          </a:xfrm>
          <a:prstGeom prst="rect">
            <a:avLst/>
          </a:prstGeom>
          <a:noFill/>
          <a:ln/>
        </p:spPr>
        <p:txBody>
          <a:bodyPr wrap="square" lIns="0" tIns="0" rIns="0" bIns="0" rtlCol="0" anchor="ctr">
            <a:normAutofit/>
          </a:bodyPr>
          <a:lstStyle/>
          <a:p>
            <a:pPr algn="l" indent="0" marL="0">
              <a:lnSpc>
                <a:spcPct val="100000"/>
              </a:lnSpc>
              <a:buNone/>
            </a:pPr>
            <a:r>
              <a:rPr lang="en-US" sz="1230" b="1" dirty="0">
                <a:solidFill>
                  <a:srgbClr val="11284C"/>
                </a:solidFill>
                <a:latin typeface="Aptos" pitchFamily="34" charset="0"/>
                <a:ea typeface="Aptos" pitchFamily="34" charset="-122"/>
                <a:cs typeface="Aptos" pitchFamily="34" charset="-120"/>
              </a:rPr>
              <a:t>Nguồn thật, có trích dẫn</a:t>
            </a:r>
            <a:endParaRPr lang="en-US" sz="1230" dirty="0"/>
          </a:p>
        </p:txBody>
      </p:sp>
      <p:sp>
        <p:nvSpPr>
          <p:cNvPr id="36" name="Text 34"/>
          <p:cNvSpPr txBox="1"/>
          <p:nvPr/>
        </p:nvSpPr>
        <p:spPr>
          <a:xfrm>
            <a:off x="5715000" y="4846320"/>
            <a:ext cx="2514600" cy="548640"/>
          </a:xfrm>
          <a:prstGeom prst="rect">
            <a:avLst/>
          </a:prstGeom>
          <a:noFill/>
          <a:ln/>
        </p:spPr>
        <p:txBody>
          <a:bodyPr wrap="square" lIns="0" tIns="0" rIns="0" bIns="0" rtlCol="0" anchor="t">
            <a:normAutofit/>
          </a:bodyPr>
          <a:lstStyle/>
          <a:p>
            <a:pPr algn="l" indent="0" marL="0">
              <a:lnSpc>
                <a:spcPct val="100000"/>
              </a:lnSpc>
              <a:buNone/>
            </a:pPr>
            <a:r>
              <a:rPr lang="en-US" sz="1020" dirty="0">
                <a:solidFill>
                  <a:srgbClr val="667792"/>
                </a:solidFill>
                <a:latin typeface="Aptos" pitchFamily="34" charset="0"/>
                <a:ea typeface="Aptos" pitchFamily="34" charset="-122"/>
                <a:cs typeface="Aptos" pitchFamily="34" charset="-120"/>
              </a:rPr>
              <a:t>DDInter 2.0 là nền tảng tra cứu; LLM không tự tạo bằng chứng.</a:t>
            </a:r>
            <a:endParaRPr lang="en-US" sz="1020" dirty="0"/>
          </a:p>
        </p:txBody>
      </p:sp>
      <p:sp>
        <p:nvSpPr>
          <p:cNvPr id="37" name="Shape 35"/>
          <p:cNvSpPr/>
          <p:nvPr/>
        </p:nvSpPr>
        <p:spPr>
          <a:xfrm>
            <a:off x="8439912" y="4507992"/>
            <a:ext cx="0" cy="877824"/>
          </a:xfrm>
          <a:prstGeom prst="line">
            <a:avLst/>
          </a:prstGeom>
          <a:noFill/>
          <a:ln w="25400">
            <a:solidFill>
              <a:srgbClr val="CBD8ED"/>
            </a:solidFill>
            <a:prstDash val="solid"/>
            <a:headEnd type="none"/>
            <a:tailEnd type="none"/>
          </a:ln>
        </p:spPr>
      </p:sp>
      <p:sp>
        <p:nvSpPr>
          <p:cNvPr id="38" name="Text 36"/>
          <p:cNvSpPr txBox="1"/>
          <p:nvPr/>
        </p:nvSpPr>
        <p:spPr>
          <a:xfrm>
            <a:off x="8641080" y="4471416"/>
            <a:ext cx="2514600" cy="310896"/>
          </a:xfrm>
          <a:prstGeom prst="rect">
            <a:avLst/>
          </a:prstGeom>
          <a:noFill/>
          <a:ln/>
        </p:spPr>
        <p:txBody>
          <a:bodyPr wrap="square" lIns="0" tIns="0" rIns="0" bIns="0" rtlCol="0" anchor="ctr">
            <a:normAutofit/>
          </a:bodyPr>
          <a:lstStyle/>
          <a:p>
            <a:pPr algn="l" indent="0" marL="0">
              <a:lnSpc>
                <a:spcPct val="100000"/>
              </a:lnSpc>
              <a:buNone/>
            </a:pPr>
            <a:r>
              <a:rPr lang="en-US" sz="1230" b="1" dirty="0">
                <a:solidFill>
                  <a:srgbClr val="11284C"/>
                </a:solidFill>
                <a:latin typeface="Aptos" pitchFamily="34" charset="0"/>
                <a:ea typeface="Aptos" pitchFamily="34" charset="-122"/>
                <a:cs typeface="Aptos" pitchFamily="34" charset="-120"/>
              </a:rPr>
              <a:t>Hai vai trò liên thông</a:t>
            </a:r>
            <a:endParaRPr lang="en-US" sz="1230" dirty="0"/>
          </a:p>
        </p:txBody>
      </p:sp>
      <p:sp>
        <p:nvSpPr>
          <p:cNvPr id="39" name="Text 37"/>
          <p:cNvSpPr txBox="1"/>
          <p:nvPr/>
        </p:nvSpPr>
        <p:spPr>
          <a:xfrm>
            <a:off x="8641080" y="4846320"/>
            <a:ext cx="2514600" cy="548640"/>
          </a:xfrm>
          <a:prstGeom prst="rect">
            <a:avLst/>
          </a:prstGeom>
          <a:noFill/>
          <a:ln/>
        </p:spPr>
        <p:txBody>
          <a:bodyPr wrap="square" lIns="0" tIns="0" rIns="0" bIns="0" rtlCol="0" anchor="t">
            <a:normAutofit/>
          </a:bodyPr>
          <a:lstStyle/>
          <a:p>
            <a:pPr algn="l" indent="0" marL="0">
              <a:lnSpc>
                <a:spcPct val="100000"/>
              </a:lnSpc>
              <a:buNone/>
            </a:pPr>
            <a:r>
              <a:rPr lang="en-US" sz="1020" dirty="0">
                <a:solidFill>
                  <a:srgbClr val="667792"/>
                </a:solidFill>
                <a:latin typeface="Aptos" pitchFamily="34" charset="0"/>
                <a:ea typeface="Aptos" pitchFamily="34" charset="-122"/>
                <a:cs typeface="Aptos" pitchFamily="34" charset="-120"/>
              </a:rPr>
              <a:t>Bệnh nhân theo dõi lịch sử; dược sĩ xác nhận và ghi nhận.</a:t>
            </a:r>
            <a:endParaRPr lang="en-US" sz="1020" dirty="0"/>
          </a:p>
        </p:txBody>
      </p:sp>
      <p:sp>
        <p:nvSpPr>
          <p:cNvPr id="40" name="Text 38"/>
          <p:cNvSpPr txBox="1"/>
          <p:nvPr/>
        </p:nvSpPr>
        <p:spPr>
          <a:xfrm>
            <a:off x="658368" y="5833872"/>
            <a:ext cx="1700784" cy="237744"/>
          </a:xfrm>
          <a:prstGeom prst="rect">
            <a:avLst/>
          </a:prstGeom>
          <a:noFill/>
          <a:ln/>
        </p:spPr>
        <p:txBody>
          <a:bodyPr wrap="square" lIns="0" tIns="0" rIns="0" bIns="0" rtlCol="0" anchor="ctr">
            <a:normAutofit/>
          </a:bodyPr>
          <a:lstStyle/>
          <a:p>
            <a:pPr algn="l" indent="0" marL="0">
              <a:lnSpc>
                <a:spcPct val="100000"/>
              </a:lnSpc>
              <a:buNone/>
            </a:pPr>
            <a:r>
              <a:rPr lang="en-US" sz="920" b="1" spc="100" kern="0" dirty="0">
                <a:solidFill>
                  <a:srgbClr val="D54B4B"/>
                </a:solidFill>
                <a:latin typeface="Aptos" pitchFamily="34" charset="0"/>
                <a:ea typeface="Aptos" pitchFamily="34" charset="-122"/>
                <a:cs typeface="Aptos" pitchFamily="34" charset="-120"/>
              </a:rPr>
              <a:t>NGUYÊN TẮC AN TOÀN</a:t>
            </a:r>
            <a:endParaRPr lang="en-US" sz="920" dirty="0"/>
          </a:p>
        </p:txBody>
      </p:sp>
      <p:sp>
        <p:nvSpPr>
          <p:cNvPr id="41" name="Text 39"/>
          <p:cNvSpPr txBox="1"/>
          <p:nvPr/>
        </p:nvSpPr>
        <p:spPr>
          <a:xfrm>
            <a:off x="2359152" y="5797296"/>
            <a:ext cx="8924544" cy="310896"/>
          </a:xfrm>
          <a:prstGeom prst="rect">
            <a:avLst/>
          </a:prstGeom>
          <a:noFill/>
          <a:ln/>
        </p:spPr>
        <p:txBody>
          <a:bodyPr wrap="square" lIns="0" tIns="0" rIns="0" bIns="0" rtlCol="0" anchor="ctr">
            <a:normAutofit/>
          </a:bodyPr>
          <a:lstStyle/>
          <a:p>
            <a:pPr algn="l" indent="0" marL="0">
              <a:lnSpc>
                <a:spcPct val="100000"/>
              </a:lnSpc>
              <a:buNone/>
            </a:pPr>
            <a:r>
              <a:rPr lang="en-US" sz="1140" b="1" dirty="0">
                <a:solidFill>
                  <a:srgbClr val="11284C"/>
                </a:solidFill>
                <a:latin typeface="Aptos" pitchFamily="34" charset="0"/>
                <a:ea typeface="Aptos" pitchFamily="34" charset="-122"/>
                <a:cs typeface="Aptos" pitchFamily="34" charset="-120"/>
              </a:rPr>
              <a:t>Không chẩn đoán  •  Không tự khuyên đổi/ngừng thuốc  •  Cảnh báo chỉ mang tính tham khảo</a:t>
            </a:r>
            <a:endParaRPr lang="en-US" sz="114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30352" y="310896"/>
            <a:ext cx="4754880" cy="256032"/>
          </a:xfrm>
          <a:prstGeom prst="rect">
            <a:avLst/>
          </a:prstGeom>
          <a:noFill/>
          <a:ln/>
        </p:spPr>
        <p:txBody>
          <a:bodyPr wrap="square" lIns="0" tIns="0" rIns="0" bIns="0" rtlCol="0" anchor="ctr">
            <a:normAutofit/>
          </a:bodyPr>
          <a:lstStyle/>
          <a:p>
            <a:pPr algn="l" indent="0" marL="0">
              <a:lnSpc>
                <a:spcPct val="100000"/>
              </a:lnSpc>
              <a:buNone/>
            </a:pPr>
            <a:r>
              <a:rPr lang="en-US" sz="1000" b="1" spc="180" kern="0" dirty="0">
                <a:solidFill>
                  <a:srgbClr val="4D73C9"/>
                </a:solidFill>
                <a:latin typeface="Aptos" pitchFamily="34" charset="0"/>
                <a:ea typeface="Aptos" pitchFamily="34" charset="-122"/>
                <a:cs typeface="Aptos" pitchFamily="34" charset="-120"/>
              </a:rPr>
              <a:t>03 / NGƯỜI DÙNG</a:t>
            </a:r>
            <a:endParaRPr lang="en-US" sz="1000" dirty="0"/>
          </a:p>
        </p:txBody>
      </p:sp>
      <p:sp>
        <p:nvSpPr>
          <p:cNvPr id="3" name="Text 1"/>
          <p:cNvSpPr txBox="1"/>
          <p:nvPr/>
        </p:nvSpPr>
        <p:spPr>
          <a:xfrm>
            <a:off x="530352" y="658368"/>
            <a:ext cx="11064240" cy="530352"/>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1284C"/>
                </a:solidFill>
                <a:latin typeface="Aptos" pitchFamily="34" charset="0"/>
                <a:ea typeface="Aptos" pitchFamily="34" charset="-122"/>
                <a:cs typeface="Aptos" pitchFamily="34" charset="-120"/>
              </a:rPr>
              <a:t>Hai trải nghiệm, một vòng an toàn khép kín</a:t>
            </a:r>
            <a:endParaRPr lang="en-US" sz="2700" dirty="0"/>
          </a:p>
        </p:txBody>
      </p:sp>
      <p:sp>
        <p:nvSpPr>
          <p:cNvPr id="4" name="Text 2"/>
          <p:cNvSpPr txBox="1"/>
          <p:nvPr/>
        </p:nvSpPr>
        <p:spPr>
          <a:xfrm>
            <a:off x="530352" y="1197864"/>
            <a:ext cx="10972800" cy="384048"/>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667792"/>
                </a:solidFill>
                <a:latin typeface="Aptos" pitchFamily="34" charset="0"/>
                <a:ea typeface="Aptos" pitchFamily="34" charset="-122"/>
                <a:cs typeface="Aptos" pitchFamily="34" charset="-120"/>
              </a:rPr>
              <a:t>MediCheck tạo giá trị cho bệnh nhân tại thời điểm tra cứu và cho dược sĩ tại thời điểm cần ra quyết định.</a:t>
            </a:r>
            <a:endParaRPr lang="en-US" sz="1250" dirty="0"/>
          </a:p>
        </p:txBody>
      </p:sp>
      <p:sp>
        <p:nvSpPr>
          <p:cNvPr id="5" name="Shape 3"/>
          <p:cNvSpPr/>
          <p:nvPr/>
        </p:nvSpPr>
        <p:spPr>
          <a:xfrm>
            <a:off x="530352" y="1755648"/>
            <a:ext cx="5376672" cy="4160520"/>
          </a:xfrm>
          <a:prstGeom prst="roundRect">
            <a:avLst>
              <a:gd name="adj" fmla="val 4396"/>
            </a:avLst>
          </a:prstGeom>
          <a:solidFill>
            <a:srgbClr val="FFFFFF"/>
          </a:solidFill>
          <a:ln w="12700">
            <a:solidFill>
              <a:srgbClr val="CBD8ED"/>
            </a:solidFill>
            <a:prstDash val="solid"/>
          </a:ln>
        </p:spPr>
      </p:sp>
      <p:sp>
        <p:nvSpPr>
          <p:cNvPr id="6" name="Shape 4"/>
          <p:cNvSpPr/>
          <p:nvPr/>
        </p:nvSpPr>
        <p:spPr>
          <a:xfrm>
            <a:off x="6281928" y="1755648"/>
            <a:ext cx="5376672" cy="4160520"/>
          </a:xfrm>
          <a:prstGeom prst="roundRect">
            <a:avLst>
              <a:gd name="adj" fmla="val 4396"/>
            </a:avLst>
          </a:prstGeom>
          <a:solidFill>
            <a:srgbClr val="FFFFFF"/>
          </a:solidFill>
          <a:ln w="12700">
            <a:solidFill>
              <a:srgbClr val="CBD8ED"/>
            </a:solidFill>
            <a:prstDash val="solid"/>
          </a:ln>
        </p:spPr>
      </p:sp>
      <p:sp>
        <p:nvSpPr>
          <p:cNvPr id="7" name="Shape 5"/>
          <p:cNvSpPr/>
          <p:nvPr/>
        </p:nvSpPr>
        <p:spPr>
          <a:xfrm>
            <a:off x="822960" y="2057400"/>
            <a:ext cx="713232" cy="713232"/>
          </a:xfrm>
          <a:prstGeom prst="ellipse">
            <a:avLst/>
          </a:prstGeom>
          <a:solidFill>
            <a:srgbClr val="E9F0FF"/>
          </a:solidFill>
          <a:ln w="12700">
            <a:solidFill>
              <a:srgbClr val="E9F0FF"/>
            </a:solidFill>
            <a:prstDash val="solid"/>
          </a:ln>
        </p:spPr>
      </p:sp>
      <p:sp>
        <p:nvSpPr>
          <p:cNvPr id="8" name="Text 6"/>
          <p:cNvSpPr txBox="1"/>
          <p:nvPr/>
        </p:nvSpPr>
        <p:spPr>
          <a:xfrm>
            <a:off x="822960" y="2103120"/>
            <a:ext cx="713232" cy="47548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4D73C9"/>
                </a:solidFill>
                <a:latin typeface="Aptos" pitchFamily="34" charset="0"/>
                <a:ea typeface="Aptos" pitchFamily="34" charset="-122"/>
                <a:cs typeface="Aptos" pitchFamily="34" charset="-120"/>
              </a:rPr>
              <a:t>BN</a:t>
            </a:r>
            <a:endParaRPr lang="en-US" sz="1500" dirty="0"/>
          </a:p>
        </p:txBody>
      </p:sp>
      <p:sp>
        <p:nvSpPr>
          <p:cNvPr id="9" name="Text 7"/>
          <p:cNvSpPr txBox="1"/>
          <p:nvPr/>
        </p:nvSpPr>
        <p:spPr>
          <a:xfrm>
            <a:off x="1700784" y="2057400"/>
            <a:ext cx="228600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4D73C9"/>
                </a:solidFill>
                <a:latin typeface="Aptos" pitchFamily="34" charset="0"/>
                <a:ea typeface="Aptos" pitchFamily="34" charset="-122"/>
                <a:cs typeface="Aptos" pitchFamily="34" charset="-120"/>
              </a:rPr>
              <a:t>BỆNH NHÂN</a:t>
            </a:r>
            <a:endParaRPr lang="en-US" sz="1000" dirty="0"/>
          </a:p>
        </p:txBody>
      </p:sp>
      <p:sp>
        <p:nvSpPr>
          <p:cNvPr id="10" name="Text 8"/>
          <p:cNvSpPr txBox="1"/>
          <p:nvPr/>
        </p:nvSpPr>
        <p:spPr>
          <a:xfrm>
            <a:off x="1700784" y="2340864"/>
            <a:ext cx="3566160" cy="457200"/>
          </a:xfrm>
          <a:prstGeom prst="rect">
            <a:avLst/>
          </a:prstGeom>
          <a:noFill/>
          <a:ln/>
        </p:spPr>
        <p:txBody>
          <a:bodyPr wrap="square" lIns="0" tIns="0" rIns="0" bIns="0" rtlCol="0" anchor="ctr">
            <a:normAutofit/>
          </a:bodyPr>
          <a:lstStyle/>
          <a:p>
            <a:pPr algn="l" indent="0" marL="0">
              <a:lnSpc>
                <a:spcPct val="100000"/>
              </a:lnSpc>
              <a:buNone/>
            </a:pPr>
            <a:r>
              <a:rPr lang="en-US" sz="1650" b="1" dirty="0">
                <a:solidFill>
                  <a:srgbClr val="11284C"/>
                </a:solidFill>
                <a:latin typeface="Aptos" pitchFamily="34" charset="0"/>
                <a:ea typeface="Aptos" pitchFamily="34" charset="-122"/>
                <a:cs typeface="Aptos" pitchFamily="34" charset="-120"/>
              </a:rPr>
              <a:t>“Tôi cần biết khi nào nên lo lắng.”</a:t>
            </a:r>
            <a:endParaRPr lang="en-US" sz="1650" dirty="0"/>
          </a:p>
        </p:txBody>
      </p:sp>
      <p:sp>
        <p:nvSpPr>
          <p:cNvPr id="11" name="Shape 9"/>
          <p:cNvSpPr/>
          <p:nvPr/>
        </p:nvSpPr>
        <p:spPr>
          <a:xfrm>
            <a:off x="868680" y="3081528"/>
            <a:ext cx="256032" cy="256032"/>
          </a:xfrm>
          <a:prstGeom prst="ellipse">
            <a:avLst/>
          </a:prstGeom>
          <a:solidFill>
            <a:srgbClr val="4D73C9"/>
          </a:solidFill>
          <a:ln w="12700">
            <a:solidFill>
              <a:srgbClr val="4D73C9"/>
            </a:solidFill>
            <a:prstDash val="solid"/>
          </a:ln>
        </p:spPr>
      </p:sp>
      <p:sp>
        <p:nvSpPr>
          <p:cNvPr id="12" name="Text 10"/>
          <p:cNvSpPr txBox="1"/>
          <p:nvPr/>
        </p:nvSpPr>
        <p:spPr>
          <a:xfrm>
            <a:off x="868680" y="3086100"/>
            <a:ext cx="256032" cy="219456"/>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3" name="Text 11"/>
          <p:cNvSpPr txBox="1"/>
          <p:nvPr/>
        </p:nvSpPr>
        <p:spPr>
          <a:xfrm>
            <a:off x="1280160" y="2990088"/>
            <a:ext cx="4160520" cy="457200"/>
          </a:xfrm>
          <a:prstGeom prst="rect">
            <a:avLst/>
          </a:prstGeom>
          <a:noFill/>
          <a:ln/>
        </p:spPr>
        <p:txBody>
          <a:bodyPr wrap="square" lIns="0" tIns="0" rIns="0" bIns="0" rtlCol="0" anchor="ctr">
            <a:normAutofit/>
          </a:bodyPr>
          <a:lstStyle/>
          <a:p>
            <a:pPr algn="l" indent="0" marL="0">
              <a:lnSpc>
                <a:spcPct val="100000"/>
              </a:lnSpc>
              <a:buNone/>
            </a:pPr>
            <a:r>
              <a:rPr lang="en-US" sz="1170" dirty="0">
                <a:solidFill>
                  <a:srgbClr val="253B5F"/>
                </a:solidFill>
                <a:latin typeface="Aptos" pitchFamily="34" charset="0"/>
                <a:ea typeface="Aptos" pitchFamily="34" charset="-122"/>
                <a:cs typeface="Aptos" pitchFamily="34" charset="-120"/>
              </a:rPr>
              <a:t>Nhập tối đa nhiều đơn thuốc / biệt dược</a:t>
            </a:r>
            <a:endParaRPr lang="en-US" sz="1170" dirty="0"/>
          </a:p>
        </p:txBody>
      </p:sp>
      <p:sp>
        <p:nvSpPr>
          <p:cNvPr id="14" name="Shape 12"/>
          <p:cNvSpPr/>
          <p:nvPr/>
        </p:nvSpPr>
        <p:spPr>
          <a:xfrm>
            <a:off x="868680" y="3767328"/>
            <a:ext cx="256032" cy="256032"/>
          </a:xfrm>
          <a:prstGeom prst="ellipse">
            <a:avLst/>
          </a:prstGeom>
          <a:solidFill>
            <a:srgbClr val="4D73C9"/>
          </a:solidFill>
          <a:ln w="12700">
            <a:solidFill>
              <a:srgbClr val="4D73C9"/>
            </a:solidFill>
            <a:prstDash val="solid"/>
          </a:ln>
        </p:spPr>
      </p:sp>
      <p:sp>
        <p:nvSpPr>
          <p:cNvPr id="15" name="Text 13"/>
          <p:cNvSpPr txBox="1"/>
          <p:nvPr/>
        </p:nvSpPr>
        <p:spPr>
          <a:xfrm>
            <a:off x="868680" y="3771900"/>
            <a:ext cx="256032" cy="219456"/>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16" name="Text 14"/>
          <p:cNvSpPr txBox="1"/>
          <p:nvPr/>
        </p:nvSpPr>
        <p:spPr>
          <a:xfrm>
            <a:off x="1280160" y="3675888"/>
            <a:ext cx="4160520" cy="457200"/>
          </a:xfrm>
          <a:prstGeom prst="rect">
            <a:avLst/>
          </a:prstGeom>
          <a:noFill/>
          <a:ln/>
        </p:spPr>
        <p:txBody>
          <a:bodyPr wrap="square" lIns="0" tIns="0" rIns="0" bIns="0" rtlCol="0" anchor="ctr">
            <a:normAutofit/>
          </a:bodyPr>
          <a:lstStyle/>
          <a:p>
            <a:pPr algn="l" indent="0" marL="0">
              <a:lnSpc>
                <a:spcPct val="100000"/>
              </a:lnSpc>
              <a:buNone/>
            </a:pPr>
            <a:r>
              <a:rPr lang="en-US" sz="1170" dirty="0">
                <a:solidFill>
                  <a:srgbClr val="253B5F"/>
                </a:solidFill>
                <a:latin typeface="Aptos" pitchFamily="34" charset="0"/>
                <a:ea typeface="Aptos" pitchFamily="34" charset="-122"/>
                <a:cs typeface="Aptos" pitchFamily="34" charset="-120"/>
              </a:rPr>
              <a:t>Xem đồ thị tương tác và mức độ ưu tiên</a:t>
            </a:r>
            <a:endParaRPr lang="en-US" sz="1170" dirty="0"/>
          </a:p>
        </p:txBody>
      </p:sp>
      <p:sp>
        <p:nvSpPr>
          <p:cNvPr id="17" name="Shape 15"/>
          <p:cNvSpPr/>
          <p:nvPr/>
        </p:nvSpPr>
        <p:spPr>
          <a:xfrm>
            <a:off x="868680" y="4453128"/>
            <a:ext cx="256032" cy="256032"/>
          </a:xfrm>
          <a:prstGeom prst="ellipse">
            <a:avLst/>
          </a:prstGeom>
          <a:solidFill>
            <a:srgbClr val="4D73C9"/>
          </a:solidFill>
          <a:ln w="12700">
            <a:solidFill>
              <a:srgbClr val="4D73C9"/>
            </a:solidFill>
            <a:prstDash val="solid"/>
          </a:ln>
        </p:spPr>
      </p:sp>
      <p:sp>
        <p:nvSpPr>
          <p:cNvPr id="18" name="Text 16"/>
          <p:cNvSpPr txBox="1"/>
          <p:nvPr/>
        </p:nvSpPr>
        <p:spPr>
          <a:xfrm>
            <a:off x="868680" y="4457700"/>
            <a:ext cx="256032" cy="219456"/>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19" name="Text 17"/>
          <p:cNvSpPr txBox="1"/>
          <p:nvPr/>
        </p:nvSpPr>
        <p:spPr>
          <a:xfrm>
            <a:off x="1280160" y="4361688"/>
            <a:ext cx="4160520" cy="457200"/>
          </a:xfrm>
          <a:prstGeom prst="rect">
            <a:avLst/>
          </a:prstGeom>
          <a:noFill/>
          <a:ln/>
        </p:spPr>
        <p:txBody>
          <a:bodyPr wrap="square" lIns="0" tIns="0" rIns="0" bIns="0" rtlCol="0" anchor="ctr">
            <a:normAutofit/>
          </a:bodyPr>
          <a:lstStyle/>
          <a:p>
            <a:pPr algn="l" indent="0" marL="0">
              <a:lnSpc>
                <a:spcPct val="100000"/>
              </a:lnSpc>
              <a:buNone/>
            </a:pPr>
            <a:r>
              <a:rPr lang="en-US" sz="1170" dirty="0">
                <a:solidFill>
                  <a:srgbClr val="253B5F"/>
                </a:solidFill>
                <a:latin typeface="Aptos" pitchFamily="34" charset="0"/>
                <a:ea typeface="Aptos" pitchFamily="34" charset="-122"/>
                <a:cs typeface="Aptos" pitchFamily="34" charset="-120"/>
              </a:rPr>
              <a:t>Lưu lịch sử và nhận trạng thái dược sĩ xác nhận</a:t>
            </a:r>
            <a:endParaRPr lang="en-US" sz="1170" dirty="0"/>
          </a:p>
        </p:txBody>
      </p:sp>
      <p:sp>
        <p:nvSpPr>
          <p:cNvPr id="20" name="Shape 18"/>
          <p:cNvSpPr/>
          <p:nvPr/>
        </p:nvSpPr>
        <p:spPr>
          <a:xfrm>
            <a:off x="841248" y="5266944"/>
            <a:ext cx="1207008" cy="310896"/>
          </a:xfrm>
          <a:prstGeom prst="roundRect">
            <a:avLst>
              <a:gd name="adj" fmla="val 50000"/>
            </a:avLst>
          </a:prstGeom>
          <a:solidFill>
            <a:srgbClr val="E1F5EF"/>
          </a:solidFill>
          <a:ln w="12700">
            <a:solidFill>
              <a:srgbClr val="E1F5EF"/>
            </a:solidFill>
            <a:prstDash val="solid"/>
          </a:ln>
        </p:spPr>
      </p:sp>
      <p:sp>
        <p:nvSpPr>
          <p:cNvPr id="21" name="Text 19"/>
          <p:cNvSpPr txBox="1"/>
          <p:nvPr/>
        </p:nvSpPr>
        <p:spPr>
          <a:xfrm>
            <a:off x="932688" y="5276088"/>
            <a:ext cx="1024128" cy="27432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2C9A83"/>
                </a:solidFill>
                <a:latin typeface="Aptos" pitchFamily="34" charset="0"/>
                <a:ea typeface="Aptos" pitchFamily="34" charset="-122"/>
                <a:cs typeface="Aptos" pitchFamily="34" charset="-120"/>
              </a:rPr>
              <a:t>Yên tâm hơn</a:t>
            </a:r>
            <a:endParaRPr lang="en-US" sz="900" dirty="0"/>
          </a:p>
        </p:txBody>
      </p:sp>
      <p:sp>
        <p:nvSpPr>
          <p:cNvPr id="22" name="Shape 20"/>
          <p:cNvSpPr/>
          <p:nvPr/>
        </p:nvSpPr>
        <p:spPr>
          <a:xfrm>
            <a:off x="2185416" y="5266944"/>
            <a:ext cx="1307592" cy="310896"/>
          </a:xfrm>
          <a:prstGeom prst="roundRect">
            <a:avLst>
              <a:gd name="adj" fmla="val 50000"/>
            </a:avLst>
          </a:prstGeom>
          <a:solidFill>
            <a:srgbClr val="E9F0FF"/>
          </a:solidFill>
          <a:ln w="12700">
            <a:solidFill>
              <a:srgbClr val="E9F0FF"/>
            </a:solidFill>
            <a:prstDash val="solid"/>
          </a:ln>
        </p:spPr>
      </p:sp>
      <p:sp>
        <p:nvSpPr>
          <p:cNvPr id="23" name="Text 21"/>
          <p:cNvSpPr txBox="1"/>
          <p:nvPr/>
        </p:nvSpPr>
        <p:spPr>
          <a:xfrm>
            <a:off x="2276856" y="5276088"/>
            <a:ext cx="1124712" cy="27432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4D73C9"/>
                </a:solidFill>
                <a:latin typeface="Aptos" pitchFamily="34" charset="0"/>
                <a:ea typeface="Aptos" pitchFamily="34" charset="-122"/>
                <a:cs typeface="Aptos" pitchFamily="34" charset="-120"/>
              </a:rPr>
              <a:t>Chủ động hơn</a:t>
            </a:r>
            <a:endParaRPr lang="en-US" sz="900" dirty="0"/>
          </a:p>
        </p:txBody>
      </p:sp>
      <p:sp>
        <p:nvSpPr>
          <p:cNvPr id="24" name="Shape 22"/>
          <p:cNvSpPr/>
          <p:nvPr/>
        </p:nvSpPr>
        <p:spPr>
          <a:xfrm>
            <a:off x="3639312" y="5266944"/>
            <a:ext cx="1115568" cy="310896"/>
          </a:xfrm>
          <a:prstGeom prst="roundRect">
            <a:avLst>
              <a:gd name="adj" fmla="val 50000"/>
            </a:avLst>
          </a:prstGeom>
          <a:solidFill>
            <a:srgbClr val="F0E8FB"/>
          </a:solidFill>
          <a:ln w="12700">
            <a:solidFill>
              <a:srgbClr val="F0E8FB"/>
            </a:solidFill>
            <a:prstDash val="solid"/>
          </a:ln>
        </p:spPr>
      </p:sp>
      <p:sp>
        <p:nvSpPr>
          <p:cNvPr id="25" name="Text 23"/>
          <p:cNvSpPr txBox="1"/>
          <p:nvPr/>
        </p:nvSpPr>
        <p:spPr>
          <a:xfrm>
            <a:off x="3730752" y="5276088"/>
            <a:ext cx="932688" cy="27432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8156BF"/>
                </a:solidFill>
                <a:latin typeface="Aptos" pitchFamily="34" charset="0"/>
                <a:ea typeface="Aptos" pitchFamily="34" charset="-122"/>
                <a:cs typeface="Aptos" pitchFamily="34" charset="-120"/>
              </a:rPr>
              <a:t>Có lịch sử</a:t>
            </a:r>
            <a:endParaRPr lang="en-US" sz="900" dirty="0"/>
          </a:p>
        </p:txBody>
      </p:sp>
      <p:sp>
        <p:nvSpPr>
          <p:cNvPr id="26" name="Shape 24"/>
          <p:cNvSpPr/>
          <p:nvPr/>
        </p:nvSpPr>
        <p:spPr>
          <a:xfrm>
            <a:off x="6574536" y="2057400"/>
            <a:ext cx="713232" cy="713232"/>
          </a:xfrm>
          <a:prstGeom prst="ellipse">
            <a:avLst/>
          </a:prstGeom>
          <a:solidFill>
            <a:srgbClr val="E1F5EF"/>
          </a:solidFill>
          <a:ln w="12700">
            <a:solidFill>
              <a:srgbClr val="E1F5EF"/>
            </a:solidFill>
            <a:prstDash val="solid"/>
          </a:ln>
        </p:spPr>
      </p:sp>
      <p:sp>
        <p:nvSpPr>
          <p:cNvPr id="27" name="Text 25"/>
          <p:cNvSpPr txBox="1"/>
          <p:nvPr/>
        </p:nvSpPr>
        <p:spPr>
          <a:xfrm>
            <a:off x="6574536" y="2103120"/>
            <a:ext cx="713232" cy="475488"/>
          </a:xfrm>
          <a:prstGeom prst="rect">
            <a:avLst/>
          </a:prstGeom>
          <a:noFill/>
          <a:ln/>
        </p:spPr>
        <p:txBody>
          <a:bodyPr wrap="square" lIns="0" tIns="0" rIns="0" bIns="0" rtlCol="0" anchor="ctr">
            <a:normAutofit/>
          </a:bodyPr>
          <a:lstStyle/>
          <a:p>
            <a:pPr algn="ctr" indent="0" marL="0">
              <a:lnSpc>
                <a:spcPct val="100000"/>
              </a:lnSpc>
              <a:buNone/>
            </a:pPr>
            <a:r>
              <a:rPr lang="en-US" sz="1500" b="1" dirty="0">
                <a:solidFill>
                  <a:srgbClr val="2C9A83"/>
                </a:solidFill>
                <a:latin typeface="Aptos" pitchFamily="34" charset="0"/>
                <a:ea typeface="Aptos" pitchFamily="34" charset="-122"/>
                <a:cs typeface="Aptos" pitchFamily="34" charset="-120"/>
              </a:rPr>
              <a:t>DS</a:t>
            </a:r>
            <a:endParaRPr lang="en-US" sz="1500" dirty="0"/>
          </a:p>
        </p:txBody>
      </p:sp>
      <p:sp>
        <p:nvSpPr>
          <p:cNvPr id="28" name="Text 26"/>
          <p:cNvSpPr txBox="1"/>
          <p:nvPr/>
        </p:nvSpPr>
        <p:spPr>
          <a:xfrm>
            <a:off x="7452360" y="2057400"/>
            <a:ext cx="2286000" cy="228600"/>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2C9A83"/>
                </a:solidFill>
                <a:latin typeface="Aptos" pitchFamily="34" charset="0"/>
                <a:ea typeface="Aptos" pitchFamily="34" charset="-122"/>
                <a:cs typeface="Aptos" pitchFamily="34" charset="-120"/>
              </a:rPr>
              <a:t>DƯỢC SĨ</a:t>
            </a:r>
            <a:endParaRPr lang="en-US" sz="1000" dirty="0"/>
          </a:p>
        </p:txBody>
      </p:sp>
      <p:sp>
        <p:nvSpPr>
          <p:cNvPr id="29" name="Text 27"/>
          <p:cNvSpPr txBox="1"/>
          <p:nvPr/>
        </p:nvSpPr>
        <p:spPr>
          <a:xfrm>
            <a:off x="7452360" y="2340864"/>
            <a:ext cx="3657600" cy="457200"/>
          </a:xfrm>
          <a:prstGeom prst="rect">
            <a:avLst/>
          </a:prstGeom>
          <a:noFill/>
          <a:ln/>
        </p:spPr>
        <p:txBody>
          <a:bodyPr wrap="square" lIns="0" tIns="0" rIns="0" bIns="0" rtlCol="0" anchor="ctr">
            <a:normAutofit/>
          </a:bodyPr>
          <a:lstStyle/>
          <a:p>
            <a:pPr algn="l" indent="0" marL="0">
              <a:lnSpc>
                <a:spcPct val="100000"/>
              </a:lnSpc>
              <a:buNone/>
            </a:pPr>
            <a:r>
              <a:rPr lang="en-US" sz="1650" b="1" dirty="0">
                <a:solidFill>
                  <a:srgbClr val="11284C"/>
                </a:solidFill>
                <a:latin typeface="Aptos" pitchFamily="34" charset="0"/>
                <a:ea typeface="Aptos" pitchFamily="34" charset="-122"/>
                <a:cs typeface="Aptos" pitchFamily="34" charset="-120"/>
              </a:rPr>
              <a:t>“Tôi cần ưu tiên đúng ca cần xử lý.”</a:t>
            </a:r>
            <a:endParaRPr lang="en-US" sz="1650" dirty="0"/>
          </a:p>
        </p:txBody>
      </p:sp>
      <p:sp>
        <p:nvSpPr>
          <p:cNvPr id="30" name="Shape 28"/>
          <p:cNvSpPr/>
          <p:nvPr/>
        </p:nvSpPr>
        <p:spPr>
          <a:xfrm>
            <a:off x="6620256" y="3081528"/>
            <a:ext cx="256032" cy="256032"/>
          </a:xfrm>
          <a:prstGeom prst="ellipse">
            <a:avLst/>
          </a:prstGeom>
          <a:solidFill>
            <a:srgbClr val="2C9A83"/>
          </a:solidFill>
          <a:ln w="12700">
            <a:solidFill>
              <a:srgbClr val="2C9A83"/>
            </a:solidFill>
            <a:prstDash val="solid"/>
          </a:ln>
        </p:spPr>
      </p:sp>
      <p:sp>
        <p:nvSpPr>
          <p:cNvPr id="31" name="Text 29"/>
          <p:cNvSpPr txBox="1"/>
          <p:nvPr/>
        </p:nvSpPr>
        <p:spPr>
          <a:xfrm>
            <a:off x="6620256" y="3086100"/>
            <a:ext cx="256032" cy="219456"/>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32" name="Text 30"/>
          <p:cNvSpPr txBox="1"/>
          <p:nvPr/>
        </p:nvSpPr>
        <p:spPr>
          <a:xfrm>
            <a:off x="7031736" y="2990088"/>
            <a:ext cx="4160520" cy="457200"/>
          </a:xfrm>
          <a:prstGeom prst="rect">
            <a:avLst/>
          </a:prstGeom>
          <a:noFill/>
          <a:ln/>
        </p:spPr>
        <p:txBody>
          <a:bodyPr wrap="square" lIns="0" tIns="0" rIns="0" bIns="0" rtlCol="0" anchor="ctr">
            <a:normAutofit/>
          </a:bodyPr>
          <a:lstStyle/>
          <a:p>
            <a:pPr algn="l" indent="0" marL="0">
              <a:lnSpc>
                <a:spcPct val="100000"/>
              </a:lnSpc>
              <a:buNone/>
            </a:pPr>
            <a:r>
              <a:rPr lang="en-US" sz="1170" dirty="0">
                <a:solidFill>
                  <a:srgbClr val="253B5F"/>
                </a:solidFill>
                <a:latin typeface="Aptos" pitchFamily="34" charset="0"/>
                <a:ea typeface="Aptos" pitchFamily="34" charset="-122"/>
                <a:cs typeface="Aptos" pitchFamily="34" charset="-120"/>
              </a:rPr>
              <a:t>Dashboard gom yêu cầu theo mức độ khẩn</a:t>
            </a:r>
            <a:endParaRPr lang="en-US" sz="1170" dirty="0"/>
          </a:p>
        </p:txBody>
      </p:sp>
      <p:sp>
        <p:nvSpPr>
          <p:cNvPr id="33" name="Shape 31"/>
          <p:cNvSpPr/>
          <p:nvPr/>
        </p:nvSpPr>
        <p:spPr>
          <a:xfrm>
            <a:off x="6620256" y="3767328"/>
            <a:ext cx="256032" cy="256032"/>
          </a:xfrm>
          <a:prstGeom prst="ellipse">
            <a:avLst/>
          </a:prstGeom>
          <a:solidFill>
            <a:srgbClr val="2C9A83"/>
          </a:solidFill>
          <a:ln w="12700">
            <a:solidFill>
              <a:srgbClr val="2C9A83"/>
            </a:solidFill>
            <a:prstDash val="solid"/>
          </a:ln>
        </p:spPr>
      </p:sp>
      <p:sp>
        <p:nvSpPr>
          <p:cNvPr id="34" name="Text 32"/>
          <p:cNvSpPr txBox="1"/>
          <p:nvPr/>
        </p:nvSpPr>
        <p:spPr>
          <a:xfrm>
            <a:off x="6620256" y="3771900"/>
            <a:ext cx="256032" cy="219456"/>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35" name="Text 33"/>
          <p:cNvSpPr txBox="1"/>
          <p:nvPr/>
        </p:nvSpPr>
        <p:spPr>
          <a:xfrm>
            <a:off x="7031736" y="3675888"/>
            <a:ext cx="4160520" cy="457200"/>
          </a:xfrm>
          <a:prstGeom prst="rect">
            <a:avLst/>
          </a:prstGeom>
          <a:noFill/>
          <a:ln/>
        </p:spPr>
        <p:txBody>
          <a:bodyPr wrap="square" lIns="0" tIns="0" rIns="0" bIns="0" rtlCol="0" anchor="ctr">
            <a:normAutofit/>
          </a:bodyPr>
          <a:lstStyle/>
          <a:p>
            <a:pPr algn="l" indent="0" marL="0">
              <a:lnSpc>
                <a:spcPct val="100000"/>
              </a:lnSpc>
              <a:buNone/>
            </a:pPr>
            <a:r>
              <a:rPr lang="en-US" sz="1170" dirty="0">
                <a:solidFill>
                  <a:srgbClr val="253B5F"/>
                </a:solidFill>
                <a:latin typeface="Aptos" pitchFamily="34" charset="0"/>
                <a:ea typeface="Aptos" pitchFamily="34" charset="-122"/>
                <a:cs typeface="Aptos" pitchFamily="34" charset="-120"/>
              </a:rPr>
              <a:t>Xem chi tiết chuyên môn và nguồn dữ liệu</a:t>
            </a:r>
            <a:endParaRPr lang="en-US" sz="1170" dirty="0"/>
          </a:p>
        </p:txBody>
      </p:sp>
      <p:sp>
        <p:nvSpPr>
          <p:cNvPr id="36" name="Shape 34"/>
          <p:cNvSpPr/>
          <p:nvPr/>
        </p:nvSpPr>
        <p:spPr>
          <a:xfrm>
            <a:off x="6620256" y="4453128"/>
            <a:ext cx="256032" cy="256032"/>
          </a:xfrm>
          <a:prstGeom prst="ellipse">
            <a:avLst/>
          </a:prstGeom>
          <a:solidFill>
            <a:srgbClr val="2C9A83"/>
          </a:solidFill>
          <a:ln w="12700">
            <a:solidFill>
              <a:srgbClr val="2C9A83"/>
            </a:solidFill>
            <a:prstDash val="solid"/>
          </a:ln>
        </p:spPr>
      </p:sp>
      <p:sp>
        <p:nvSpPr>
          <p:cNvPr id="37" name="Text 35"/>
          <p:cNvSpPr txBox="1"/>
          <p:nvPr/>
        </p:nvSpPr>
        <p:spPr>
          <a:xfrm>
            <a:off x="6620256" y="4457700"/>
            <a:ext cx="256032" cy="219456"/>
          </a:xfrm>
          <a:prstGeom prst="rect">
            <a:avLst/>
          </a:prstGeom>
          <a:noFill/>
          <a:ln/>
        </p:spPr>
        <p:txBody>
          <a:bodyPr wrap="square" lIns="0" tIns="0" rIns="0" bIns="0" rtlCol="0" anchor="ctr">
            <a:normAutofit/>
          </a:bodyPr>
          <a:lstStyle/>
          <a:p>
            <a:pPr algn="ctr" indent="0" marL="0">
              <a:lnSpc>
                <a:spcPct val="100000"/>
              </a:lnSpc>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38" name="Text 36"/>
          <p:cNvSpPr txBox="1"/>
          <p:nvPr/>
        </p:nvSpPr>
        <p:spPr>
          <a:xfrm>
            <a:off x="7031736" y="4361688"/>
            <a:ext cx="4160520" cy="457200"/>
          </a:xfrm>
          <a:prstGeom prst="rect">
            <a:avLst/>
          </a:prstGeom>
          <a:noFill/>
          <a:ln/>
        </p:spPr>
        <p:txBody>
          <a:bodyPr wrap="square" lIns="0" tIns="0" rIns="0" bIns="0" rtlCol="0" anchor="ctr">
            <a:normAutofit/>
          </a:bodyPr>
          <a:lstStyle/>
          <a:p>
            <a:pPr algn="l" indent="0" marL="0">
              <a:lnSpc>
                <a:spcPct val="100000"/>
              </a:lnSpc>
              <a:buNone/>
            </a:pPr>
            <a:r>
              <a:rPr lang="en-US" sz="1170" dirty="0">
                <a:solidFill>
                  <a:srgbClr val="253B5F"/>
                </a:solidFill>
                <a:latin typeface="Aptos" pitchFamily="34" charset="0"/>
                <a:ea typeface="Aptos" pitchFamily="34" charset="-122"/>
                <a:cs typeface="Aptos" pitchFamily="34" charset="-120"/>
              </a:rPr>
              <a:t>Xác nhận, ghi chú và phản hồi về bệnh nhân</a:t>
            </a:r>
            <a:endParaRPr lang="en-US" sz="1170" dirty="0"/>
          </a:p>
        </p:txBody>
      </p:sp>
      <p:sp>
        <p:nvSpPr>
          <p:cNvPr id="39" name="Shape 37"/>
          <p:cNvSpPr/>
          <p:nvPr/>
        </p:nvSpPr>
        <p:spPr>
          <a:xfrm>
            <a:off x="6592824" y="5266944"/>
            <a:ext cx="1298448" cy="310896"/>
          </a:xfrm>
          <a:prstGeom prst="roundRect">
            <a:avLst>
              <a:gd name="adj" fmla="val 50000"/>
            </a:avLst>
          </a:prstGeom>
          <a:solidFill>
            <a:srgbClr val="FFE5E2"/>
          </a:solidFill>
          <a:ln w="12700">
            <a:solidFill>
              <a:srgbClr val="FFE5E2"/>
            </a:solidFill>
            <a:prstDash val="solid"/>
          </a:ln>
        </p:spPr>
      </p:sp>
      <p:sp>
        <p:nvSpPr>
          <p:cNvPr id="40" name="Text 38"/>
          <p:cNvSpPr txBox="1"/>
          <p:nvPr/>
        </p:nvSpPr>
        <p:spPr>
          <a:xfrm>
            <a:off x="6684264" y="5276088"/>
            <a:ext cx="1115568" cy="27432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D54B4B"/>
                </a:solidFill>
                <a:latin typeface="Aptos" pitchFamily="34" charset="0"/>
                <a:ea typeface="Aptos" pitchFamily="34" charset="-122"/>
                <a:cs typeface="Aptos" pitchFamily="34" charset="-120"/>
              </a:rPr>
              <a:t>Ưu tiên nhanh</a:t>
            </a:r>
            <a:endParaRPr lang="en-US" sz="900" dirty="0"/>
          </a:p>
        </p:txBody>
      </p:sp>
      <p:sp>
        <p:nvSpPr>
          <p:cNvPr id="41" name="Shape 39"/>
          <p:cNvSpPr/>
          <p:nvPr/>
        </p:nvSpPr>
        <p:spPr>
          <a:xfrm>
            <a:off x="8028432" y="5266944"/>
            <a:ext cx="1097280" cy="310896"/>
          </a:xfrm>
          <a:prstGeom prst="roundRect">
            <a:avLst>
              <a:gd name="adj" fmla="val 50000"/>
            </a:avLst>
          </a:prstGeom>
          <a:solidFill>
            <a:srgbClr val="E9F0FF"/>
          </a:solidFill>
          <a:ln w="12700">
            <a:solidFill>
              <a:srgbClr val="E9F0FF"/>
            </a:solidFill>
            <a:prstDash val="solid"/>
          </a:ln>
        </p:spPr>
      </p:sp>
      <p:sp>
        <p:nvSpPr>
          <p:cNvPr id="42" name="Text 40"/>
          <p:cNvSpPr txBox="1"/>
          <p:nvPr/>
        </p:nvSpPr>
        <p:spPr>
          <a:xfrm>
            <a:off x="8119872" y="5276088"/>
            <a:ext cx="914400" cy="27432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4D73C9"/>
                </a:solidFill>
                <a:latin typeface="Aptos" pitchFamily="34" charset="0"/>
                <a:ea typeface="Aptos" pitchFamily="34" charset="-122"/>
                <a:cs typeface="Aptos" pitchFamily="34" charset="-120"/>
              </a:rPr>
              <a:t>Có nguồn</a:t>
            </a:r>
            <a:endParaRPr lang="en-US" sz="900" dirty="0"/>
          </a:p>
        </p:txBody>
      </p:sp>
      <p:sp>
        <p:nvSpPr>
          <p:cNvPr id="43" name="Shape 41"/>
          <p:cNvSpPr/>
          <p:nvPr/>
        </p:nvSpPr>
        <p:spPr>
          <a:xfrm>
            <a:off x="9262872" y="5266944"/>
            <a:ext cx="1353312" cy="310896"/>
          </a:xfrm>
          <a:prstGeom prst="roundRect">
            <a:avLst>
              <a:gd name="adj" fmla="val 50000"/>
            </a:avLst>
          </a:prstGeom>
          <a:solidFill>
            <a:srgbClr val="E1F5EF"/>
          </a:solidFill>
          <a:ln w="12700">
            <a:solidFill>
              <a:srgbClr val="E1F5EF"/>
            </a:solidFill>
            <a:prstDash val="solid"/>
          </a:ln>
        </p:spPr>
      </p:sp>
      <p:sp>
        <p:nvSpPr>
          <p:cNvPr id="44" name="Text 42"/>
          <p:cNvSpPr txBox="1"/>
          <p:nvPr/>
        </p:nvSpPr>
        <p:spPr>
          <a:xfrm>
            <a:off x="9354312" y="5276088"/>
            <a:ext cx="1170432" cy="27432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2C9A83"/>
                </a:solidFill>
                <a:latin typeface="Aptos" pitchFamily="34" charset="0"/>
                <a:ea typeface="Aptos" pitchFamily="34" charset="-122"/>
                <a:cs typeface="Aptos" pitchFamily="34" charset="-120"/>
              </a:rPr>
              <a:t>Có trách nhiệm</a:t>
            </a:r>
            <a:endParaRPr lang="en-US" sz="900" dirty="0"/>
          </a:p>
        </p:txBody>
      </p:sp>
      <p:sp>
        <p:nvSpPr>
          <p:cNvPr id="45" name="Shape 43"/>
          <p:cNvSpPr/>
          <p:nvPr/>
        </p:nvSpPr>
        <p:spPr>
          <a:xfrm>
            <a:off x="5815584" y="3858768"/>
            <a:ext cx="438912" cy="0"/>
          </a:xfrm>
          <a:prstGeom prst="line">
            <a:avLst/>
          </a:prstGeom>
          <a:noFill/>
          <a:ln w="27940">
            <a:solidFill>
              <a:srgbClr val="4D73C9"/>
            </a:solidFill>
            <a:prstDash val="solid"/>
            <a:headEnd type="none"/>
            <a:tailEnd type="triangle"/>
          </a:ln>
        </p:spPr>
      </p:sp>
      <p:sp>
        <p:nvSpPr>
          <p:cNvPr id="46" name="Shape 44"/>
          <p:cNvSpPr/>
          <p:nvPr/>
        </p:nvSpPr>
        <p:spPr>
          <a:xfrm>
            <a:off x="5815584" y="4133088"/>
            <a:ext cx="438912" cy="0"/>
          </a:xfrm>
          <a:prstGeom prst="line">
            <a:avLst/>
          </a:prstGeom>
          <a:noFill/>
          <a:ln w="27940">
            <a:solidFill>
              <a:srgbClr val="2C9A83"/>
            </a:solidFill>
            <a:prstDash val="solid"/>
            <a:headEnd type="triangle"/>
            <a:tailEnd type="none"/>
          </a:ln>
        </p:spPr>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30352" y="310896"/>
            <a:ext cx="4754880" cy="256032"/>
          </a:xfrm>
          <a:prstGeom prst="rect">
            <a:avLst/>
          </a:prstGeom>
          <a:noFill/>
          <a:ln/>
        </p:spPr>
        <p:txBody>
          <a:bodyPr wrap="square" lIns="0" tIns="0" rIns="0" bIns="0" rtlCol="0" anchor="ctr">
            <a:normAutofit/>
          </a:bodyPr>
          <a:lstStyle/>
          <a:p>
            <a:pPr algn="l" indent="0" marL="0">
              <a:lnSpc>
                <a:spcPct val="100000"/>
              </a:lnSpc>
              <a:buNone/>
            </a:pPr>
            <a:r>
              <a:rPr lang="en-US" sz="1000" b="1" spc="180" kern="0" dirty="0">
                <a:solidFill>
                  <a:srgbClr val="4D73C9"/>
                </a:solidFill>
                <a:latin typeface="Aptos" pitchFamily="34" charset="0"/>
                <a:ea typeface="Aptos" pitchFamily="34" charset="-122"/>
                <a:cs typeface="Aptos" pitchFamily="34" charset="-120"/>
              </a:rPr>
              <a:t>04 / TRẢI NGHIỆM SẢN PHẨM</a:t>
            </a:r>
            <a:endParaRPr lang="en-US" sz="1000" dirty="0"/>
          </a:p>
        </p:txBody>
      </p:sp>
      <p:sp>
        <p:nvSpPr>
          <p:cNvPr id="3" name="Text 1"/>
          <p:cNvSpPr txBox="1"/>
          <p:nvPr/>
        </p:nvSpPr>
        <p:spPr>
          <a:xfrm>
            <a:off x="530352" y="658368"/>
            <a:ext cx="11064240" cy="530352"/>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1284C"/>
                </a:solidFill>
                <a:latin typeface="Aptos" pitchFamily="34" charset="0"/>
                <a:ea typeface="Aptos" pitchFamily="34" charset="-122"/>
                <a:cs typeface="Aptos" pitchFamily="34" charset="-120"/>
              </a:rPr>
              <a:t>Tra cứu ngay từ landing page — không tạo rào cản ban đầu</a:t>
            </a:r>
            <a:endParaRPr lang="en-US" sz="2700" dirty="0"/>
          </a:p>
        </p:txBody>
      </p:sp>
      <p:sp>
        <p:nvSpPr>
          <p:cNvPr id="4" name="Text 2"/>
          <p:cNvSpPr txBox="1"/>
          <p:nvPr/>
        </p:nvSpPr>
        <p:spPr>
          <a:xfrm>
            <a:off x="530352" y="1197864"/>
            <a:ext cx="10972800" cy="384048"/>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667792"/>
                </a:solidFill>
                <a:latin typeface="Aptos" pitchFamily="34" charset="0"/>
                <a:ea typeface="Aptos" pitchFamily="34" charset="-122"/>
                <a:cs typeface="Aptos" pitchFamily="34" charset="-120"/>
              </a:rPr>
              <a:t>Người dùng thử nhanh với tối đa 3 thuốc; đăng nhập khi cần lưu lịch sử hoặc kiểm tra chuyên sâu hơn.</a:t>
            </a:r>
            <a:endParaRPr lang="en-US" sz="1250" dirty="0"/>
          </a:p>
        </p:txBody>
      </p:sp>
      <p:sp>
        <p:nvSpPr>
          <p:cNvPr id="5" name="Shape 3"/>
          <p:cNvSpPr/>
          <p:nvPr/>
        </p:nvSpPr>
        <p:spPr>
          <a:xfrm>
            <a:off x="493776" y="1664208"/>
            <a:ext cx="11201400" cy="4626864"/>
          </a:xfrm>
          <a:prstGeom prst="roundRect">
            <a:avLst>
              <a:gd name="adj" fmla="val 3162"/>
            </a:avLst>
          </a:prstGeom>
          <a:solidFill>
            <a:srgbClr val="FFFFFF"/>
          </a:solidFill>
          <a:ln w="12700">
            <a:solidFill>
              <a:srgbClr val="CBD8ED"/>
            </a:solidFill>
            <a:prstDash val="solid"/>
          </a:ln>
        </p:spPr>
      </p:sp>
      <p:pic>
        <p:nvPicPr>
          <p:cNvPr id="6" name="Image 0" descr="C:\Users\Quan\Documents\AIthucchien\Projects\P-005\docs\screenshots\landing-page.png">    </p:cNvPr>
          <p:cNvPicPr>
            <a:picLocks noChangeAspect="1"/>
          </p:cNvPicPr>
          <p:nvPr/>
        </p:nvPicPr>
        <p:blipFill>
          <a:blip r:embed="rId1"/>
          <a:stretch>
            <a:fillRect/>
          </a:stretch>
        </p:blipFill>
        <p:spPr>
          <a:xfrm>
            <a:off x="1113198" y="1700784"/>
            <a:ext cx="9962557" cy="4553712"/>
          </a:xfrm>
          <a:prstGeom prst="rect">
            <a:avLst/>
          </a:prstGeom>
        </p:spPr>
      </p:pic>
      <p:sp>
        <p:nvSpPr>
          <p:cNvPr id="7" name="Shape 4"/>
          <p:cNvSpPr/>
          <p:nvPr/>
        </p:nvSpPr>
        <p:spPr>
          <a:xfrm>
            <a:off x="987552" y="2212848"/>
            <a:ext cx="384048" cy="384048"/>
          </a:xfrm>
          <a:prstGeom prst="ellipse">
            <a:avLst/>
          </a:prstGeom>
          <a:solidFill>
            <a:srgbClr val="4D73C9"/>
          </a:solidFill>
          <a:ln w="12700">
            <a:solidFill>
              <a:srgbClr val="4D73C9"/>
            </a:solidFill>
            <a:prstDash val="solid"/>
          </a:ln>
        </p:spPr>
      </p:sp>
      <p:sp>
        <p:nvSpPr>
          <p:cNvPr id="8" name="Text 5"/>
          <p:cNvSpPr txBox="1"/>
          <p:nvPr/>
        </p:nvSpPr>
        <p:spPr>
          <a:xfrm>
            <a:off x="987552" y="2231136"/>
            <a:ext cx="384048" cy="310896"/>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9" name="Shape 6"/>
          <p:cNvSpPr/>
          <p:nvPr/>
        </p:nvSpPr>
        <p:spPr>
          <a:xfrm>
            <a:off x="1426464" y="2194560"/>
            <a:ext cx="2148840" cy="420624"/>
          </a:xfrm>
          <a:prstGeom prst="roundRect">
            <a:avLst>
              <a:gd name="adj" fmla="val 28261"/>
            </a:avLst>
          </a:prstGeom>
          <a:solidFill>
            <a:srgbClr val="11284C"/>
          </a:solidFill>
          <a:ln w="12700">
            <a:solidFill>
              <a:srgbClr val="11284C"/>
            </a:solidFill>
            <a:prstDash val="solid"/>
          </a:ln>
        </p:spPr>
      </p:sp>
      <p:sp>
        <p:nvSpPr>
          <p:cNvPr id="10" name="Text 7"/>
          <p:cNvSpPr txBox="1"/>
          <p:nvPr/>
        </p:nvSpPr>
        <p:spPr>
          <a:xfrm>
            <a:off x="1536192" y="2226564"/>
            <a:ext cx="1938528" cy="310896"/>
          </a:xfrm>
          <a:prstGeom prst="rect">
            <a:avLst/>
          </a:prstGeom>
          <a:noFill/>
          <a:ln/>
        </p:spPr>
        <p:txBody>
          <a:bodyPr wrap="square" lIns="0" tIns="0" rIns="0" bIns="0" rtlCol="0" anchor="ctr">
            <a:normAutofit/>
          </a:bodyPr>
          <a:lstStyle/>
          <a:p>
            <a:pPr algn="ctr" indent="0" marL="0">
              <a:lnSpc>
                <a:spcPct val="100000"/>
              </a:lnSpc>
              <a:buNone/>
            </a:pPr>
            <a:r>
              <a:rPr lang="en-US" sz="880" b="1" dirty="0">
                <a:solidFill>
                  <a:srgbClr val="FFFFFF"/>
                </a:solidFill>
                <a:latin typeface="Aptos" pitchFamily="34" charset="0"/>
                <a:ea typeface="Aptos" pitchFamily="34" charset="-122"/>
                <a:cs typeface="Aptos" pitchFamily="34" charset="-120"/>
              </a:rPr>
              <a:t>Thông điệp rõ: tra cứu và an toàn</a:t>
            </a:r>
            <a:endParaRPr lang="en-US" sz="880" dirty="0"/>
          </a:p>
        </p:txBody>
      </p:sp>
      <p:sp>
        <p:nvSpPr>
          <p:cNvPr id="11" name="Shape 8"/>
          <p:cNvSpPr/>
          <p:nvPr/>
        </p:nvSpPr>
        <p:spPr>
          <a:xfrm>
            <a:off x="1847088" y="4709160"/>
            <a:ext cx="384048" cy="384048"/>
          </a:xfrm>
          <a:prstGeom prst="ellipse">
            <a:avLst/>
          </a:prstGeom>
          <a:solidFill>
            <a:srgbClr val="4D73C9"/>
          </a:solidFill>
          <a:ln w="12700">
            <a:solidFill>
              <a:srgbClr val="4D73C9"/>
            </a:solidFill>
            <a:prstDash val="solid"/>
          </a:ln>
        </p:spPr>
      </p:sp>
      <p:sp>
        <p:nvSpPr>
          <p:cNvPr id="12" name="Text 9"/>
          <p:cNvSpPr txBox="1"/>
          <p:nvPr/>
        </p:nvSpPr>
        <p:spPr>
          <a:xfrm>
            <a:off x="1847088" y="4727448"/>
            <a:ext cx="384048" cy="310896"/>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13" name="Shape 10"/>
          <p:cNvSpPr/>
          <p:nvPr/>
        </p:nvSpPr>
        <p:spPr>
          <a:xfrm>
            <a:off x="2286000" y="4690872"/>
            <a:ext cx="2148840" cy="420624"/>
          </a:xfrm>
          <a:prstGeom prst="roundRect">
            <a:avLst>
              <a:gd name="adj" fmla="val 28261"/>
            </a:avLst>
          </a:prstGeom>
          <a:solidFill>
            <a:srgbClr val="11284C"/>
          </a:solidFill>
          <a:ln w="12700">
            <a:solidFill>
              <a:srgbClr val="11284C"/>
            </a:solidFill>
            <a:prstDash val="solid"/>
          </a:ln>
        </p:spPr>
      </p:sp>
      <p:sp>
        <p:nvSpPr>
          <p:cNvPr id="14" name="Text 11"/>
          <p:cNvSpPr txBox="1"/>
          <p:nvPr/>
        </p:nvSpPr>
        <p:spPr>
          <a:xfrm>
            <a:off x="2395728" y="4722876"/>
            <a:ext cx="1938528" cy="310896"/>
          </a:xfrm>
          <a:prstGeom prst="rect">
            <a:avLst/>
          </a:prstGeom>
          <a:noFill/>
          <a:ln/>
        </p:spPr>
        <p:txBody>
          <a:bodyPr wrap="square" lIns="0" tIns="0" rIns="0" bIns="0" rtlCol="0" anchor="ctr">
            <a:normAutofit/>
          </a:bodyPr>
          <a:lstStyle/>
          <a:p>
            <a:pPr algn="ctr" indent="0" marL="0">
              <a:lnSpc>
                <a:spcPct val="100000"/>
              </a:lnSpc>
              <a:buNone/>
            </a:pPr>
            <a:r>
              <a:rPr lang="en-US" sz="880" b="1" dirty="0">
                <a:solidFill>
                  <a:srgbClr val="FFFFFF"/>
                </a:solidFill>
                <a:latin typeface="Aptos" pitchFamily="34" charset="0"/>
                <a:ea typeface="Aptos" pitchFamily="34" charset="-122"/>
                <a:cs typeface="Aptos" pitchFamily="34" charset="-120"/>
              </a:rPr>
              <a:t>Nhập tên thuốc / autocomplete</a:t>
            </a:r>
            <a:endParaRPr lang="en-US" sz="880" dirty="0"/>
          </a:p>
        </p:txBody>
      </p:sp>
      <p:sp>
        <p:nvSpPr>
          <p:cNvPr id="15" name="Shape 12"/>
          <p:cNvSpPr/>
          <p:nvPr/>
        </p:nvSpPr>
        <p:spPr>
          <a:xfrm>
            <a:off x="9646920" y="4709160"/>
            <a:ext cx="384048" cy="384048"/>
          </a:xfrm>
          <a:prstGeom prst="ellipse">
            <a:avLst/>
          </a:prstGeom>
          <a:solidFill>
            <a:srgbClr val="4D73C9"/>
          </a:solidFill>
          <a:ln w="12700">
            <a:solidFill>
              <a:srgbClr val="4D73C9"/>
            </a:solidFill>
            <a:prstDash val="solid"/>
          </a:ln>
        </p:spPr>
      </p:sp>
      <p:sp>
        <p:nvSpPr>
          <p:cNvPr id="16" name="Text 13"/>
          <p:cNvSpPr txBox="1"/>
          <p:nvPr/>
        </p:nvSpPr>
        <p:spPr>
          <a:xfrm>
            <a:off x="9646920" y="4727448"/>
            <a:ext cx="384048" cy="310896"/>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17" name="Shape 14"/>
          <p:cNvSpPr/>
          <p:nvPr/>
        </p:nvSpPr>
        <p:spPr>
          <a:xfrm>
            <a:off x="10085832" y="4690872"/>
            <a:ext cx="2148840" cy="420624"/>
          </a:xfrm>
          <a:prstGeom prst="roundRect">
            <a:avLst>
              <a:gd name="adj" fmla="val 28261"/>
            </a:avLst>
          </a:prstGeom>
          <a:solidFill>
            <a:srgbClr val="11284C"/>
          </a:solidFill>
          <a:ln w="12700">
            <a:solidFill>
              <a:srgbClr val="11284C"/>
            </a:solidFill>
            <a:prstDash val="solid"/>
          </a:ln>
        </p:spPr>
      </p:sp>
      <p:sp>
        <p:nvSpPr>
          <p:cNvPr id="18" name="Text 15"/>
          <p:cNvSpPr txBox="1"/>
          <p:nvPr/>
        </p:nvSpPr>
        <p:spPr>
          <a:xfrm>
            <a:off x="10195560" y="4722876"/>
            <a:ext cx="1938528" cy="310896"/>
          </a:xfrm>
          <a:prstGeom prst="rect">
            <a:avLst/>
          </a:prstGeom>
          <a:noFill/>
          <a:ln/>
        </p:spPr>
        <p:txBody>
          <a:bodyPr wrap="square" lIns="0" tIns="0" rIns="0" bIns="0" rtlCol="0" anchor="ctr">
            <a:normAutofit/>
          </a:bodyPr>
          <a:lstStyle/>
          <a:p>
            <a:pPr algn="ctr" indent="0" marL="0">
              <a:lnSpc>
                <a:spcPct val="100000"/>
              </a:lnSpc>
              <a:buNone/>
            </a:pPr>
            <a:r>
              <a:rPr lang="en-US" sz="880" b="1" dirty="0">
                <a:solidFill>
                  <a:srgbClr val="FFFFFF"/>
                </a:solidFill>
                <a:latin typeface="Aptos" pitchFamily="34" charset="0"/>
                <a:ea typeface="Aptos" pitchFamily="34" charset="-122"/>
                <a:cs typeface="Aptos" pitchFamily="34" charset="-120"/>
              </a:rPr>
              <a:t>Hành động chính nổi bật</a:t>
            </a:r>
            <a:endParaRPr lang="en-US" sz="88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30352" y="310896"/>
            <a:ext cx="4754880" cy="256032"/>
          </a:xfrm>
          <a:prstGeom prst="rect">
            <a:avLst/>
          </a:prstGeom>
          <a:noFill/>
          <a:ln/>
        </p:spPr>
        <p:txBody>
          <a:bodyPr wrap="square" lIns="0" tIns="0" rIns="0" bIns="0" rtlCol="0" anchor="ctr">
            <a:normAutofit/>
          </a:bodyPr>
          <a:lstStyle/>
          <a:p>
            <a:pPr algn="l" indent="0" marL="0">
              <a:lnSpc>
                <a:spcPct val="100000"/>
              </a:lnSpc>
              <a:buNone/>
            </a:pPr>
            <a:r>
              <a:rPr lang="en-US" sz="1000" b="1" spc="180" kern="0" dirty="0">
                <a:solidFill>
                  <a:srgbClr val="4D73C9"/>
                </a:solidFill>
                <a:latin typeface="Aptos" pitchFamily="34" charset="0"/>
                <a:ea typeface="Aptos" pitchFamily="34" charset="-122"/>
                <a:cs typeface="Aptos" pitchFamily="34" charset="-120"/>
              </a:rPr>
              <a:t>05 / KẾT QUẢ TRA CỨU</a:t>
            </a:r>
            <a:endParaRPr lang="en-US" sz="1000" dirty="0"/>
          </a:p>
        </p:txBody>
      </p:sp>
      <p:sp>
        <p:nvSpPr>
          <p:cNvPr id="3" name="Text 1"/>
          <p:cNvSpPr txBox="1"/>
          <p:nvPr/>
        </p:nvSpPr>
        <p:spPr>
          <a:xfrm>
            <a:off x="530352" y="658368"/>
            <a:ext cx="11064240" cy="530352"/>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1284C"/>
                </a:solidFill>
                <a:latin typeface="Aptos" pitchFamily="34" charset="0"/>
                <a:ea typeface="Aptos" pitchFamily="34" charset="-122"/>
                <a:cs typeface="Aptos" pitchFamily="34" charset="-120"/>
              </a:rPr>
              <a:t>Từ danh sách thuốc thành bản đồ rủi ro có thể hành động</a:t>
            </a:r>
            <a:endParaRPr lang="en-US" sz="2700" dirty="0"/>
          </a:p>
        </p:txBody>
      </p:sp>
      <p:sp>
        <p:nvSpPr>
          <p:cNvPr id="4" name="Text 2"/>
          <p:cNvSpPr txBox="1"/>
          <p:nvPr/>
        </p:nvSpPr>
        <p:spPr>
          <a:xfrm>
            <a:off x="530352" y="1197864"/>
            <a:ext cx="10972800" cy="384048"/>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667792"/>
                </a:solidFill>
                <a:latin typeface="Aptos" pitchFamily="34" charset="0"/>
                <a:ea typeface="Aptos" pitchFamily="34" charset="-122"/>
                <a:cs typeface="Aptos" pitchFamily="34" charset="-120"/>
              </a:rPr>
              <a:t>Đồ thị giúp nhìn nhanh cặp tương tác; phần giải thích bên dưới cung cấp mức độ, nguồn và ngôn ngữ an toàn.</a:t>
            </a:r>
            <a:endParaRPr lang="en-US" sz="1250" dirty="0"/>
          </a:p>
        </p:txBody>
      </p:sp>
      <p:sp>
        <p:nvSpPr>
          <p:cNvPr id="5" name="Shape 3"/>
          <p:cNvSpPr/>
          <p:nvPr/>
        </p:nvSpPr>
        <p:spPr>
          <a:xfrm>
            <a:off x="493776" y="1636776"/>
            <a:ext cx="7799832" cy="4608576"/>
          </a:xfrm>
          <a:prstGeom prst="roundRect">
            <a:avLst>
              <a:gd name="adj" fmla="val 3175"/>
            </a:avLst>
          </a:prstGeom>
          <a:solidFill>
            <a:srgbClr val="FFFFFF"/>
          </a:solidFill>
          <a:ln w="12700">
            <a:solidFill>
              <a:srgbClr val="CBD8ED"/>
            </a:solidFill>
            <a:prstDash val="solid"/>
          </a:ln>
        </p:spPr>
      </p:sp>
      <p:pic>
        <p:nvPicPr>
          <p:cNvPr id="6" name="Image 0" descr="C:\Users\Quan\Documents\AIthucchien\Projects\P-005\docs\screenshots\interaction-result.png">    </p:cNvPr>
          <p:cNvPicPr>
            <a:picLocks noChangeAspect="1"/>
          </p:cNvPicPr>
          <p:nvPr/>
        </p:nvPicPr>
        <p:blipFill>
          <a:blip r:embed="rId1"/>
          <a:stretch>
            <a:fillRect/>
          </a:stretch>
        </p:blipFill>
        <p:spPr>
          <a:xfrm>
            <a:off x="530352" y="2205681"/>
            <a:ext cx="7726680" cy="3470765"/>
          </a:xfrm>
          <a:prstGeom prst="rect">
            <a:avLst/>
          </a:prstGeom>
        </p:spPr>
      </p:pic>
      <p:sp>
        <p:nvSpPr>
          <p:cNvPr id="7" name="Shape 4"/>
          <p:cNvSpPr/>
          <p:nvPr/>
        </p:nvSpPr>
        <p:spPr>
          <a:xfrm>
            <a:off x="8567928" y="1719072"/>
            <a:ext cx="3090672" cy="850392"/>
          </a:xfrm>
          <a:prstGeom prst="roundRect">
            <a:avLst>
              <a:gd name="adj" fmla="val 17204"/>
            </a:avLst>
          </a:prstGeom>
          <a:solidFill>
            <a:srgbClr val="FFE5E2"/>
          </a:solidFill>
          <a:ln w="12700">
            <a:solidFill>
              <a:srgbClr val="FFE5E2"/>
            </a:solidFill>
            <a:prstDash val="solid"/>
          </a:ln>
        </p:spPr>
      </p:sp>
      <p:sp>
        <p:nvSpPr>
          <p:cNvPr id="8" name="Text 5"/>
          <p:cNvSpPr txBox="1"/>
          <p:nvPr/>
        </p:nvSpPr>
        <p:spPr>
          <a:xfrm>
            <a:off x="8796528" y="1828800"/>
            <a:ext cx="530352" cy="502920"/>
          </a:xfrm>
          <a:prstGeom prst="rect">
            <a:avLst/>
          </a:prstGeom>
          <a:noFill/>
          <a:ln/>
        </p:spPr>
        <p:txBody>
          <a:bodyPr wrap="square" lIns="0" tIns="0" rIns="0" bIns="0" rtlCol="0" anchor="ctr">
            <a:normAutofit/>
          </a:bodyPr>
          <a:lstStyle/>
          <a:p>
            <a:pPr algn="ctr" indent="0" marL="0">
              <a:lnSpc>
                <a:spcPct val="100000"/>
              </a:lnSpc>
              <a:buNone/>
            </a:pPr>
            <a:r>
              <a:rPr lang="en-US" sz="2400" b="1" dirty="0">
                <a:solidFill>
                  <a:srgbClr val="D54B4B"/>
                </a:solidFill>
                <a:latin typeface="Aptos" pitchFamily="34" charset="0"/>
                <a:ea typeface="Aptos" pitchFamily="34" charset="-122"/>
                <a:cs typeface="Aptos" pitchFamily="34" charset="-120"/>
              </a:rPr>
              <a:t>1</a:t>
            </a:r>
            <a:endParaRPr lang="en-US" sz="2400" dirty="0"/>
          </a:p>
        </p:txBody>
      </p:sp>
      <p:sp>
        <p:nvSpPr>
          <p:cNvPr id="9" name="Text 6"/>
          <p:cNvSpPr txBox="1"/>
          <p:nvPr/>
        </p:nvSpPr>
        <p:spPr>
          <a:xfrm>
            <a:off x="9482328" y="1856232"/>
            <a:ext cx="1874520" cy="402336"/>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11284C"/>
                </a:solidFill>
                <a:latin typeface="Aptos" pitchFamily="34" charset="0"/>
                <a:ea typeface="Aptos" pitchFamily="34" charset="-122"/>
                <a:cs typeface="Aptos" pitchFamily="34" charset="-120"/>
              </a:rPr>
              <a:t>Nghiêm trọng</a:t>
            </a:r>
            <a:endParaRPr lang="en-US" sz="1250" dirty="0"/>
          </a:p>
        </p:txBody>
      </p:sp>
      <p:sp>
        <p:nvSpPr>
          <p:cNvPr id="10" name="Shape 7"/>
          <p:cNvSpPr/>
          <p:nvPr/>
        </p:nvSpPr>
        <p:spPr>
          <a:xfrm>
            <a:off x="8567928" y="2798064"/>
            <a:ext cx="3090672" cy="850392"/>
          </a:xfrm>
          <a:prstGeom prst="roundRect">
            <a:avLst>
              <a:gd name="adj" fmla="val 17204"/>
            </a:avLst>
          </a:prstGeom>
          <a:solidFill>
            <a:srgbClr val="FFF1D9"/>
          </a:solidFill>
          <a:ln w="12700">
            <a:solidFill>
              <a:srgbClr val="FFF1D9"/>
            </a:solidFill>
            <a:prstDash val="solid"/>
          </a:ln>
        </p:spPr>
      </p:sp>
      <p:sp>
        <p:nvSpPr>
          <p:cNvPr id="11" name="Text 8"/>
          <p:cNvSpPr txBox="1"/>
          <p:nvPr/>
        </p:nvSpPr>
        <p:spPr>
          <a:xfrm>
            <a:off x="8796528" y="2907792"/>
            <a:ext cx="530352" cy="502920"/>
          </a:xfrm>
          <a:prstGeom prst="rect">
            <a:avLst/>
          </a:prstGeom>
          <a:noFill/>
          <a:ln/>
        </p:spPr>
        <p:txBody>
          <a:bodyPr wrap="square" lIns="0" tIns="0" rIns="0" bIns="0" rtlCol="0" anchor="ctr">
            <a:normAutofit/>
          </a:bodyPr>
          <a:lstStyle/>
          <a:p>
            <a:pPr algn="ctr" indent="0" marL="0">
              <a:lnSpc>
                <a:spcPct val="100000"/>
              </a:lnSpc>
              <a:buNone/>
            </a:pPr>
            <a:r>
              <a:rPr lang="en-US" sz="2400" b="1" dirty="0">
                <a:solidFill>
                  <a:srgbClr val="C68A2E"/>
                </a:solidFill>
                <a:latin typeface="Aptos" pitchFamily="34" charset="0"/>
                <a:ea typeface="Aptos" pitchFamily="34" charset="-122"/>
                <a:cs typeface="Aptos" pitchFamily="34" charset="-120"/>
              </a:rPr>
              <a:t>3</a:t>
            </a:r>
            <a:endParaRPr lang="en-US" sz="2400" dirty="0"/>
          </a:p>
        </p:txBody>
      </p:sp>
      <p:sp>
        <p:nvSpPr>
          <p:cNvPr id="12" name="Text 9"/>
          <p:cNvSpPr txBox="1"/>
          <p:nvPr/>
        </p:nvSpPr>
        <p:spPr>
          <a:xfrm>
            <a:off x="9482328" y="2935224"/>
            <a:ext cx="1874520" cy="402336"/>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11284C"/>
                </a:solidFill>
                <a:latin typeface="Aptos" pitchFamily="34" charset="0"/>
                <a:ea typeface="Aptos" pitchFamily="34" charset="-122"/>
                <a:cs typeface="Aptos" pitchFamily="34" charset="-120"/>
              </a:rPr>
              <a:t>Trung bình</a:t>
            </a:r>
            <a:endParaRPr lang="en-US" sz="1250" dirty="0"/>
          </a:p>
        </p:txBody>
      </p:sp>
      <p:sp>
        <p:nvSpPr>
          <p:cNvPr id="13" name="Shape 10"/>
          <p:cNvSpPr/>
          <p:nvPr/>
        </p:nvSpPr>
        <p:spPr>
          <a:xfrm>
            <a:off x="8567928" y="3877056"/>
            <a:ext cx="3090672" cy="850392"/>
          </a:xfrm>
          <a:prstGeom prst="roundRect">
            <a:avLst>
              <a:gd name="adj" fmla="val 17204"/>
            </a:avLst>
          </a:prstGeom>
          <a:solidFill>
            <a:srgbClr val="E1F5EF"/>
          </a:solidFill>
          <a:ln w="12700">
            <a:solidFill>
              <a:srgbClr val="E1F5EF"/>
            </a:solidFill>
            <a:prstDash val="solid"/>
          </a:ln>
        </p:spPr>
      </p:sp>
      <p:sp>
        <p:nvSpPr>
          <p:cNvPr id="14" name="Text 11"/>
          <p:cNvSpPr txBox="1"/>
          <p:nvPr/>
        </p:nvSpPr>
        <p:spPr>
          <a:xfrm>
            <a:off x="8796528" y="3986784"/>
            <a:ext cx="530352" cy="502920"/>
          </a:xfrm>
          <a:prstGeom prst="rect">
            <a:avLst/>
          </a:prstGeom>
          <a:noFill/>
          <a:ln/>
        </p:spPr>
        <p:txBody>
          <a:bodyPr wrap="square" lIns="0" tIns="0" rIns="0" bIns="0" rtlCol="0" anchor="ctr">
            <a:normAutofit/>
          </a:bodyPr>
          <a:lstStyle/>
          <a:p>
            <a:pPr algn="ctr" indent="0" marL="0">
              <a:lnSpc>
                <a:spcPct val="100000"/>
              </a:lnSpc>
              <a:buNone/>
            </a:pPr>
            <a:r>
              <a:rPr lang="en-US" sz="2400" b="1" dirty="0">
                <a:solidFill>
                  <a:srgbClr val="2C9A83"/>
                </a:solidFill>
                <a:latin typeface="Aptos" pitchFamily="34" charset="0"/>
                <a:ea typeface="Aptos" pitchFamily="34" charset="-122"/>
                <a:cs typeface="Aptos" pitchFamily="34" charset="-120"/>
              </a:rPr>
              <a:t>1</a:t>
            </a:r>
            <a:endParaRPr lang="en-US" sz="2400" dirty="0"/>
          </a:p>
        </p:txBody>
      </p:sp>
      <p:sp>
        <p:nvSpPr>
          <p:cNvPr id="15" name="Text 12"/>
          <p:cNvSpPr txBox="1"/>
          <p:nvPr/>
        </p:nvSpPr>
        <p:spPr>
          <a:xfrm>
            <a:off x="9482328" y="4014216"/>
            <a:ext cx="1874520" cy="402336"/>
          </a:xfrm>
          <a:prstGeom prst="rect">
            <a:avLst/>
          </a:prstGeom>
          <a:noFill/>
          <a:ln/>
        </p:spPr>
        <p:txBody>
          <a:bodyPr wrap="square" lIns="0" tIns="0" rIns="0" bIns="0" rtlCol="0" anchor="ctr">
            <a:normAutofit/>
          </a:bodyPr>
          <a:lstStyle/>
          <a:p>
            <a:pPr algn="l" indent="0" marL="0">
              <a:lnSpc>
                <a:spcPct val="100000"/>
              </a:lnSpc>
              <a:buNone/>
            </a:pPr>
            <a:r>
              <a:rPr lang="en-US" sz="1250" b="1" dirty="0">
                <a:solidFill>
                  <a:srgbClr val="11284C"/>
                </a:solidFill>
                <a:latin typeface="Aptos" pitchFamily="34" charset="0"/>
                <a:ea typeface="Aptos" pitchFamily="34" charset="-122"/>
                <a:cs typeface="Aptos" pitchFamily="34" charset="-120"/>
              </a:rPr>
              <a:t>Nhẹ</a:t>
            </a:r>
            <a:endParaRPr lang="en-US" sz="1250" dirty="0"/>
          </a:p>
        </p:txBody>
      </p:sp>
      <p:sp>
        <p:nvSpPr>
          <p:cNvPr id="16" name="Shape 13"/>
          <p:cNvSpPr/>
          <p:nvPr/>
        </p:nvSpPr>
        <p:spPr>
          <a:xfrm>
            <a:off x="8567928" y="5084064"/>
            <a:ext cx="3090672" cy="1115568"/>
          </a:xfrm>
          <a:prstGeom prst="roundRect">
            <a:avLst>
              <a:gd name="adj" fmla="val 13115"/>
            </a:avLst>
          </a:prstGeom>
          <a:solidFill>
            <a:srgbClr val="11284C"/>
          </a:solidFill>
          <a:ln w="12700">
            <a:solidFill>
              <a:srgbClr val="11284C"/>
            </a:solidFill>
            <a:prstDash val="solid"/>
          </a:ln>
        </p:spPr>
      </p:sp>
      <p:sp>
        <p:nvSpPr>
          <p:cNvPr id="17" name="Text 14"/>
          <p:cNvSpPr txBox="1"/>
          <p:nvPr/>
        </p:nvSpPr>
        <p:spPr>
          <a:xfrm>
            <a:off x="8823960" y="5230368"/>
            <a:ext cx="2578608" cy="256032"/>
          </a:xfrm>
          <a:prstGeom prst="rect">
            <a:avLst/>
          </a:prstGeom>
          <a:noFill/>
          <a:ln/>
        </p:spPr>
        <p:txBody>
          <a:bodyPr wrap="square" lIns="0" tIns="0" rIns="0" bIns="0" rtlCol="0" anchor="ctr">
            <a:normAutofit/>
          </a:bodyPr>
          <a:lstStyle/>
          <a:p>
            <a:pPr algn="l" indent="0" marL="0">
              <a:lnSpc>
                <a:spcPct val="100000"/>
              </a:lnSpc>
              <a:buNone/>
            </a:pPr>
            <a:r>
              <a:rPr lang="en-US" sz="1000" b="1" spc="80" kern="0" dirty="0">
                <a:solidFill>
                  <a:srgbClr val="AFC8FF"/>
                </a:solidFill>
                <a:latin typeface="Aptos" pitchFamily="34" charset="0"/>
                <a:ea typeface="Aptos" pitchFamily="34" charset="-122"/>
                <a:cs typeface="Aptos" pitchFamily="34" charset="-120"/>
              </a:rPr>
              <a:t>Kết quả minh họa</a:t>
            </a:r>
            <a:endParaRPr lang="en-US" sz="1000" dirty="0"/>
          </a:p>
        </p:txBody>
      </p:sp>
      <p:sp>
        <p:nvSpPr>
          <p:cNvPr id="18" name="Text 15"/>
          <p:cNvSpPr txBox="1"/>
          <p:nvPr/>
        </p:nvSpPr>
        <p:spPr>
          <a:xfrm>
            <a:off x="8823960" y="5522976"/>
            <a:ext cx="2578608" cy="475488"/>
          </a:xfrm>
          <a:prstGeom prst="rect">
            <a:avLst/>
          </a:prstGeom>
          <a:noFill/>
          <a:ln/>
        </p:spPr>
        <p:txBody>
          <a:bodyPr wrap="square" lIns="0" tIns="0" rIns="0" bIns="0" rtlCol="0" anchor="t">
            <a:normAutofit/>
          </a:bodyPr>
          <a:lstStyle/>
          <a:p>
            <a:pPr algn="l" indent="0" marL="0">
              <a:lnSpc>
                <a:spcPct val="100000"/>
              </a:lnSpc>
              <a:buNone/>
            </a:pPr>
            <a:r>
              <a:rPr lang="en-US" sz="1050" b="1" dirty="0">
                <a:solidFill>
                  <a:srgbClr val="FFFFFF"/>
                </a:solidFill>
                <a:latin typeface="Aptos" pitchFamily="34" charset="0"/>
                <a:ea typeface="Aptos" pitchFamily="34" charset="-122"/>
                <a:cs typeface="Aptos" pitchFamily="34" charset="-120"/>
              </a:rPr>
              <a:t>Không tự đổi hoặc ngừng thuốc. Hãy trao đổi với bác sĩ / dược sĩ.</a:t>
            </a:r>
            <a:endParaRPr lang="en-US" sz="105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30352" y="310896"/>
            <a:ext cx="4754880" cy="256032"/>
          </a:xfrm>
          <a:prstGeom prst="rect">
            <a:avLst/>
          </a:prstGeom>
          <a:noFill/>
          <a:ln/>
        </p:spPr>
        <p:txBody>
          <a:bodyPr wrap="square" lIns="0" tIns="0" rIns="0" bIns="0" rtlCol="0" anchor="ctr">
            <a:normAutofit/>
          </a:bodyPr>
          <a:lstStyle/>
          <a:p>
            <a:pPr algn="l" indent="0" marL="0">
              <a:lnSpc>
                <a:spcPct val="100000"/>
              </a:lnSpc>
              <a:buNone/>
            </a:pPr>
            <a:r>
              <a:rPr lang="en-US" sz="1000" b="1" spc="180" kern="0" dirty="0">
                <a:solidFill>
                  <a:srgbClr val="4D73C9"/>
                </a:solidFill>
                <a:latin typeface="Aptos" pitchFamily="34" charset="0"/>
                <a:ea typeface="Aptos" pitchFamily="34" charset="-122"/>
                <a:cs typeface="Aptos" pitchFamily="34" charset="-120"/>
              </a:rPr>
              <a:t>06 / HUMAN-IN-THE-LOOP</a:t>
            </a:r>
            <a:endParaRPr lang="en-US" sz="1000" dirty="0"/>
          </a:p>
        </p:txBody>
      </p:sp>
      <p:sp>
        <p:nvSpPr>
          <p:cNvPr id="3" name="Text 1"/>
          <p:cNvSpPr txBox="1"/>
          <p:nvPr/>
        </p:nvSpPr>
        <p:spPr>
          <a:xfrm>
            <a:off x="530352" y="658368"/>
            <a:ext cx="11064240" cy="530352"/>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1284C"/>
                </a:solidFill>
                <a:latin typeface="Aptos" pitchFamily="34" charset="0"/>
                <a:ea typeface="Aptos" pitchFamily="34" charset="-122"/>
                <a:cs typeface="Aptos" pitchFamily="34" charset="-120"/>
              </a:rPr>
              <a:t>AI phát hiện — dược sĩ xác nhận — bệnh nhân nhận phản hồi</a:t>
            </a:r>
            <a:endParaRPr lang="en-US" sz="2700" dirty="0"/>
          </a:p>
        </p:txBody>
      </p:sp>
      <p:sp>
        <p:nvSpPr>
          <p:cNvPr id="4" name="Text 2"/>
          <p:cNvSpPr txBox="1"/>
          <p:nvPr/>
        </p:nvSpPr>
        <p:spPr>
          <a:xfrm>
            <a:off x="530352" y="1197864"/>
            <a:ext cx="10972800" cy="384048"/>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667792"/>
                </a:solidFill>
                <a:latin typeface="Aptos" pitchFamily="34" charset="0"/>
                <a:ea typeface="Aptos" pitchFamily="34" charset="-122"/>
                <a:cs typeface="Aptos" pitchFamily="34" charset="-120"/>
              </a:rPr>
              <a:t>Cơ chế HITL biến một câu trả lời AI thành quy trình kiểm soát rủi ro có trạng thái và lịch sử.</a:t>
            </a:r>
            <a:endParaRPr lang="en-US" sz="1250" dirty="0"/>
          </a:p>
        </p:txBody>
      </p:sp>
      <p:sp>
        <p:nvSpPr>
          <p:cNvPr id="5" name="Shape 3"/>
          <p:cNvSpPr/>
          <p:nvPr/>
        </p:nvSpPr>
        <p:spPr>
          <a:xfrm>
            <a:off x="493776" y="1719072"/>
            <a:ext cx="5148072" cy="3401568"/>
          </a:xfrm>
          <a:prstGeom prst="roundRect">
            <a:avLst>
              <a:gd name="adj" fmla="val 4301"/>
            </a:avLst>
          </a:prstGeom>
          <a:solidFill>
            <a:srgbClr val="FFFFFF"/>
          </a:solidFill>
          <a:ln w="12700">
            <a:solidFill>
              <a:srgbClr val="CBD8ED"/>
            </a:solidFill>
            <a:prstDash val="solid"/>
          </a:ln>
        </p:spPr>
      </p:sp>
      <p:pic>
        <p:nvPicPr>
          <p:cNvPr id="6" name="Image 0" descr="C:\Users\Quan\Documents\AIthucchien\Projects\P-005\docs\screenshots\patient-dashboard.png">    </p:cNvPr>
          <p:cNvPicPr>
            <a:picLocks noChangeAspect="1"/>
          </p:cNvPicPr>
          <p:nvPr/>
        </p:nvPicPr>
        <p:blipFill>
          <a:blip r:embed="rId1"/>
          <a:stretch>
            <a:fillRect/>
          </a:stretch>
        </p:blipFill>
        <p:spPr>
          <a:xfrm>
            <a:off x="530352" y="2280049"/>
            <a:ext cx="5074920" cy="2279615"/>
          </a:xfrm>
          <a:prstGeom prst="rect">
            <a:avLst/>
          </a:prstGeom>
        </p:spPr>
      </p:pic>
      <p:sp>
        <p:nvSpPr>
          <p:cNvPr id="7" name="Shape 4"/>
          <p:cNvSpPr/>
          <p:nvPr/>
        </p:nvSpPr>
        <p:spPr>
          <a:xfrm>
            <a:off x="6547104" y="1719072"/>
            <a:ext cx="5148072" cy="3401568"/>
          </a:xfrm>
          <a:prstGeom prst="roundRect">
            <a:avLst>
              <a:gd name="adj" fmla="val 4301"/>
            </a:avLst>
          </a:prstGeom>
          <a:solidFill>
            <a:srgbClr val="FFFFFF"/>
          </a:solidFill>
          <a:ln w="12700">
            <a:solidFill>
              <a:srgbClr val="CBD8ED"/>
            </a:solidFill>
            <a:prstDash val="solid"/>
          </a:ln>
        </p:spPr>
      </p:sp>
      <p:pic>
        <p:nvPicPr>
          <p:cNvPr id="8" name="Image 1" descr="C:\Users\Quan\Documents\AIthucchien\Projects\P-005\docs\screenshots\pharmacist-dashboard.png">    </p:cNvPr>
          <p:cNvPicPr>
            <a:picLocks noChangeAspect="1"/>
          </p:cNvPicPr>
          <p:nvPr/>
        </p:nvPicPr>
        <p:blipFill>
          <a:blip r:embed="rId2"/>
          <a:stretch>
            <a:fillRect/>
          </a:stretch>
        </p:blipFill>
        <p:spPr>
          <a:xfrm>
            <a:off x="6583680" y="2223889"/>
            <a:ext cx="5074920" cy="2391933"/>
          </a:xfrm>
          <a:prstGeom prst="rect">
            <a:avLst/>
          </a:prstGeom>
        </p:spPr>
      </p:pic>
      <p:sp>
        <p:nvSpPr>
          <p:cNvPr id="9" name="Shape 5"/>
          <p:cNvSpPr/>
          <p:nvPr/>
        </p:nvSpPr>
        <p:spPr>
          <a:xfrm>
            <a:off x="731520" y="1938528"/>
            <a:ext cx="1133856" cy="310896"/>
          </a:xfrm>
          <a:prstGeom prst="roundRect">
            <a:avLst>
              <a:gd name="adj" fmla="val 50000"/>
            </a:avLst>
          </a:prstGeom>
          <a:solidFill>
            <a:srgbClr val="E9F0FF"/>
          </a:solidFill>
          <a:ln w="12700">
            <a:solidFill>
              <a:srgbClr val="E9F0FF"/>
            </a:solidFill>
            <a:prstDash val="solid"/>
          </a:ln>
        </p:spPr>
      </p:sp>
      <p:sp>
        <p:nvSpPr>
          <p:cNvPr id="10" name="Text 6"/>
          <p:cNvSpPr txBox="1"/>
          <p:nvPr/>
        </p:nvSpPr>
        <p:spPr>
          <a:xfrm>
            <a:off x="822960" y="1947672"/>
            <a:ext cx="950976" cy="27432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4D73C9"/>
                </a:solidFill>
                <a:latin typeface="Aptos" pitchFamily="34" charset="0"/>
                <a:ea typeface="Aptos" pitchFamily="34" charset="-122"/>
                <a:cs typeface="Aptos" pitchFamily="34" charset="-120"/>
              </a:rPr>
              <a:t>BỆNH NHÂN</a:t>
            </a:r>
            <a:endParaRPr lang="en-US" sz="900" dirty="0"/>
          </a:p>
        </p:txBody>
      </p:sp>
      <p:sp>
        <p:nvSpPr>
          <p:cNvPr id="11" name="Shape 7"/>
          <p:cNvSpPr/>
          <p:nvPr/>
        </p:nvSpPr>
        <p:spPr>
          <a:xfrm>
            <a:off x="6784848" y="1938528"/>
            <a:ext cx="1060704" cy="310896"/>
          </a:xfrm>
          <a:prstGeom prst="roundRect">
            <a:avLst>
              <a:gd name="adj" fmla="val 50000"/>
            </a:avLst>
          </a:prstGeom>
          <a:solidFill>
            <a:srgbClr val="E1F5EF"/>
          </a:solidFill>
          <a:ln w="12700">
            <a:solidFill>
              <a:srgbClr val="E1F5EF"/>
            </a:solidFill>
            <a:prstDash val="solid"/>
          </a:ln>
        </p:spPr>
      </p:sp>
      <p:sp>
        <p:nvSpPr>
          <p:cNvPr id="12" name="Text 8"/>
          <p:cNvSpPr txBox="1"/>
          <p:nvPr/>
        </p:nvSpPr>
        <p:spPr>
          <a:xfrm>
            <a:off x="6876288" y="1947672"/>
            <a:ext cx="877824" cy="274320"/>
          </a:xfrm>
          <a:prstGeom prst="rect">
            <a:avLst/>
          </a:prstGeom>
          <a:noFill/>
          <a:ln/>
        </p:spPr>
        <p:txBody>
          <a:bodyPr wrap="square" lIns="0" tIns="0" rIns="0" bIns="0" rtlCol="0" anchor="ctr">
            <a:normAutofit/>
          </a:bodyPr>
          <a:lstStyle/>
          <a:p>
            <a:pPr algn="ctr" indent="0" marL="0">
              <a:lnSpc>
                <a:spcPct val="100000"/>
              </a:lnSpc>
              <a:buNone/>
            </a:pPr>
            <a:r>
              <a:rPr lang="en-US" sz="900" b="1" dirty="0">
                <a:solidFill>
                  <a:srgbClr val="2C9A83"/>
                </a:solidFill>
                <a:latin typeface="Aptos" pitchFamily="34" charset="0"/>
                <a:ea typeface="Aptos" pitchFamily="34" charset="-122"/>
                <a:cs typeface="Aptos" pitchFamily="34" charset="-120"/>
              </a:rPr>
              <a:t>DƯỢC SĨ</a:t>
            </a:r>
            <a:endParaRPr lang="en-US" sz="900" dirty="0"/>
          </a:p>
        </p:txBody>
      </p:sp>
      <p:sp>
        <p:nvSpPr>
          <p:cNvPr id="13" name="Shape 9"/>
          <p:cNvSpPr/>
          <p:nvPr/>
        </p:nvSpPr>
        <p:spPr>
          <a:xfrm>
            <a:off x="5779008" y="2587752"/>
            <a:ext cx="502920" cy="502920"/>
          </a:xfrm>
          <a:prstGeom prst="ellipse">
            <a:avLst/>
          </a:prstGeom>
          <a:solidFill>
            <a:srgbClr val="FFE5E2"/>
          </a:solidFill>
          <a:ln w="12700">
            <a:solidFill>
              <a:srgbClr val="FFE5E2"/>
            </a:solidFill>
            <a:prstDash val="solid"/>
          </a:ln>
        </p:spPr>
      </p:sp>
      <p:sp>
        <p:nvSpPr>
          <p:cNvPr id="14" name="Text 10"/>
          <p:cNvSpPr txBox="1"/>
          <p:nvPr/>
        </p:nvSpPr>
        <p:spPr>
          <a:xfrm>
            <a:off x="5779008" y="2615184"/>
            <a:ext cx="502920" cy="384048"/>
          </a:xfrm>
          <a:prstGeom prst="rect">
            <a:avLst/>
          </a:prstGeom>
          <a:noFill/>
          <a:ln/>
        </p:spPr>
        <p:txBody>
          <a:bodyPr wrap="square" lIns="0" tIns="0" rIns="0" bIns="0" rtlCol="0" anchor="ctr">
            <a:normAutofit/>
          </a:bodyPr>
          <a:lstStyle/>
          <a:p>
            <a:pPr algn="ctr" indent="0" marL="0">
              <a:lnSpc>
                <a:spcPct val="100000"/>
              </a:lnSpc>
              <a:buNone/>
            </a:pPr>
            <a:r>
              <a:rPr lang="en-US" sz="1900" b="1" dirty="0">
                <a:solidFill>
                  <a:srgbClr val="D54B4B"/>
                </a:solidFill>
                <a:latin typeface="Aptos" pitchFamily="34" charset="0"/>
                <a:ea typeface="Aptos" pitchFamily="34" charset="-122"/>
                <a:cs typeface="Aptos" pitchFamily="34" charset="-120"/>
              </a:rPr>
              <a:t>!</a:t>
            </a:r>
            <a:endParaRPr lang="en-US" sz="1900" dirty="0"/>
          </a:p>
        </p:txBody>
      </p:sp>
      <p:sp>
        <p:nvSpPr>
          <p:cNvPr id="15" name="Shape 11"/>
          <p:cNvSpPr/>
          <p:nvPr/>
        </p:nvSpPr>
        <p:spPr>
          <a:xfrm>
            <a:off x="5522976" y="3328416"/>
            <a:ext cx="905256" cy="0"/>
          </a:xfrm>
          <a:prstGeom prst="line">
            <a:avLst/>
          </a:prstGeom>
          <a:noFill/>
          <a:ln w="29210">
            <a:solidFill>
              <a:srgbClr val="D54B4B"/>
            </a:solidFill>
            <a:prstDash val="solid"/>
            <a:headEnd type="none"/>
            <a:tailEnd type="triangle"/>
          </a:ln>
        </p:spPr>
      </p:sp>
      <p:sp>
        <p:nvSpPr>
          <p:cNvPr id="16" name="Shape 12"/>
          <p:cNvSpPr/>
          <p:nvPr/>
        </p:nvSpPr>
        <p:spPr>
          <a:xfrm>
            <a:off x="5522976" y="3858768"/>
            <a:ext cx="905256" cy="0"/>
          </a:xfrm>
          <a:prstGeom prst="line">
            <a:avLst/>
          </a:prstGeom>
          <a:noFill/>
          <a:ln w="29210">
            <a:solidFill>
              <a:srgbClr val="2C9A83"/>
            </a:solidFill>
            <a:prstDash val="solid"/>
            <a:headEnd type="triangle"/>
            <a:tailEnd type="none"/>
          </a:ln>
        </p:spPr>
      </p:sp>
      <p:sp>
        <p:nvSpPr>
          <p:cNvPr id="17" name="Text 13"/>
          <p:cNvSpPr txBox="1"/>
          <p:nvPr/>
        </p:nvSpPr>
        <p:spPr>
          <a:xfrm>
            <a:off x="5650992" y="2889504"/>
            <a:ext cx="749808" cy="411480"/>
          </a:xfrm>
          <a:prstGeom prst="rect">
            <a:avLst/>
          </a:prstGeom>
          <a:noFill/>
          <a:ln/>
        </p:spPr>
        <p:txBody>
          <a:bodyPr wrap="square" lIns="0" tIns="0" rIns="0" bIns="0" rtlCol="0" anchor="ctr">
            <a:normAutofit/>
          </a:bodyPr>
          <a:lstStyle/>
          <a:p>
            <a:pPr algn="ctr" indent="0" marL="0">
              <a:lnSpc>
                <a:spcPct val="100000"/>
              </a:lnSpc>
              <a:buNone/>
            </a:pPr>
            <a:r>
              <a:rPr lang="en-US" sz="920" b="1" dirty="0">
                <a:solidFill>
                  <a:srgbClr val="D54B4B"/>
                </a:solidFill>
                <a:latin typeface="Aptos" pitchFamily="34" charset="0"/>
                <a:ea typeface="Aptos" pitchFamily="34" charset="-122"/>
                <a:cs typeface="Aptos" pitchFamily="34" charset="-120"/>
              </a:rPr>
              <a:t>Yêu cầu</a:t>
            </a:r>
            <a:endParaRPr lang="en-US" sz="920" dirty="0"/>
          </a:p>
          <a:p>
            <a:pPr algn="ctr" indent="0" marL="0">
              <a:lnSpc>
                <a:spcPct val="100000"/>
              </a:lnSpc>
              <a:buNone/>
            </a:pPr>
            <a:r>
              <a:rPr lang="en-US" sz="920" b="1" dirty="0">
                <a:solidFill>
                  <a:srgbClr val="D54B4B"/>
                </a:solidFill>
                <a:latin typeface="Aptos" pitchFamily="34" charset="0"/>
                <a:ea typeface="Aptos" pitchFamily="34" charset="-122"/>
                <a:cs typeface="Aptos" pitchFamily="34" charset="-120"/>
              </a:rPr>
              <a:t>review</a:t>
            </a:r>
            <a:endParaRPr lang="en-US" sz="920" dirty="0"/>
          </a:p>
        </p:txBody>
      </p:sp>
      <p:sp>
        <p:nvSpPr>
          <p:cNvPr id="18" name="Text 14"/>
          <p:cNvSpPr txBox="1"/>
          <p:nvPr/>
        </p:nvSpPr>
        <p:spPr>
          <a:xfrm>
            <a:off x="5650992" y="3931920"/>
            <a:ext cx="749808" cy="256032"/>
          </a:xfrm>
          <a:prstGeom prst="rect">
            <a:avLst/>
          </a:prstGeom>
          <a:noFill/>
          <a:ln/>
        </p:spPr>
        <p:txBody>
          <a:bodyPr wrap="square" lIns="0" tIns="0" rIns="0" bIns="0" rtlCol="0" anchor="ctr">
            <a:normAutofit/>
          </a:bodyPr>
          <a:lstStyle/>
          <a:p>
            <a:pPr algn="ctr" indent="0" marL="0">
              <a:lnSpc>
                <a:spcPct val="100000"/>
              </a:lnSpc>
              <a:buNone/>
            </a:pPr>
            <a:r>
              <a:rPr lang="en-US" sz="920" b="1" dirty="0">
                <a:solidFill>
                  <a:srgbClr val="2C9A83"/>
                </a:solidFill>
                <a:latin typeface="Aptos" pitchFamily="34" charset="0"/>
                <a:ea typeface="Aptos" pitchFamily="34" charset="-122"/>
                <a:cs typeface="Aptos" pitchFamily="34" charset="-120"/>
              </a:rPr>
              <a:t>Xác nhận</a:t>
            </a:r>
            <a:endParaRPr lang="en-US" sz="920" dirty="0"/>
          </a:p>
        </p:txBody>
      </p:sp>
      <p:sp>
        <p:nvSpPr>
          <p:cNvPr id="19" name="Shape 15"/>
          <p:cNvSpPr/>
          <p:nvPr/>
        </p:nvSpPr>
        <p:spPr>
          <a:xfrm>
            <a:off x="694944" y="5532120"/>
            <a:ext cx="356616" cy="356616"/>
          </a:xfrm>
          <a:prstGeom prst="ellipse">
            <a:avLst/>
          </a:prstGeom>
          <a:solidFill>
            <a:srgbClr val="4D73C9"/>
          </a:solidFill>
          <a:ln w="12700">
            <a:solidFill>
              <a:srgbClr val="4D73C9"/>
            </a:solidFill>
            <a:prstDash val="solid"/>
          </a:ln>
        </p:spPr>
      </p:sp>
      <p:sp>
        <p:nvSpPr>
          <p:cNvPr id="20" name="Text 16"/>
          <p:cNvSpPr txBox="1"/>
          <p:nvPr/>
        </p:nvSpPr>
        <p:spPr>
          <a:xfrm>
            <a:off x="694944" y="5554980"/>
            <a:ext cx="356616" cy="265176"/>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FFFFFF"/>
                </a:solidFill>
                <a:latin typeface="Aptos" pitchFamily="34" charset="0"/>
                <a:ea typeface="Aptos" pitchFamily="34" charset="-122"/>
                <a:cs typeface="Aptos" pitchFamily="34" charset="-120"/>
              </a:rPr>
              <a:t>01</a:t>
            </a:r>
            <a:endParaRPr lang="en-US" sz="820" dirty="0"/>
          </a:p>
        </p:txBody>
      </p:sp>
      <p:sp>
        <p:nvSpPr>
          <p:cNvPr id="21" name="Text 17"/>
          <p:cNvSpPr txBox="1"/>
          <p:nvPr/>
        </p:nvSpPr>
        <p:spPr>
          <a:xfrm>
            <a:off x="1170432" y="5440680"/>
            <a:ext cx="2029968" cy="493776"/>
          </a:xfrm>
          <a:prstGeom prst="rect">
            <a:avLst/>
          </a:prstGeom>
          <a:noFill/>
          <a:ln/>
        </p:spPr>
        <p:txBody>
          <a:bodyPr wrap="square" lIns="0" tIns="0" rIns="0" bIns="0" rtlCol="0" anchor="ctr">
            <a:normAutofit/>
          </a:bodyPr>
          <a:lstStyle/>
          <a:p>
            <a:pPr algn="l" indent="0" marL="0">
              <a:lnSpc>
                <a:spcPct val="100000"/>
              </a:lnSpc>
              <a:buNone/>
            </a:pPr>
            <a:r>
              <a:rPr lang="en-US" sz="1040" b="1" dirty="0">
                <a:solidFill>
                  <a:srgbClr val="11284C"/>
                </a:solidFill>
                <a:latin typeface="Aptos" pitchFamily="34" charset="0"/>
                <a:ea typeface="Aptos" pitchFamily="34" charset="-122"/>
                <a:cs typeface="Aptos" pitchFamily="34" charset="-120"/>
              </a:rPr>
              <a:t>Phát hiện ca cần chú ý</a:t>
            </a:r>
            <a:endParaRPr lang="en-US" sz="1040" dirty="0"/>
          </a:p>
        </p:txBody>
      </p:sp>
      <p:sp>
        <p:nvSpPr>
          <p:cNvPr id="22" name="Shape 18"/>
          <p:cNvSpPr/>
          <p:nvPr/>
        </p:nvSpPr>
        <p:spPr>
          <a:xfrm>
            <a:off x="3044952" y="5705856"/>
            <a:ext cx="292608" cy="0"/>
          </a:xfrm>
          <a:prstGeom prst="line">
            <a:avLst/>
          </a:prstGeom>
          <a:noFill/>
          <a:ln w="19050">
            <a:solidFill>
              <a:srgbClr val="CBD8ED"/>
            </a:solidFill>
            <a:prstDash val="solid"/>
            <a:headEnd type="none"/>
            <a:tailEnd type="triangle"/>
          </a:ln>
        </p:spPr>
      </p:sp>
      <p:sp>
        <p:nvSpPr>
          <p:cNvPr id="23" name="Shape 19"/>
          <p:cNvSpPr/>
          <p:nvPr/>
        </p:nvSpPr>
        <p:spPr>
          <a:xfrm>
            <a:off x="3483864" y="5532120"/>
            <a:ext cx="356616" cy="356616"/>
          </a:xfrm>
          <a:prstGeom prst="ellipse">
            <a:avLst/>
          </a:prstGeom>
          <a:solidFill>
            <a:srgbClr val="4D73C9"/>
          </a:solidFill>
          <a:ln w="12700">
            <a:solidFill>
              <a:srgbClr val="4D73C9"/>
            </a:solidFill>
            <a:prstDash val="solid"/>
          </a:ln>
        </p:spPr>
      </p:sp>
      <p:sp>
        <p:nvSpPr>
          <p:cNvPr id="24" name="Text 20"/>
          <p:cNvSpPr txBox="1"/>
          <p:nvPr/>
        </p:nvSpPr>
        <p:spPr>
          <a:xfrm>
            <a:off x="3483864" y="5554980"/>
            <a:ext cx="356616" cy="265176"/>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FFFFFF"/>
                </a:solidFill>
                <a:latin typeface="Aptos" pitchFamily="34" charset="0"/>
                <a:ea typeface="Aptos" pitchFamily="34" charset="-122"/>
                <a:cs typeface="Aptos" pitchFamily="34" charset="-120"/>
              </a:rPr>
              <a:t>02</a:t>
            </a:r>
            <a:endParaRPr lang="en-US" sz="820" dirty="0"/>
          </a:p>
        </p:txBody>
      </p:sp>
      <p:sp>
        <p:nvSpPr>
          <p:cNvPr id="25" name="Text 21"/>
          <p:cNvSpPr txBox="1"/>
          <p:nvPr/>
        </p:nvSpPr>
        <p:spPr>
          <a:xfrm>
            <a:off x="3959352" y="5440680"/>
            <a:ext cx="2029968" cy="493776"/>
          </a:xfrm>
          <a:prstGeom prst="rect">
            <a:avLst/>
          </a:prstGeom>
          <a:noFill/>
          <a:ln/>
        </p:spPr>
        <p:txBody>
          <a:bodyPr wrap="square" lIns="0" tIns="0" rIns="0" bIns="0" rtlCol="0" anchor="ctr">
            <a:normAutofit/>
          </a:bodyPr>
          <a:lstStyle/>
          <a:p>
            <a:pPr algn="l" indent="0" marL="0">
              <a:lnSpc>
                <a:spcPct val="100000"/>
              </a:lnSpc>
              <a:buNone/>
            </a:pPr>
            <a:r>
              <a:rPr lang="en-US" sz="1040" b="1" dirty="0">
                <a:solidFill>
                  <a:srgbClr val="11284C"/>
                </a:solidFill>
                <a:latin typeface="Aptos" pitchFamily="34" charset="0"/>
                <a:ea typeface="Aptos" pitchFamily="34" charset="-122"/>
                <a:cs typeface="Aptos" pitchFamily="34" charset="-120"/>
              </a:rPr>
              <a:t>Đưa vào hàng đợi ưu tiên</a:t>
            </a:r>
            <a:endParaRPr lang="en-US" sz="1040" dirty="0"/>
          </a:p>
        </p:txBody>
      </p:sp>
      <p:sp>
        <p:nvSpPr>
          <p:cNvPr id="26" name="Shape 22"/>
          <p:cNvSpPr/>
          <p:nvPr/>
        </p:nvSpPr>
        <p:spPr>
          <a:xfrm>
            <a:off x="5833872" y="5705856"/>
            <a:ext cx="292608" cy="0"/>
          </a:xfrm>
          <a:prstGeom prst="line">
            <a:avLst/>
          </a:prstGeom>
          <a:noFill/>
          <a:ln w="19050">
            <a:solidFill>
              <a:srgbClr val="CBD8ED"/>
            </a:solidFill>
            <a:prstDash val="solid"/>
            <a:headEnd type="none"/>
            <a:tailEnd type="triangle"/>
          </a:ln>
        </p:spPr>
      </p:sp>
      <p:sp>
        <p:nvSpPr>
          <p:cNvPr id="27" name="Shape 23"/>
          <p:cNvSpPr/>
          <p:nvPr/>
        </p:nvSpPr>
        <p:spPr>
          <a:xfrm>
            <a:off x="6272784" y="5532120"/>
            <a:ext cx="356616" cy="356616"/>
          </a:xfrm>
          <a:prstGeom prst="ellipse">
            <a:avLst/>
          </a:prstGeom>
          <a:solidFill>
            <a:srgbClr val="4D73C9"/>
          </a:solidFill>
          <a:ln w="12700">
            <a:solidFill>
              <a:srgbClr val="4D73C9"/>
            </a:solidFill>
            <a:prstDash val="solid"/>
          </a:ln>
        </p:spPr>
      </p:sp>
      <p:sp>
        <p:nvSpPr>
          <p:cNvPr id="28" name="Text 24"/>
          <p:cNvSpPr txBox="1"/>
          <p:nvPr/>
        </p:nvSpPr>
        <p:spPr>
          <a:xfrm>
            <a:off x="6272784" y="5554980"/>
            <a:ext cx="356616" cy="265176"/>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FFFFFF"/>
                </a:solidFill>
                <a:latin typeface="Aptos" pitchFamily="34" charset="0"/>
                <a:ea typeface="Aptos" pitchFamily="34" charset="-122"/>
                <a:cs typeface="Aptos" pitchFamily="34" charset="-120"/>
              </a:rPr>
              <a:t>03</a:t>
            </a:r>
            <a:endParaRPr lang="en-US" sz="820" dirty="0"/>
          </a:p>
        </p:txBody>
      </p:sp>
      <p:sp>
        <p:nvSpPr>
          <p:cNvPr id="29" name="Text 25"/>
          <p:cNvSpPr txBox="1"/>
          <p:nvPr/>
        </p:nvSpPr>
        <p:spPr>
          <a:xfrm>
            <a:off x="6748272" y="5440680"/>
            <a:ext cx="2029968" cy="493776"/>
          </a:xfrm>
          <a:prstGeom prst="rect">
            <a:avLst/>
          </a:prstGeom>
          <a:noFill/>
          <a:ln/>
        </p:spPr>
        <p:txBody>
          <a:bodyPr wrap="square" lIns="0" tIns="0" rIns="0" bIns="0" rtlCol="0" anchor="ctr">
            <a:normAutofit/>
          </a:bodyPr>
          <a:lstStyle/>
          <a:p>
            <a:pPr algn="l" indent="0" marL="0">
              <a:lnSpc>
                <a:spcPct val="100000"/>
              </a:lnSpc>
              <a:buNone/>
            </a:pPr>
            <a:r>
              <a:rPr lang="en-US" sz="1040" b="1" dirty="0">
                <a:solidFill>
                  <a:srgbClr val="11284C"/>
                </a:solidFill>
                <a:latin typeface="Aptos" pitchFamily="34" charset="0"/>
                <a:ea typeface="Aptos" pitchFamily="34" charset="-122"/>
                <a:cs typeface="Aptos" pitchFamily="34" charset="-120"/>
              </a:rPr>
              <a:t>Dược sĩ xem nguồn &amp; xác nhận</a:t>
            </a:r>
            <a:endParaRPr lang="en-US" sz="1040" dirty="0"/>
          </a:p>
        </p:txBody>
      </p:sp>
      <p:sp>
        <p:nvSpPr>
          <p:cNvPr id="30" name="Shape 26"/>
          <p:cNvSpPr/>
          <p:nvPr/>
        </p:nvSpPr>
        <p:spPr>
          <a:xfrm>
            <a:off x="8622792" y="5705856"/>
            <a:ext cx="292608" cy="0"/>
          </a:xfrm>
          <a:prstGeom prst="line">
            <a:avLst/>
          </a:prstGeom>
          <a:noFill/>
          <a:ln w="19050">
            <a:solidFill>
              <a:srgbClr val="CBD8ED"/>
            </a:solidFill>
            <a:prstDash val="solid"/>
            <a:headEnd type="none"/>
            <a:tailEnd type="triangle"/>
          </a:ln>
        </p:spPr>
      </p:sp>
      <p:sp>
        <p:nvSpPr>
          <p:cNvPr id="31" name="Shape 27"/>
          <p:cNvSpPr/>
          <p:nvPr/>
        </p:nvSpPr>
        <p:spPr>
          <a:xfrm>
            <a:off x="9061704" y="5532120"/>
            <a:ext cx="356616" cy="356616"/>
          </a:xfrm>
          <a:prstGeom prst="ellipse">
            <a:avLst/>
          </a:prstGeom>
          <a:solidFill>
            <a:srgbClr val="2C9A83"/>
          </a:solidFill>
          <a:ln w="12700">
            <a:solidFill>
              <a:srgbClr val="2C9A83"/>
            </a:solidFill>
            <a:prstDash val="solid"/>
          </a:ln>
        </p:spPr>
      </p:sp>
      <p:sp>
        <p:nvSpPr>
          <p:cNvPr id="32" name="Text 28"/>
          <p:cNvSpPr txBox="1"/>
          <p:nvPr/>
        </p:nvSpPr>
        <p:spPr>
          <a:xfrm>
            <a:off x="9061704" y="5554980"/>
            <a:ext cx="356616" cy="265176"/>
          </a:xfrm>
          <a:prstGeom prst="rect">
            <a:avLst/>
          </a:prstGeom>
          <a:noFill/>
          <a:ln/>
        </p:spPr>
        <p:txBody>
          <a:bodyPr wrap="square" lIns="0" tIns="0" rIns="0" bIns="0" rtlCol="0" anchor="ctr">
            <a:normAutofit/>
          </a:bodyPr>
          <a:lstStyle/>
          <a:p>
            <a:pPr algn="ctr" indent="0" marL="0">
              <a:lnSpc>
                <a:spcPct val="100000"/>
              </a:lnSpc>
              <a:buNone/>
            </a:pPr>
            <a:r>
              <a:rPr lang="en-US" sz="820" b="1" dirty="0">
                <a:solidFill>
                  <a:srgbClr val="FFFFFF"/>
                </a:solidFill>
                <a:latin typeface="Aptos" pitchFamily="34" charset="0"/>
                <a:ea typeface="Aptos" pitchFamily="34" charset="-122"/>
                <a:cs typeface="Aptos" pitchFamily="34" charset="-120"/>
              </a:rPr>
              <a:t>04</a:t>
            </a:r>
            <a:endParaRPr lang="en-US" sz="820" dirty="0"/>
          </a:p>
        </p:txBody>
      </p:sp>
      <p:sp>
        <p:nvSpPr>
          <p:cNvPr id="33" name="Text 29"/>
          <p:cNvSpPr txBox="1"/>
          <p:nvPr/>
        </p:nvSpPr>
        <p:spPr>
          <a:xfrm>
            <a:off x="9537192" y="5440680"/>
            <a:ext cx="2029968" cy="493776"/>
          </a:xfrm>
          <a:prstGeom prst="rect">
            <a:avLst/>
          </a:prstGeom>
          <a:noFill/>
          <a:ln/>
        </p:spPr>
        <p:txBody>
          <a:bodyPr wrap="square" lIns="0" tIns="0" rIns="0" bIns="0" rtlCol="0" anchor="ctr">
            <a:normAutofit/>
          </a:bodyPr>
          <a:lstStyle/>
          <a:p>
            <a:pPr algn="l" indent="0" marL="0">
              <a:lnSpc>
                <a:spcPct val="100000"/>
              </a:lnSpc>
              <a:buNone/>
            </a:pPr>
            <a:r>
              <a:rPr lang="en-US" sz="1040" b="1" dirty="0">
                <a:solidFill>
                  <a:srgbClr val="11284C"/>
                </a:solidFill>
                <a:latin typeface="Aptos" pitchFamily="34" charset="0"/>
                <a:ea typeface="Aptos" pitchFamily="34" charset="-122"/>
                <a:cs typeface="Aptos" pitchFamily="34" charset="-120"/>
              </a:rPr>
              <a:t>Lưu trạng thái vào lịch sử</a:t>
            </a:r>
            <a:endParaRPr lang="en-US" sz="104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30352" y="310896"/>
            <a:ext cx="4754880" cy="256032"/>
          </a:xfrm>
          <a:prstGeom prst="rect">
            <a:avLst/>
          </a:prstGeom>
          <a:noFill/>
          <a:ln/>
        </p:spPr>
        <p:txBody>
          <a:bodyPr wrap="square" lIns="0" tIns="0" rIns="0" bIns="0" rtlCol="0" anchor="ctr">
            <a:normAutofit/>
          </a:bodyPr>
          <a:lstStyle/>
          <a:p>
            <a:pPr algn="l" indent="0" marL="0">
              <a:lnSpc>
                <a:spcPct val="100000"/>
              </a:lnSpc>
              <a:buNone/>
            </a:pPr>
            <a:r>
              <a:rPr lang="en-US" sz="1000" b="1" spc="180" kern="0" dirty="0">
                <a:solidFill>
                  <a:srgbClr val="4D73C9"/>
                </a:solidFill>
                <a:latin typeface="Aptos" pitchFamily="34" charset="0"/>
                <a:ea typeface="Aptos" pitchFamily="34" charset="-122"/>
                <a:cs typeface="Aptos" pitchFamily="34" charset="-120"/>
              </a:rPr>
              <a:t>07 / KIẾN TRÚC HỆ THỐNG</a:t>
            </a:r>
            <a:endParaRPr lang="en-US" sz="1000" dirty="0"/>
          </a:p>
        </p:txBody>
      </p:sp>
      <p:sp>
        <p:nvSpPr>
          <p:cNvPr id="3" name="Text 1"/>
          <p:cNvSpPr txBox="1"/>
          <p:nvPr/>
        </p:nvSpPr>
        <p:spPr>
          <a:xfrm>
            <a:off x="530352" y="658368"/>
            <a:ext cx="11064240" cy="530352"/>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1284C"/>
                </a:solidFill>
                <a:latin typeface="Aptos" pitchFamily="34" charset="0"/>
                <a:ea typeface="Aptos" pitchFamily="34" charset="-122"/>
                <a:cs typeface="Aptos" pitchFamily="34" charset="-120"/>
              </a:rPr>
              <a:t>Kiến trúc phân lớp, tách rõ trải nghiệm — nghiệp vụ — AI — dữ liệu</a:t>
            </a:r>
            <a:endParaRPr lang="en-US" sz="2700" dirty="0"/>
          </a:p>
        </p:txBody>
      </p:sp>
      <p:sp>
        <p:nvSpPr>
          <p:cNvPr id="4" name="Text 2"/>
          <p:cNvSpPr txBox="1"/>
          <p:nvPr/>
        </p:nvSpPr>
        <p:spPr>
          <a:xfrm>
            <a:off x="530352" y="1197864"/>
            <a:ext cx="10972800" cy="384048"/>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667792"/>
                </a:solidFill>
                <a:latin typeface="Aptos" pitchFamily="34" charset="0"/>
                <a:ea typeface="Aptos" pitchFamily="34" charset="-122"/>
                <a:cs typeface="Aptos" pitchFamily="34" charset="-120"/>
              </a:rPr>
              <a:t>Thiết kế giúp thay đổi mô hình LLM hoặc cơ sở dữ liệu mà không làm xáo trộn toàn bộ sản phẩm.</a:t>
            </a:r>
            <a:endParaRPr lang="en-US" sz="1250" dirty="0"/>
          </a:p>
        </p:txBody>
      </p:sp>
      <p:sp>
        <p:nvSpPr>
          <p:cNvPr id="5" name="Shape 3"/>
          <p:cNvSpPr/>
          <p:nvPr/>
        </p:nvSpPr>
        <p:spPr>
          <a:xfrm>
            <a:off x="530352" y="1764792"/>
            <a:ext cx="1975104" cy="3886200"/>
          </a:xfrm>
          <a:prstGeom prst="roundRect">
            <a:avLst>
              <a:gd name="adj" fmla="val 9259"/>
            </a:avLst>
          </a:prstGeom>
          <a:solidFill>
            <a:srgbClr val="FFFFFF"/>
          </a:solidFill>
          <a:ln w="12700">
            <a:solidFill>
              <a:srgbClr val="CBD8ED"/>
            </a:solidFill>
            <a:prstDash val="solid"/>
          </a:ln>
        </p:spPr>
      </p:sp>
      <p:sp>
        <p:nvSpPr>
          <p:cNvPr id="6" name="Shape 4"/>
          <p:cNvSpPr/>
          <p:nvPr/>
        </p:nvSpPr>
        <p:spPr>
          <a:xfrm>
            <a:off x="530352" y="1764792"/>
            <a:ext cx="1975104" cy="576072"/>
          </a:xfrm>
          <a:prstGeom prst="roundRect">
            <a:avLst>
              <a:gd name="adj" fmla="val 31746"/>
            </a:avLst>
          </a:prstGeom>
          <a:solidFill>
            <a:srgbClr val="4D73C9"/>
          </a:solidFill>
          <a:ln w="12700">
            <a:solidFill>
              <a:srgbClr val="4D73C9"/>
            </a:solidFill>
            <a:prstDash val="solid"/>
          </a:ln>
        </p:spPr>
      </p:sp>
      <p:sp>
        <p:nvSpPr>
          <p:cNvPr id="7" name="Shape 5"/>
          <p:cNvSpPr/>
          <p:nvPr/>
        </p:nvSpPr>
        <p:spPr>
          <a:xfrm>
            <a:off x="530352" y="2103120"/>
            <a:ext cx="1975104" cy="237744"/>
          </a:xfrm>
          <a:prstGeom prst="rect">
            <a:avLst/>
          </a:prstGeom>
          <a:solidFill>
            <a:srgbClr val="4D73C9"/>
          </a:solidFill>
          <a:ln w="12700">
            <a:solidFill>
              <a:srgbClr val="4D73C9"/>
            </a:solidFill>
            <a:prstDash val="solid"/>
          </a:ln>
        </p:spPr>
      </p:sp>
      <p:sp>
        <p:nvSpPr>
          <p:cNvPr id="8" name="Text 6"/>
          <p:cNvSpPr txBox="1"/>
          <p:nvPr/>
        </p:nvSpPr>
        <p:spPr>
          <a:xfrm>
            <a:off x="667512" y="1883664"/>
            <a:ext cx="1700784" cy="256032"/>
          </a:xfrm>
          <a:prstGeom prst="rect">
            <a:avLst/>
          </a:prstGeom>
          <a:noFill/>
          <a:ln/>
        </p:spPr>
        <p:txBody>
          <a:bodyPr wrap="square" lIns="0" tIns="0" rIns="0" bIns="0" rtlCol="0" anchor="ctr">
            <a:normAutofit/>
          </a:bodyPr>
          <a:lstStyle/>
          <a:p>
            <a:pPr algn="ctr" indent="0" marL="0">
              <a:lnSpc>
                <a:spcPct val="100000"/>
              </a:lnSpc>
              <a:buNone/>
            </a:pPr>
            <a:r>
              <a:rPr lang="en-US" sz="1050" b="1" spc="80" kern="0" dirty="0">
                <a:solidFill>
                  <a:srgbClr val="FFFFFF"/>
                </a:solidFill>
                <a:latin typeface="Aptos" pitchFamily="34" charset="0"/>
                <a:ea typeface="Aptos" pitchFamily="34" charset="-122"/>
                <a:cs typeface="Aptos" pitchFamily="34" charset="-120"/>
              </a:rPr>
              <a:t>GIAO DIỆN</a:t>
            </a:r>
            <a:endParaRPr lang="en-US" sz="1050" dirty="0"/>
          </a:p>
        </p:txBody>
      </p:sp>
      <p:sp>
        <p:nvSpPr>
          <p:cNvPr id="9" name="Shape 7"/>
          <p:cNvSpPr/>
          <p:nvPr/>
        </p:nvSpPr>
        <p:spPr>
          <a:xfrm>
            <a:off x="731520" y="2587752"/>
            <a:ext cx="1572768" cy="457200"/>
          </a:xfrm>
          <a:prstGeom prst="roundRect">
            <a:avLst>
              <a:gd name="adj" fmla="val 26000"/>
            </a:avLst>
          </a:prstGeom>
          <a:solidFill>
            <a:srgbClr val="4D73C9"/>
          </a:solidFill>
          <a:ln w="12700">
            <a:solidFill>
              <a:srgbClr val="4D73C9"/>
            </a:solidFill>
            <a:prstDash val="solid"/>
          </a:ln>
        </p:spPr>
      </p:sp>
      <p:sp>
        <p:nvSpPr>
          <p:cNvPr id="10" name="Text 8"/>
          <p:cNvSpPr txBox="1"/>
          <p:nvPr/>
        </p:nvSpPr>
        <p:spPr>
          <a:xfrm>
            <a:off x="822960" y="2633472"/>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b="1" dirty="0">
                <a:solidFill>
                  <a:srgbClr val="FFFFFF"/>
                </a:solidFill>
                <a:latin typeface="Aptos" pitchFamily="34" charset="0"/>
                <a:ea typeface="Aptos" pitchFamily="34" charset="-122"/>
                <a:cs typeface="Aptos" pitchFamily="34" charset="-120"/>
              </a:rPr>
              <a:t>Next.js 14</a:t>
            </a:r>
            <a:endParaRPr lang="en-US" sz="1070" dirty="0"/>
          </a:p>
        </p:txBody>
      </p:sp>
      <p:sp>
        <p:nvSpPr>
          <p:cNvPr id="11" name="Shape 9"/>
          <p:cNvSpPr/>
          <p:nvPr/>
        </p:nvSpPr>
        <p:spPr>
          <a:xfrm>
            <a:off x="731520" y="3246120"/>
            <a:ext cx="1572768" cy="457200"/>
          </a:xfrm>
          <a:prstGeom prst="roundRect">
            <a:avLst>
              <a:gd name="adj" fmla="val 26000"/>
            </a:avLst>
          </a:prstGeom>
          <a:solidFill>
            <a:srgbClr val="F5F8FD"/>
          </a:solidFill>
          <a:ln w="12700">
            <a:solidFill>
              <a:srgbClr val="CBD8ED"/>
            </a:solidFill>
            <a:prstDash val="solid"/>
          </a:ln>
        </p:spPr>
      </p:sp>
      <p:sp>
        <p:nvSpPr>
          <p:cNvPr id="12" name="Text 10"/>
          <p:cNvSpPr txBox="1"/>
          <p:nvPr/>
        </p:nvSpPr>
        <p:spPr>
          <a:xfrm>
            <a:off x="822960" y="3291840"/>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dirty="0">
                <a:solidFill>
                  <a:srgbClr val="253B5F"/>
                </a:solidFill>
                <a:latin typeface="Aptos" pitchFamily="34" charset="0"/>
                <a:ea typeface="Aptos" pitchFamily="34" charset="-122"/>
                <a:cs typeface="Aptos" pitchFamily="34" charset="-120"/>
              </a:rPr>
              <a:t>Bệnh nhân</a:t>
            </a:r>
            <a:endParaRPr lang="en-US" sz="1070" dirty="0"/>
          </a:p>
        </p:txBody>
      </p:sp>
      <p:sp>
        <p:nvSpPr>
          <p:cNvPr id="13" name="Shape 11"/>
          <p:cNvSpPr/>
          <p:nvPr/>
        </p:nvSpPr>
        <p:spPr>
          <a:xfrm>
            <a:off x="731520" y="3904488"/>
            <a:ext cx="1572768" cy="457200"/>
          </a:xfrm>
          <a:prstGeom prst="roundRect">
            <a:avLst>
              <a:gd name="adj" fmla="val 26000"/>
            </a:avLst>
          </a:prstGeom>
          <a:solidFill>
            <a:srgbClr val="F5F8FD"/>
          </a:solidFill>
          <a:ln w="12700">
            <a:solidFill>
              <a:srgbClr val="CBD8ED"/>
            </a:solidFill>
            <a:prstDash val="solid"/>
          </a:ln>
        </p:spPr>
      </p:sp>
      <p:sp>
        <p:nvSpPr>
          <p:cNvPr id="14" name="Text 12"/>
          <p:cNvSpPr txBox="1"/>
          <p:nvPr/>
        </p:nvSpPr>
        <p:spPr>
          <a:xfrm>
            <a:off x="822960" y="3950208"/>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dirty="0">
                <a:solidFill>
                  <a:srgbClr val="253B5F"/>
                </a:solidFill>
                <a:latin typeface="Aptos" pitchFamily="34" charset="0"/>
                <a:ea typeface="Aptos" pitchFamily="34" charset="-122"/>
                <a:cs typeface="Aptos" pitchFamily="34" charset="-120"/>
              </a:rPr>
              <a:t>Dược sĩ</a:t>
            </a:r>
            <a:endParaRPr lang="en-US" sz="1070" dirty="0"/>
          </a:p>
        </p:txBody>
      </p:sp>
      <p:sp>
        <p:nvSpPr>
          <p:cNvPr id="15" name="Shape 13"/>
          <p:cNvSpPr/>
          <p:nvPr/>
        </p:nvSpPr>
        <p:spPr>
          <a:xfrm>
            <a:off x="731520" y="4562856"/>
            <a:ext cx="1572768" cy="457200"/>
          </a:xfrm>
          <a:prstGeom prst="roundRect">
            <a:avLst>
              <a:gd name="adj" fmla="val 26000"/>
            </a:avLst>
          </a:prstGeom>
          <a:solidFill>
            <a:srgbClr val="F5F8FD"/>
          </a:solidFill>
          <a:ln w="12700">
            <a:solidFill>
              <a:srgbClr val="CBD8ED"/>
            </a:solidFill>
            <a:prstDash val="solid"/>
          </a:ln>
        </p:spPr>
      </p:sp>
      <p:sp>
        <p:nvSpPr>
          <p:cNvPr id="16" name="Text 14"/>
          <p:cNvSpPr txBox="1"/>
          <p:nvPr/>
        </p:nvSpPr>
        <p:spPr>
          <a:xfrm>
            <a:off x="822960" y="4608576"/>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dirty="0">
                <a:solidFill>
                  <a:srgbClr val="253B5F"/>
                </a:solidFill>
                <a:latin typeface="Aptos" pitchFamily="34" charset="0"/>
                <a:ea typeface="Aptos" pitchFamily="34" charset="-122"/>
                <a:cs typeface="Aptos" pitchFamily="34" charset="-120"/>
              </a:rPr>
              <a:t>Admin</a:t>
            </a:r>
            <a:endParaRPr lang="en-US" sz="1070" dirty="0"/>
          </a:p>
        </p:txBody>
      </p:sp>
      <p:sp>
        <p:nvSpPr>
          <p:cNvPr id="17" name="Shape 15"/>
          <p:cNvSpPr/>
          <p:nvPr/>
        </p:nvSpPr>
        <p:spPr>
          <a:xfrm>
            <a:off x="2578608" y="3703320"/>
            <a:ext cx="256032" cy="0"/>
          </a:xfrm>
          <a:prstGeom prst="line">
            <a:avLst/>
          </a:prstGeom>
          <a:noFill/>
          <a:ln w="22860">
            <a:solidFill>
              <a:srgbClr val="7899E8"/>
            </a:solidFill>
            <a:prstDash val="solid"/>
            <a:headEnd type="none"/>
            <a:tailEnd type="triangle"/>
          </a:ln>
        </p:spPr>
      </p:sp>
      <p:sp>
        <p:nvSpPr>
          <p:cNvPr id="18" name="Shape 16"/>
          <p:cNvSpPr/>
          <p:nvPr/>
        </p:nvSpPr>
        <p:spPr>
          <a:xfrm>
            <a:off x="2907792" y="1764792"/>
            <a:ext cx="1975104" cy="3886200"/>
          </a:xfrm>
          <a:prstGeom prst="roundRect">
            <a:avLst>
              <a:gd name="adj" fmla="val 9259"/>
            </a:avLst>
          </a:prstGeom>
          <a:solidFill>
            <a:srgbClr val="FFFFFF"/>
          </a:solidFill>
          <a:ln w="12700">
            <a:solidFill>
              <a:srgbClr val="CBD8ED"/>
            </a:solidFill>
            <a:prstDash val="solid"/>
          </a:ln>
        </p:spPr>
      </p:sp>
      <p:sp>
        <p:nvSpPr>
          <p:cNvPr id="19" name="Shape 17"/>
          <p:cNvSpPr/>
          <p:nvPr/>
        </p:nvSpPr>
        <p:spPr>
          <a:xfrm>
            <a:off x="2907792" y="1764792"/>
            <a:ext cx="1975104" cy="576072"/>
          </a:xfrm>
          <a:prstGeom prst="roundRect">
            <a:avLst>
              <a:gd name="adj" fmla="val 31746"/>
            </a:avLst>
          </a:prstGeom>
          <a:solidFill>
            <a:srgbClr val="8156BF"/>
          </a:solidFill>
          <a:ln w="12700">
            <a:solidFill>
              <a:srgbClr val="8156BF"/>
            </a:solidFill>
            <a:prstDash val="solid"/>
          </a:ln>
        </p:spPr>
      </p:sp>
      <p:sp>
        <p:nvSpPr>
          <p:cNvPr id="20" name="Shape 18"/>
          <p:cNvSpPr/>
          <p:nvPr/>
        </p:nvSpPr>
        <p:spPr>
          <a:xfrm>
            <a:off x="2907792" y="2103120"/>
            <a:ext cx="1975104" cy="237744"/>
          </a:xfrm>
          <a:prstGeom prst="rect">
            <a:avLst/>
          </a:prstGeom>
          <a:solidFill>
            <a:srgbClr val="8156BF"/>
          </a:solidFill>
          <a:ln w="12700">
            <a:solidFill>
              <a:srgbClr val="8156BF"/>
            </a:solidFill>
            <a:prstDash val="solid"/>
          </a:ln>
        </p:spPr>
      </p:sp>
      <p:sp>
        <p:nvSpPr>
          <p:cNvPr id="21" name="Text 19"/>
          <p:cNvSpPr txBox="1"/>
          <p:nvPr/>
        </p:nvSpPr>
        <p:spPr>
          <a:xfrm>
            <a:off x="3044952" y="1883664"/>
            <a:ext cx="1700784" cy="256032"/>
          </a:xfrm>
          <a:prstGeom prst="rect">
            <a:avLst/>
          </a:prstGeom>
          <a:noFill/>
          <a:ln/>
        </p:spPr>
        <p:txBody>
          <a:bodyPr wrap="square" lIns="0" tIns="0" rIns="0" bIns="0" rtlCol="0" anchor="ctr">
            <a:normAutofit/>
          </a:bodyPr>
          <a:lstStyle/>
          <a:p>
            <a:pPr algn="ctr" indent="0" marL="0">
              <a:lnSpc>
                <a:spcPct val="100000"/>
              </a:lnSpc>
              <a:buNone/>
            </a:pPr>
            <a:r>
              <a:rPr lang="en-US" sz="1050" b="1" spc="80" kern="0" dirty="0">
                <a:solidFill>
                  <a:srgbClr val="FFFFFF"/>
                </a:solidFill>
                <a:latin typeface="Aptos" pitchFamily="34" charset="0"/>
                <a:ea typeface="Aptos" pitchFamily="34" charset="-122"/>
                <a:cs typeface="Aptos" pitchFamily="34" charset="-120"/>
              </a:rPr>
              <a:t>BACKEND</a:t>
            </a:r>
            <a:endParaRPr lang="en-US" sz="1050" dirty="0"/>
          </a:p>
        </p:txBody>
      </p:sp>
      <p:sp>
        <p:nvSpPr>
          <p:cNvPr id="22" name="Shape 20"/>
          <p:cNvSpPr/>
          <p:nvPr/>
        </p:nvSpPr>
        <p:spPr>
          <a:xfrm>
            <a:off x="3108960" y="2587752"/>
            <a:ext cx="1572768" cy="457200"/>
          </a:xfrm>
          <a:prstGeom prst="roundRect">
            <a:avLst>
              <a:gd name="adj" fmla="val 26000"/>
            </a:avLst>
          </a:prstGeom>
          <a:solidFill>
            <a:srgbClr val="8156BF"/>
          </a:solidFill>
          <a:ln w="12700">
            <a:solidFill>
              <a:srgbClr val="8156BF"/>
            </a:solidFill>
            <a:prstDash val="solid"/>
          </a:ln>
        </p:spPr>
      </p:sp>
      <p:sp>
        <p:nvSpPr>
          <p:cNvPr id="23" name="Text 21"/>
          <p:cNvSpPr txBox="1"/>
          <p:nvPr/>
        </p:nvSpPr>
        <p:spPr>
          <a:xfrm>
            <a:off x="3200400" y="2633472"/>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b="1" dirty="0">
                <a:solidFill>
                  <a:srgbClr val="FFFFFF"/>
                </a:solidFill>
                <a:latin typeface="Aptos" pitchFamily="34" charset="0"/>
                <a:ea typeface="Aptos" pitchFamily="34" charset="-122"/>
                <a:cs typeface="Aptos" pitchFamily="34" charset="-120"/>
              </a:rPr>
              <a:t>FastAPI</a:t>
            </a:r>
            <a:endParaRPr lang="en-US" sz="1070" dirty="0"/>
          </a:p>
        </p:txBody>
      </p:sp>
      <p:sp>
        <p:nvSpPr>
          <p:cNvPr id="24" name="Shape 22"/>
          <p:cNvSpPr/>
          <p:nvPr/>
        </p:nvSpPr>
        <p:spPr>
          <a:xfrm>
            <a:off x="3108960" y="3246120"/>
            <a:ext cx="1572768" cy="457200"/>
          </a:xfrm>
          <a:prstGeom prst="roundRect">
            <a:avLst>
              <a:gd name="adj" fmla="val 26000"/>
            </a:avLst>
          </a:prstGeom>
          <a:solidFill>
            <a:srgbClr val="F5F8FD"/>
          </a:solidFill>
          <a:ln w="12700">
            <a:solidFill>
              <a:srgbClr val="CBD8ED"/>
            </a:solidFill>
            <a:prstDash val="solid"/>
          </a:ln>
        </p:spPr>
      </p:sp>
      <p:sp>
        <p:nvSpPr>
          <p:cNvPr id="25" name="Text 23"/>
          <p:cNvSpPr txBox="1"/>
          <p:nvPr/>
        </p:nvSpPr>
        <p:spPr>
          <a:xfrm>
            <a:off x="3200400" y="3291840"/>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dirty="0">
                <a:solidFill>
                  <a:srgbClr val="253B5F"/>
                </a:solidFill>
                <a:latin typeface="Aptos" pitchFamily="34" charset="0"/>
                <a:ea typeface="Aptos" pitchFamily="34" charset="-122"/>
                <a:cs typeface="Aptos" pitchFamily="34" charset="-120"/>
              </a:rPr>
              <a:t>Auth &amp; RBAC</a:t>
            </a:r>
            <a:endParaRPr lang="en-US" sz="1070" dirty="0"/>
          </a:p>
        </p:txBody>
      </p:sp>
      <p:sp>
        <p:nvSpPr>
          <p:cNvPr id="26" name="Shape 24"/>
          <p:cNvSpPr/>
          <p:nvPr/>
        </p:nvSpPr>
        <p:spPr>
          <a:xfrm>
            <a:off x="3108960" y="3904488"/>
            <a:ext cx="1572768" cy="457200"/>
          </a:xfrm>
          <a:prstGeom prst="roundRect">
            <a:avLst>
              <a:gd name="adj" fmla="val 26000"/>
            </a:avLst>
          </a:prstGeom>
          <a:solidFill>
            <a:srgbClr val="F5F8FD"/>
          </a:solidFill>
          <a:ln w="12700">
            <a:solidFill>
              <a:srgbClr val="CBD8ED"/>
            </a:solidFill>
            <a:prstDash val="solid"/>
          </a:ln>
        </p:spPr>
      </p:sp>
      <p:sp>
        <p:nvSpPr>
          <p:cNvPr id="27" name="Text 25"/>
          <p:cNvSpPr txBox="1"/>
          <p:nvPr/>
        </p:nvSpPr>
        <p:spPr>
          <a:xfrm>
            <a:off x="3200400" y="3950208"/>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dirty="0">
                <a:solidFill>
                  <a:srgbClr val="253B5F"/>
                </a:solidFill>
                <a:latin typeface="Aptos" pitchFamily="34" charset="0"/>
                <a:ea typeface="Aptos" pitchFamily="34" charset="-122"/>
                <a:cs typeface="Aptos" pitchFamily="34" charset="-120"/>
              </a:rPr>
              <a:t>Product Resolver</a:t>
            </a:r>
            <a:endParaRPr lang="en-US" sz="1070" dirty="0"/>
          </a:p>
        </p:txBody>
      </p:sp>
      <p:sp>
        <p:nvSpPr>
          <p:cNvPr id="28" name="Shape 26"/>
          <p:cNvSpPr/>
          <p:nvPr/>
        </p:nvSpPr>
        <p:spPr>
          <a:xfrm>
            <a:off x="3108960" y="4562856"/>
            <a:ext cx="1572768" cy="457200"/>
          </a:xfrm>
          <a:prstGeom prst="roundRect">
            <a:avLst>
              <a:gd name="adj" fmla="val 26000"/>
            </a:avLst>
          </a:prstGeom>
          <a:solidFill>
            <a:srgbClr val="F5F8FD"/>
          </a:solidFill>
          <a:ln w="12700">
            <a:solidFill>
              <a:srgbClr val="CBD8ED"/>
            </a:solidFill>
            <a:prstDash val="solid"/>
          </a:ln>
        </p:spPr>
      </p:sp>
      <p:sp>
        <p:nvSpPr>
          <p:cNvPr id="29" name="Text 27"/>
          <p:cNvSpPr txBox="1"/>
          <p:nvPr/>
        </p:nvSpPr>
        <p:spPr>
          <a:xfrm>
            <a:off x="3200400" y="4608576"/>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dirty="0">
                <a:solidFill>
                  <a:srgbClr val="253B5F"/>
                </a:solidFill>
                <a:latin typeface="Aptos" pitchFamily="34" charset="0"/>
                <a:ea typeface="Aptos" pitchFamily="34" charset="-122"/>
                <a:cs typeface="Aptos" pitchFamily="34" charset="-120"/>
              </a:rPr>
              <a:t>REST API</a:t>
            </a:r>
            <a:endParaRPr lang="en-US" sz="1070" dirty="0"/>
          </a:p>
        </p:txBody>
      </p:sp>
      <p:sp>
        <p:nvSpPr>
          <p:cNvPr id="30" name="Shape 28"/>
          <p:cNvSpPr/>
          <p:nvPr/>
        </p:nvSpPr>
        <p:spPr>
          <a:xfrm>
            <a:off x="4956048" y="3703320"/>
            <a:ext cx="256032" cy="0"/>
          </a:xfrm>
          <a:prstGeom prst="line">
            <a:avLst/>
          </a:prstGeom>
          <a:noFill/>
          <a:ln w="22860">
            <a:solidFill>
              <a:srgbClr val="7899E8"/>
            </a:solidFill>
            <a:prstDash val="solid"/>
            <a:headEnd type="none"/>
            <a:tailEnd type="triangle"/>
          </a:ln>
        </p:spPr>
      </p:sp>
      <p:sp>
        <p:nvSpPr>
          <p:cNvPr id="31" name="Shape 29"/>
          <p:cNvSpPr/>
          <p:nvPr/>
        </p:nvSpPr>
        <p:spPr>
          <a:xfrm>
            <a:off x="5285232" y="1764792"/>
            <a:ext cx="1975104" cy="3886200"/>
          </a:xfrm>
          <a:prstGeom prst="roundRect">
            <a:avLst>
              <a:gd name="adj" fmla="val 9259"/>
            </a:avLst>
          </a:prstGeom>
          <a:solidFill>
            <a:srgbClr val="FFFFFF"/>
          </a:solidFill>
          <a:ln w="12700">
            <a:solidFill>
              <a:srgbClr val="CBD8ED"/>
            </a:solidFill>
            <a:prstDash val="solid"/>
          </a:ln>
        </p:spPr>
      </p:sp>
      <p:sp>
        <p:nvSpPr>
          <p:cNvPr id="32" name="Shape 30"/>
          <p:cNvSpPr/>
          <p:nvPr/>
        </p:nvSpPr>
        <p:spPr>
          <a:xfrm>
            <a:off x="5285232" y="1764792"/>
            <a:ext cx="1975104" cy="576072"/>
          </a:xfrm>
          <a:prstGeom prst="roundRect">
            <a:avLst>
              <a:gd name="adj" fmla="val 31746"/>
            </a:avLst>
          </a:prstGeom>
          <a:solidFill>
            <a:srgbClr val="C68A2E"/>
          </a:solidFill>
          <a:ln w="12700">
            <a:solidFill>
              <a:srgbClr val="C68A2E"/>
            </a:solidFill>
            <a:prstDash val="solid"/>
          </a:ln>
        </p:spPr>
      </p:sp>
      <p:sp>
        <p:nvSpPr>
          <p:cNvPr id="33" name="Shape 31"/>
          <p:cNvSpPr/>
          <p:nvPr/>
        </p:nvSpPr>
        <p:spPr>
          <a:xfrm>
            <a:off x="5285232" y="2103120"/>
            <a:ext cx="1975104" cy="237744"/>
          </a:xfrm>
          <a:prstGeom prst="rect">
            <a:avLst/>
          </a:prstGeom>
          <a:solidFill>
            <a:srgbClr val="C68A2E"/>
          </a:solidFill>
          <a:ln w="12700">
            <a:solidFill>
              <a:srgbClr val="C68A2E"/>
            </a:solidFill>
            <a:prstDash val="solid"/>
          </a:ln>
        </p:spPr>
      </p:sp>
      <p:sp>
        <p:nvSpPr>
          <p:cNvPr id="34" name="Text 32"/>
          <p:cNvSpPr txBox="1"/>
          <p:nvPr/>
        </p:nvSpPr>
        <p:spPr>
          <a:xfrm>
            <a:off x="5422392" y="1883664"/>
            <a:ext cx="1700784" cy="256032"/>
          </a:xfrm>
          <a:prstGeom prst="rect">
            <a:avLst/>
          </a:prstGeom>
          <a:noFill/>
          <a:ln/>
        </p:spPr>
        <p:txBody>
          <a:bodyPr wrap="square" lIns="0" tIns="0" rIns="0" bIns="0" rtlCol="0" anchor="ctr">
            <a:normAutofit/>
          </a:bodyPr>
          <a:lstStyle/>
          <a:p>
            <a:pPr algn="ctr" indent="0" marL="0">
              <a:lnSpc>
                <a:spcPct val="100000"/>
              </a:lnSpc>
              <a:buNone/>
            </a:pPr>
            <a:r>
              <a:rPr lang="en-US" sz="1050" b="1" spc="80" kern="0" dirty="0">
                <a:solidFill>
                  <a:srgbClr val="FFFFFF"/>
                </a:solidFill>
                <a:latin typeface="Aptos" pitchFamily="34" charset="0"/>
                <a:ea typeface="Aptos" pitchFamily="34" charset="-122"/>
                <a:cs typeface="Aptos" pitchFamily="34" charset="-120"/>
              </a:rPr>
              <a:t>AI AGENT</a:t>
            </a:r>
            <a:endParaRPr lang="en-US" sz="1050" dirty="0"/>
          </a:p>
        </p:txBody>
      </p:sp>
      <p:sp>
        <p:nvSpPr>
          <p:cNvPr id="35" name="Shape 33"/>
          <p:cNvSpPr/>
          <p:nvPr/>
        </p:nvSpPr>
        <p:spPr>
          <a:xfrm>
            <a:off x="5486400" y="2587752"/>
            <a:ext cx="1572768" cy="457200"/>
          </a:xfrm>
          <a:prstGeom prst="roundRect">
            <a:avLst>
              <a:gd name="adj" fmla="val 26000"/>
            </a:avLst>
          </a:prstGeom>
          <a:solidFill>
            <a:srgbClr val="C68A2E"/>
          </a:solidFill>
          <a:ln w="12700">
            <a:solidFill>
              <a:srgbClr val="C68A2E"/>
            </a:solidFill>
            <a:prstDash val="solid"/>
          </a:ln>
        </p:spPr>
      </p:sp>
      <p:sp>
        <p:nvSpPr>
          <p:cNvPr id="36" name="Text 34"/>
          <p:cNvSpPr txBox="1"/>
          <p:nvPr/>
        </p:nvSpPr>
        <p:spPr>
          <a:xfrm>
            <a:off x="5577840" y="2633472"/>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b="1" dirty="0">
                <a:solidFill>
                  <a:srgbClr val="FFFFFF"/>
                </a:solidFill>
                <a:latin typeface="Aptos" pitchFamily="34" charset="0"/>
                <a:ea typeface="Aptos" pitchFamily="34" charset="-122"/>
                <a:cs typeface="Aptos" pitchFamily="34" charset="-120"/>
              </a:rPr>
              <a:t>LangGraph</a:t>
            </a:r>
            <a:endParaRPr lang="en-US" sz="1070" dirty="0"/>
          </a:p>
        </p:txBody>
      </p:sp>
      <p:sp>
        <p:nvSpPr>
          <p:cNvPr id="37" name="Shape 35"/>
          <p:cNvSpPr/>
          <p:nvPr/>
        </p:nvSpPr>
        <p:spPr>
          <a:xfrm>
            <a:off x="5486400" y="3246120"/>
            <a:ext cx="1572768" cy="457200"/>
          </a:xfrm>
          <a:prstGeom prst="roundRect">
            <a:avLst>
              <a:gd name="adj" fmla="val 26000"/>
            </a:avLst>
          </a:prstGeom>
          <a:solidFill>
            <a:srgbClr val="F5F8FD"/>
          </a:solidFill>
          <a:ln w="12700">
            <a:solidFill>
              <a:srgbClr val="CBD8ED"/>
            </a:solidFill>
            <a:prstDash val="solid"/>
          </a:ln>
        </p:spPr>
      </p:sp>
      <p:sp>
        <p:nvSpPr>
          <p:cNvPr id="38" name="Text 36"/>
          <p:cNvSpPr txBox="1"/>
          <p:nvPr/>
        </p:nvSpPr>
        <p:spPr>
          <a:xfrm>
            <a:off x="5577840" y="3291840"/>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dirty="0">
                <a:solidFill>
                  <a:srgbClr val="253B5F"/>
                </a:solidFill>
                <a:latin typeface="Aptos" pitchFamily="34" charset="0"/>
                <a:ea typeface="Aptos" pitchFamily="34" charset="-122"/>
                <a:cs typeface="Aptos" pitchFamily="34" charset="-120"/>
              </a:rPr>
              <a:t>5 nodes</a:t>
            </a:r>
            <a:endParaRPr lang="en-US" sz="1070" dirty="0"/>
          </a:p>
        </p:txBody>
      </p:sp>
      <p:sp>
        <p:nvSpPr>
          <p:cNvPr id="39" name="Shape 37"/>
          <p:cNvSpPr/>
          <p:nvPr/>
        </p:nvSpPr>
        <p:spPr>
          <a:xfrm>
            <a:off x="5486400" y="3904488"/>
            <a:ext cx="1572768" cy="457200"/>
          </a:xfrm>
          <a:prstGeom prst="roundRect">
            <a:avLst>
              <a:gd name="adj" fmla="val 26000"/>
            </a:avLst>
          </a:prstGeom>
          <a:solidFill>
            <a:srgbClr val="F5F8FD"/>
          </a:solidFill>
          <a:ln w="12700">
            <a:solidFill>
              <a:srgbClr val="CBD8ED"/>
            </a:solidFill>
            <a:prstDash val="solid"/>
          </a:ln>
        </p:spPr>
      </p:sp>
      <p:sp>
        <p:nvSpPr>
          <p:cNvPr id="40" name="Text 38"/>
          <p:cNvSpPr txBox="1"/>
          <p:nvPr/>
        </p:nvSpPr>
        <p:spPr>
          <a:xfrm>
            <a:off x="5577840" y="3950208"/>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dirty="0">
                <a:solidFill>
                  <a:srgbClr val="253B5F"/>
                </a:solidFill>
                <a:latin typeface="Aptos" pitchFamily="34" charset="0"/>
                <a:ea typeface="Aptos" pitchFamily="34" charset="-122"/>
                <a:cs typeface="Aptos" pitchFamily="34" charset="-120"/>
              </a:rPr>
              <a:t>Guardrail</a:t>
            </a:r>
            <a:endParaRPr lang="en-US" sz="1070" dirty="0"/>
          </a:p>
        </p:txBody>
      </p:sp>
      <p:sp>
        <p:nvSpPr>
          <p:cNvPr id="41" name="Shape 39"/>
          <p:cNvSpPr/>
          <p:nvPr/>
        </p:nvSpPr>
        <p:spPr>
          <a:xfrm>
            <a:off x="5486400" y="4562856"/>
            <a:ext cx="1572768" cy="457200"/>
          </a:xfrm>
          <a:prstGeom prst="roundRect">
            <a:avLst>
              <a:gd name="adj" fmla="val 26000"/>
            </a:avLst>
          </a:prstGeom>
          <a:solidFill>
            <a:srgbClr val="F5F8FD"/>
          </a:solidFill>
          <a:ln w="12700">
            <a:solidFill>
              <a:srgbClr val="CBD8ED"/>
            </a:solidFill>
            <a:prstDash val="solid"/>
          </a:ln>
        </p:spPr>
      </p:sp>
      <p:sp>
        <p:nvSpPr>
          <p:cNvPr id="42" name="Text 40"/>
          <p:cNvSpPr txBox="1"/>
          <p:nvPr/>
        </p:nvSpPr>
        <p:spPr>
          <a:xfrm>
            <a:off x="5577840" y="4608576"/>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dirty="0">
                <a:solidFill>
                  <a:srgbClr val="253B5F"/>
                </a:solidFill>
                <a:latin typeface="Aptos" pitchFamily="34" charset="0"/>
                <a:ea typeface="Aptos" pitchFamily="34" charset="-122"/>
                <a:cs typeface="Aptos" pitchFamily="34" charset="-120"/>
              </a:rPr>
              <a:t>DeepSeek</a:t>
            </a:r>
            <a:endParaRPr lang="en-US" sz="1070" dirty="0"/>
          </a:p>
        </p:txBody>
      </p:sp>
      <p:sp>
        <p:nvSpPr>
          <p:cNvPr id="43" name="Shape 41"/>
          <p:cNvSpPr/>
          <p:nvPr/>
        </p:nvSpPr>
        <p:spPr>
          <a:xfrm>
            <a:off x="7333488" y="3703320"/>
            <a:ext cx="256032" cy="0"/>
          </a:xfrm>
          <a:prstGeom prst="line">
            <a:avLst/>
          </a:prstGeom>
          <a:noFill/>
          <a:ln w="22860">
            <a:solidFill>
              <a:srgbClr val="7899E8"/>
            </a:solidFill>
            <a:prstDash val="solid"/>
            <a:headEnd type="none"/>
            <a:tailEnd type="triangle"/>
          </a:ln>
        </p:spPr>
      </p:sp>
      <p:sp>
        <p:nvSpPr>
          <p:cNvPr id="44" name="Shape 42"/>
          <p:cNvSpPr/>
          <p:nvPr/>
        </p:nvSpPr>
        <p:spPr>
          <a:xfrm>
            <a:off x="7662672" y="1764792"/>
            <a:ext cx="1975104" cy="3886200"/>
          </a:xfrm>
          <a:prstGeom prst="roundRect">
            <a:avLst>
              <a:gd name="adj" fmla="val 9259"/>
            </a:avLst>
          </a:prstGeom>
          <a:solidFill>
            <a:srgbClr val="FFFFFF"/>
          </a:solidFill>
          <a:ln w="12700">
            <a:solidFill>
              <a:srgbClr val="CBD8ED"/>
            </a:solidFill>
            <a:prstDash val="solid"/>
          </a:ln>
        </p:spPr>
      </p:sp>
      <p:sp>
        <p:nvSpPr>
          <p:cNvPr id="45" name="Shape 43"/>
          <p:cNvSpPr/>
          <p:nvPr/>
        </p:nvSpPr>
        <p:spPr>
          <a:xfrm>
            <a:off x="7662672" y="1764792"/>
            <a:ext cx="1975104" cy="576072"/>
          </a:xfrm>
          <a:prstGeom prst="roundRect">
            <a:avLst>
              <a:gd name="adj" fmla="val 31746"/>
            </a:avLst>
          </a:prstGeom>
          <a:solidFill>
            <a:srgbClr val="2C9A83"/>
          </a:solidFill>
          <a:ln w="12700">
            <a:solidFill>
              <a:srgbClr val="2C9A83"/>
            </a:solidFill>
            <a:prstDash val="solid"/>
          </a:ln>
        </p:spPr>
      </p:sp>
      <p:sp>
        <p:nvSpPr>
          <p:cNvPr id="46" name="Shape 44"/>
          <p:cNvSpPr/>
          <p:nvPr/>
        </p:nvSpPr>
        <p:spPr>
          <a:xfrm>
            <a:off x="7662672" y="2103120"/>
            <a:ext cx="1975104" cy="237744"/>
          </a:xfrm>
          <a:prstGeom prst="rect">
            <a:avLst/>
          </a:prstGeom>
          <a:solidFill>
            <a:srgbClr val="2C9A83"/>
          </a:solidFill>
          <a:ln w="12700">
            <a:solidFill>
              <a:srgbClr val="2C9A83"/>
            </a:solidFill>
            <a:prstDash val="solid"/>
          </a:ln>
        </p:spPr>
      </p:sp>
      <p:sp>
        <p:nvSpPr>
          <p:cNvPr id="47" name="Text 45"/>
          <p:cNvSpPr txBox="1"/>
          <p:nvPr/>
        </p:nvSpPr>
        <p:spPr>
          <a:xfrm>
            <a:off x="7799832" y="1883664"/>
            <a:ext cx="1700784" cy="256032"/>
          </a:xfrm>
          <a:prstGeom prst="rect">
            <a:avLst/>
          </a:prstGeom>
          <a:noFill/>
          <a:ln/>
        </p:spPr>
        <p:txBody>
          <a:bodyPr wrap="square" lIns="0" tIns="0" rIns="0" bIns="0" rtlCol="0" anchor="ctr">
            <a:normAutofit/>
          </a:bodyPr>
          <a:lstStyle/>
          <a:p>
            <a:pPr algn="ctr" indent="0" marL="0">
              <a:lnSpc>
                <a:spcPct val="100000"/>
              </a:lnSpc>
              <a:buNone/>
            </a:pPr>
            <a:r>
              <a:rPr lang="en-US" sz="1050" b="1" spc="80" kern="0" dirty="0">
                <a:solidFill>
                  <a:srgbClr val="FFFFFF"/>
                </a:solidFill>
                <a:latin typeface="Aptos" pitchFamily="34" charset="0"/>
                <a:ea typeface="Aptos" pitchFamily="34" charset="-122"/>
                <a:cs typeface="Aptos" pitchFamily="34" charset="-120"/>
              </a:rPr>
              <a:t>DỮ LIỆU</a:t>
            </a:r>
            <a:endParaRPr lang="en-US" sz="1050" dirty="0"/>
          </a:p>
        </p:txBody>
      </p:sp>
      <p:sp>
        <p:nvSpPr>
          <p:cNvPr id="48" name="Shape 46"/>
          <p:cNvSpPr/>
          <p:nvPr/>
        </p:nvSpPr>
        <p:spPr>
          <a:xfrm>
            <a:off x="7863840" y="2587752"/>
            <a:ext cx="1572768" cy="457200"/>
          </a:xfrm>
          <a:prstGeom prst="roundRect">
            <a:avLst>
              <a:gd name="adj" fmla="val 26000"/>
            </a:avLst>
          </a:prstGeom>
          <a:solidFill>
            <a:srgbClr val="2C9A83"/>
          </a:solidFill>
          <a:ln w="12700">
            <a:solidFill>
              <a:srgbClr val="2C9A83"/>
            </a:solidFill>
            <a:prstDash val="solid"/>
          </a:ln>
        </p:spPr>
      </p:sp>
      <p:sp>
        <p:nvSpPr>
          <p:cNvPr id="49" name="Text 47"/>
          <p:cNvSpPr txBox="1"/>
          <p:nvPr/>
        </p:nvSpPr>
        <p:spPr>
          <a:xfrm>
            <a:off x="7955280" y="2633472"/>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b="1" dirty="0">
                <a:solidFill>
                  <a:srgbClr val="FFFFFF"/>
                </a:solidFill>
                <a:latin typeface="Aptos" pitchFamily="34" charset="0"/>
                <a:ea typeface="Aptos" pitchFamily="34" charset="-122"/>
                <a:cs typeface="Aptos" pitchFamily="34" charset="-120"/>
              </a:rPr>
              <a:t>DDInter 2.0</a:t>
            </a:r>
            <a:endParaRPr lang="en-US" sz="1070" dirty="0"/>
          </a:p>
        </p:txBody>
      </p:sp>
      <p:sp>
        <p:nvSpPr>
          <p:cNvPr id="50" name="Shape 48"/>
          <p:cNvSpPr/>
          <p:nvPr/>
        </p:nvSpPr>
        <p:spPr>
          <a:xfrm>
            <a:off x="7863840" y="3246120"/>
            <a:ext cx="1572768" cy="457200"/>
          </a:xfrm>
          <a:prstGeom prst="roundRect">
            <a:avLst>
              <a:gd name="adj" fmla="val 26000"/>
            </a:avLst>
          </a:prstGeom>
          <a:solidFill>
            <a:srgbClr val="F5F8FD"/>
          </a:solidFill>
          <a:ln w="12700">
            <a:solidFill>
              <a:srgbClr val="CBD8ED"/>
            </a:solidFill>
            <a:prstDash val="solid"/>
          </a:ln>
        </p:spPr>
      </p:sp>
      <p:sp>
        <p:nvSpPr>
          <p:cNvPr id="51" name="Text 49"/>
          <p:cNvSpPr txBox="1"/>
          <p:nvPr/>
        </p:nvSpPr>
        <p:spPr>
          <a:xfrm>
            <a:off x="7955280" y="3291840"/>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dirty="0">
                <a:solidFill>
                  <a:srgbClr val="253B5F"/>
                </a:solidFill>
                <a:latin typeface="Aptos" pitchFamily="34" charset="0"/>
                <a:ea typeface="Aptos" pitchFamily="34" charset="-122"/>
                <a:cs typeface="Aptos" pitchFamily="34" charset="-120"/>
              </a:rPr>
              <a:t>PostgreSQL</a:t>
            </a:r>
            <a:endParaRPr lang="en-US" sz="1070" dirty="0"/>
          </a:p>
        </p:txBody>
      </p:sp>
      <p:sp>
        <p:nvSpPr>
          <p:cNvPr id="52" name="Shape 50"/>
          <p:cNvSpPr/>
          <p:nvPr/>
        </p:nvSpPr>
        <p:spPr>
          <a:xfrm>
            <a:off x="7863840" y="3904488"/>
            <a:ext cx="1572768" cy="457200"/>
          </a:xfrm>
          <a:prstGeom prst="roundRect">
            <a:avLst>
              <a:gd name="adj" fmla="val 26000"/>
            </a:avLst>
          </a:prstGeom>
          <a:solidFill>
            <a:srgbClr val="F5F8FD"/>
          </a:solidFill>
          <a:ln w="12700">
            <a:solidFill>
              <a:srgbClr val="CBD8ED"/>
            </a:solidFill>
            <a:prstDash val="solid"/>
          </a:ln>
        </p:spPr>
      </p:sp>
      <p:sp>
        <p:nvSpPr>
          <p:cNvPr id="53" name="Text 51"/>
          <p:cNvSpPr txBox="1"/>
          <p:nvPr/>
        </p:nvSpPr>
        <p:spPr>
          <a:xfrm>
            <a:off x="7955280" y="3950208"/>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dirty="0">
                <a:solidFill>
                  <a:srgbClr val="253B5F"/>
                </a:solidFill>
                <a:latin typeface="Aptos" pitchFamily="34" charset="0"/>
                <a:ea typeface="Aptos" pitchFamily="34" charset="-122"/>
                <a:cs typeface="Aptos" pitchFamily="34" charset="-120"/>
              </a:rPr>
              <a:t>SQLAlchemy</a:t>
            </a:r>
            <a:endParaRPr lang="en-US" sz="1070" dirty="0"/>
          </a:p>
        </p:txBody>
      </p:sp>
      <p:sp>
        <p:nvSpPr>
          <p:cNvPr id="54" name="Shape 52"/>
          <p:cNvSpPr/>
          <p:nvPr/>
        </p:nvSpPr>
        <p:spPr>
          <a:xfrm>
            <a:off x="7863840" y="4562856"/>
            <a:ext cx="1572768" cy="457200"/>
          </a:xfrm>
          <a:prstGeom prst="roundRect">
            <a:avLst>
              <a:gd name="adj" fmla="val 26000"/>
            </a:avLst>
          </a:prstGeom>
          <a:solidFill>
            <a:srgbClr val="F5F8FD"/>
          </a:solidFill>
          <a:ln w="12700">
            <a:solidFill>
              <a:srgbClr val="CBD8ED"/>
            </a:solidFill>
            <a:prstDash val="solid"/>
          </a:ln>
        </p:spPr>
      </p:sp>
      <p:sp>
        <p:nvSpPr>
          <p:cNvPr id="55" name="Text 53"/>
          <p:cNvSpPr txBox="1"/>
          <p:nvPr/>
        </p:nvSpPr>
        <p:spPr>
          <a:xfrm>
            <a:off x="7955280" y="4608576"/>
            <a:ext cx="1389888" cy="329184"/>
          </a:xfrm>
          <a:prstGeom prst="rect">
            <a:avLst/>
          </a:prstGeom>
          <a:noFill/>
          <a:ln/>
        </p:spPr>
        <p:txBody>
          <a:bodyPr wrap="square" lIns="0" tIns="0" rIns="0" bIns="0" rtlCol="0" anchor="ctr">
            <a:normAutofit/>
          </a:bodyPr>
          <a:lstStyle/>
          <a:p>
            <a:pPr algn="ctr" indent="0" marL="0">
              <a:lnSpc>
                <a:spcPct val="100000"/>
              </a:lnSpc>
              <a:buNone/>
            </a:pPr>
            <a:r>
              <a:rPr lang="en-US" sz="1070" dirty="0">
                <a:solidFill>
                  <a:srgbClr val="253B5F"/>
                </a:solidFill>
                <a:latin typeface="Aptos" pitchFamily="34" charset="0"/>
                <a:ea typeface="Aptos" pitchFamily="34" charset="-122"/>
                <a:cs typeface="Aptos" pitchFamily="34" charset="-120"/>
              </a:rPr>
              <a:t>Lịch sử</a:t>
            </a:r>
            <a:endParaRPr lang="en-US" sz="1070" dirty="0"/>
          </a:p>
        </p:txBody>
      </p:sp>
      <p:sp>
        <p:nvSpPr>
          <p:cNvPr id="56" name="Shape 54"/>
          <p:cNvSpPr/>
          <p:nvPr/>
        </p:nvSpPr>
        <p:spPr>
          <a:xfrm>
            <a:off x="10040112" y="1965960"/>
            <a:ext cx="1618488" cy="1444752"/>
          </a:xfrm>
          <a:prstGeom prst="roundRect">
            <a:avLst>
              <a:gd name="adj" fmla="val 11392"/>
            </a:avLst>
          </a:prstGeom>
          <a:solidFill>
            <a:srgbClr val="11284C"/>
          </a:solidFill>
          <a:ln w="12700">
            <a:solidFill>
              <a:srgbClr val="11284C"/>
            </a:solidFill>
            <a:prstDash val="solid"/>
          </a:ln>
        </p:spPr>
      </p:sp>
      <p:sp>
        <p:nvSpPr>
          <p:cNvPr id="57" name="Text 55"/>
          <p:cNvSpPr txBox="1"/>
          <p:nvPr/>
        </p:nvSpPr>
        <p:spPr>
          <a:xfrm>
            <a:off x="10241280" y="2176272"/>
            <a:ext cx="1216152" cy="420624"/>
          </a:xfrm>
          <a:prstGeom prst="rect">
            <a:avLst/>
          </a:prstGeom>
          <a:noFill/>
          <a:ln/>
        </p:spPr>
        <p:txBody>
          <a:bodyPr wrap="square" lIns="0" tIns="0" rIns="0" bIns="0" rtlCol="0" anchor="ctr">
            <a:normAutofit/>
          </a:bodyPr>
          <a:lstStyle/>
          <a:p>
            <a:pPr algn="ctr" indent="0" marL="0">
              <a:lnSpc>
                <a:spcPct val="100000"/>
              </a:lnSpc>
              <a:buNone/>
            </a:pPr>
            <a:r>
              <a:rPr lang="en-US" sz="950" b="1" dirty="0">
                <a:solidFill>
                  <a:srgbClr val="9AB6F4"/>
                </a:solidFill>
                <a:latin typeface="Aptos" pitchFamily="34" charset="0"/>
                <a:ea typeface="Aptos" pitchFamily="34" charset="-122"/>
                <a:cs typeface="Aptos" pitchFamily="34" charset="-120"/>
              </a:rPr>
              <a:t>DỊCH VỤ</a:t>
            </a:r>
            <a:endParaRPr lang="en-US" sz="950" dirty="0"/>
          </a:p>
          <a:p>
            <a:pPr algn="ctr" indent="0" marL="0">
              <a:lnSpc>
                <a:spcPct val="100000"/>
              </a:lnSpc>
              <a:buNone/>
            </a:pPr>
            <a:r>
              <a:rPr lang="en-US" sz="950" b="1" dirty="0">
                <a:solidFill>
                  <a:srgbClr val="9AB6F4"/>
                </a:solidFill>
                <a:latin typeface="Aptos" pitchFamily="34" charset="0"/>
                <a:ea typeface="Aptos" pitchFamily="34" charset="-122"/>
                <a:cs typeface="Aptos" pitchFamily="34" charset="-120"/>
              </a:rPr>
              <a:t>BÊN NGOÀI</a:t>
            </a:r>
            <a:endParaRPr lang="en-US" sz="950" dirty="0"/>
          </a:p>
        </p:txBody>
      </p:sp>
      <p:sp>
        <p:nvSpPr>
          <p:cNvPr id="58" name="Text 56"/>
          <p:cNvSpPr txBox="1"/>
          <p:nvPr/>
        </p:nvSpPr>
        <p:spPr>
          <a:xfrm>
            <a:off x="10204704" y="2816352"/>
            <a:ext cx="1289304" cy="256032"/>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FFFFFF"/>
                </a:solidFill>
                <a:latin typeface="Aptos" pitchFamily="34" charset="0"/>
                <a:ea typeface="Aptos" pitchFamily="34" charset="-122"/>
                <a:cs typeface="Aptos" pitchFamily="34" charset="-120"/>
              </a:rPr>
              <a:t>DeepSeek API</a:t>
            </a:r>
            <a:endParaRPr lang="en-US" sz="1100" dirty="0"/>
          </a:p>
        </p:txBody>
      </p:sp>
      <p:sp>
        <p:nvSpPr>
          <p:cNvPr id="59" name="Shape 57"/>
          <p:cNvSpPr/>
          <p:nvPr/>
        </p:nvSpPr>
        <p:spPr>
          <a:xfrm>
            <a:off x="7278624" y="2907792"/>
            <a:ext cx="2688336" cy="0"/>
          </a:xfrm>
          <a:prstGeom prst="line">
            <a:avLst/>
          </a:prstGeom>
          <a:noFill/>
          <a:ln w="20320">
            <a:solidFill>
              <a:srgbClr val="C68A2E"/>
            </a:solidFill>
            <a:prstDash val="solid"/>
            <a:headEnd type="none"/>
            <a:tailEnd type="triangle"/>
          </a:ln>
        </p:spPr>
      </p:sp>
      <p:sp>
        <p:nvSpPr>
          <p:cNvPr id="60" name="Shape 58"/>
          <p:cNvSpPr/>
          <p:nvPr/>
        </p:nvSpPr>
        <p:spPr>
          <a:xfrm>
            <a:off x="10040112" y="3794760"/>
            <a:ext cx="1618488" cy="1856232"/>
          </a:xfrm>
          <a:prstGeom prst="roundRect">
            <a:avLst>
              <a:gd name="adj" fmla="val 10169"/>
            </a:avLst>
          </a:prstGeom>
          <a:solidFill>
            <a:srgbClr val="E9F0FF"/>
          </a:solidFill>
          <a:ln w="12700">
            <a:solidFill>
              <a:srgbClr val="CBD8ED"/>
            </a:solidFill>
            <a:prstDash val="solid"/>
          </a:ln>
        </p:spPr>
      </p:sp>
      <p:sp>
        <p:nvSpPr>
          <p:cNvPr id="61" name="Text 59"/>
          <p:cNvSpPr txBox="1"/>
          <p:nvPr/>
        </p:nvSpPr>
        <p:spPr>
          <a:xfrm>
            <a:off x="10222992" y="4005072"/>
            <a:ext cx="1252728" cy="237744"/>
          </a:xfrm>
          <a:prstGeom prst="rect">
            <a:avLst/>
          </a:prstGeom>
          <a:noFill/>
          <a:ln/>
        </p:spPr>
        <p:txBody>
          <a:bodyPr wrap="square" lIns="0" tIns="0" rIns="0" bIns="0" rtlCol="0" anchor="ctr">
            <a:normAutofit/>
          </a:bodyPr>
          <a:lstStyle/>
          <a:p>
            <a:pPr algn="ctr" indent="0" marL="0">
              <a:lnSpc>
                <a:spcPct val="100000"/>
              </a:lnSpc>
              <a:buNone/>
            </a:pPr>
            <a:r>
              <a:rPr lang="en-US" sz="950" b="1" spc="80" kern="0" dirty="0">
                <a:solidFill>
                  <a:srgbClr val="4D73C9"/>
                </a:solidFill>
                <a:latin typeface="Aptos" pitchFamily="34" charset="0"/>
                <a:ea typeface="Aptos" pitchFamily="34" charset="-122"/>
                <a:cs typeface="Aptos" pitchFamily="34" charset="-120"/>
              </a:rPr>
              <a:t>TRIỂN KHAI</a:t>
            </a:r>
            <a:endParaRPr lang="en-US" sz="950" dirty="0"/>
          </a:p>
        </p:txBody>
      </p:sp>
      <p:sp>
        <p:nvSpPr>
          <p:cNvPr id="62" name="Text 60"/>
          <p:cNvSpPr txBox="1"/>
          <p:nvPr/>
        </p:nvSpPr>
        <p:spPr>
          <a:xfrm>
            <a:off x="10222992" y="4434840"/>
            <a:ext cx="1252728" cy="795528"/>
          </a:xfrm>
          <a:prstGeom prst="rect">
            <a:avLst/>
          </a:prstGeom>
          <a:noFill/>
          <a:ln/>
        </p:spPr>
        <p:txBody>
          <a:bodyPr wrap="square" lIns="0" tIns="0" rIns="0" bIns="0" rtlCol="0" anchor="t">
            <a:normAutofit/>
          </a:bodyPr>
          <a:lstStyle/>
          <a:p>
            <a:pPr algn="ctr" indent="0" marL="0">
              <a:lnSpc>
                <a:spcPct val="100000"/>
              </a:lnSpc>
              <a:buNone/>
            </a:pPr>
            <a:r>
              <a:rPr lang="en-US" sz="1020" dirty="0">
                <a:solidFill>
                  <a:srgbClr val="11284C"/>
                </a:solidFill>
                <a:latin typeface="Aptos" pitchFamily="34" charset="0"/>
                <a:ea typeface="Aptos" pitchFamily="34" charset="-122"/>
                <a:cs typeface="Aptos" pitchFamily="34" charset="-120"/>
              </a:rPr>
              <a:t>Docker Compose</a:t>
            </a:r>
            <a:endParaRPr lang="en-US" sz="1020" dirty="0"/>
          </a:p>
          <a:p>
            <a:pPr algn="ctr" indent="0" marL="0">
              <a:lnSpc>
                <a:spcPct val="100000"/>
              </a:lnSpc>
              <a:buNone/>
            </a:pPr>
            <a:r>
              <a:rPr lang="en-US" sz="1020" dirty="0">
                <a:solidFill>
                  <a:srgbClr val="11284C"/>
                </a:solidFill>
                <a:latin typeface="Aptos" pitchFamily="34" charset="0"/>
                <a:ea typeface="Aptos" pitchFamily="34" charset="-122"/>
                <a:cs typeface="Aptos" pitchFamily="34" charset="-120"/>
              </a:rPr>
              <a:t>Frontend :3000</a:t>
            </a:r>
            <a:endParaRPr lang="en-US" sz="1020" dirty="0"/>
          </a:p>
          <a:p>
            <a:pPr algn="ctr" indent="0" marL="0">
              <a:lnSpc>
                <a:spcPct val="100000"/>
              </a:lnSpc>
              <a:buNone/>
            </a:pPr>
            <a:r>
              <a:rPr lang="en-US" sz="1020" dirty="0">
                <a:solidFill>
                  <a:srgbClr val="11284C"/>
                </a:solidFill>
                <a:latin typeface="Aptos" pitchFamily="34" charset="0"/>
                <a:ea typeface="Aptos" pitchFamily="34" charset="-122"/>
                <a:cs typeface="Aptos" pitchFamily="34" charset="-120"/>
              </a:rPr>
              <a:t>Backend :8000</a:t>
            </a:r>
            <a:endParaRPr lang="en-US" sz="1020" dirty="0"/>
          </a:p>
        </p:txBody>
      </p:sp>
      <p:sp>
        <p:nvSpPr>
          <p:cNvPr id="63" name="Shape 61"/>
          <p:cNvSpPr/>
          <p:nvPr/>
        </p:nvSpPr>
        <p:spPr>
          <a:xfrm>
            <a:off x="530352" y="5879592"/>
            <a:ext cx="11128248" cy="365760"/>
          </a:xfrm>
          <a:prstGeom prst="roundRect">
            <a:avLst>
              <a:gd name="adj" fmla="val 32500"/>
            </a:avLst>
          </a:prstGeom>
          <a:solidFill>
            <a:srgbClr val="11284C"/>
          </a:solidFill>
          <a:ln w="12700">
            <a:solidFill>
              <a:srgbClr val="11284C"/>
            </a:solidFill>
            <a:prstDash val="solid"/>
          </a:ln>
        </p:spPr>
      </p:sp>
      <p:sp>
        <p:nvSpPr>
          <p:cNvPr id="64" name="Text 62"/>
          <p:cNvSpPr txBox="1"/>
          <p:nvPr/>
        </p:nvSpPr>
        <p:spPr>
          <a:xfrm>
            <a:off x="758952" y="5925312"/>
            <a:ext cx="10671048" cy="237744"/>
          </a:xfrm>
          <a:prstGeom prst="rect">
            <a:avLst/>
          </a:prstGeom>
          <a:noFill/>
          <a:ln/>
        </p:spPr>
        <p:txBody>
          <a:bodyPr wrap="square" lIns="0" tIns="0" rIns="0" bIns="0" rtlCol="0" anchor="ctr">
            <a:normAutofit/>
          </a:bodyPr>
          <a:lstStyle/>
          <a:p>
            <a:pPr algn="ctr" indent="0" marL="0">
              <a:lnSpc>
                <a:spcPct val="100000"/>
              </a:lnSpc>
              <a:buNone/>
            </a:pPr>
            <a:r>
              <a:rPr lang="en-US" sz="1020" b="1" dirty="0">
                <a:solidFill>
                  <a:srgbClr val="FFFFFF"/>
                </a:solidFill>
                <a:latin typeface="Aptos" pitchFamily="34" charset="0"/>
                <a:ea typeface="Aptos" pitchFamily="34" charset="-122"/>
                <a:cs typeface="Aptos" pitchFamily="34" charset="-120"/>
              </a:rPr>
              <a:t>Luồng chính: UI → API → Product Resolver → LangGraph → DDInter / LLM → Guardrail → lưu lịch sử → trả kết quả</a:t>
            </a:r>
            <a:endParaRPr lang="en-US" sz="102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30352" y="310896"/>
            <a:ext cx="4754880" cy="256032"/>
          </a:xfrm>
          <a:prstGeom prst="rect">
            <a:avLst/>
          </a:prstGeom>
          <a:noFill/>
          <a:ln/>
        </p:spPr>
        <p:txBody>
          <a:bodyPr wrap="square" lIns="0" tIns="0" rIns="0" bIns="0" rtlCol="0" anchor="ctr">
            <a:normAutofit/>
          </a:bodyPr>
          <a:lstStyle/>
          <a:p>
            <a:pPr algn="l" indent="0" marL="0">
              <a:lnSpc>
                <a:spcPct val="100000"/>
              </a:lnSpc>
              <a:buNone/>
            </a:pPr>
            <a:r>
              <a:rPr lang="en-US" sz="1000" b="1" spc="180" kern="0" dirty="0">
                <a:solidFill>
                  <a:srgbClr val="4D73C9"/>
                </a:solidFill>
                <a:latin typeface="Aptos" pitchFamily="34" charset="0"/>
                <a:ea typeface="Aptos" pitchFamily="34" charset="-122"/>
                <a:cs typeface="Aptos" pitchFamily="34" charset="-120"/>
              </a:rPr>
              <a:t>08 / AI AGENT</a:t>
            </a:r>
            <a:endParaRPr lang="en-US" sz="1000" dirty="0"/>
          </a:p>
        </p:txBody>
      </p:sp>
      <p:sp>
        <p:nvSpPr>
          <p:cNvPr id="3" name="Text 1"/>
          <p:cNvSpPr txBox="1"/>
          <p:nvPr/>
        </p:nvSpPr>
        <p:spPr>
          <a:xfrm>
            <a:off x="530352" y="658368"/>
            <a:ext cx="11064240" cy="530352"/>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1284C"/>
                </a:solidFill>
                <a:latin typeface="Aptos" pitchFamily="34" charset="0"/>
                <a:ea typeface="Aptos" pitchFamily="34" charset="-122"/>
                <a:cs typeface="Aptos" pitchFamily="34" charset="-120"/>
              </a:rPr>
              <a:t>Pipeline 5 bước: có dữ liệu trước, có giải thích sau</a:t>
            </a:r>
            <a:endParaRPr lang="en-US" sz="2700" dirty="0"/>
          </a:p>
        </p:txBody>
      </p:sp>
      <p:sp>
        <p:nvSpPr>
          <p:cNvPr id="4" name="Text 2"/>
          <p:cNvSpPr txBox="1"/>
          <p:nvPr/>
        </p:nvSpPr>
        <p:spPr>
          <a:xfrm>
            <a:off x="530352" y="1197864"/>
            <a:ext cx="10972800" cy="384048"/>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667792"/>
                </a:solidFill>
                <a:latin typeface="Aptos" pitchFamily="34" charset="0"/>
                <a:ea typeface="Aptos" pitchFamily="34" charset="-122"/>
                <a:cs typeface="Aptos" pitchFamily="34" charset="-120"/>
              </a:rPr>
              <a:t>Mỗi node làm một nhiệm vụ rõ ràng; nếu state có lỗi, graph kết thúc sớm thay vì tiếp tục suy đoán.</a:t>
            </a:r>
            <a:endParaRPr lang="en-US" sz="1250" dirty="0"/>
          </a:p>
        </p:txBody>
      </p:sp>
      <p:sp>
        <p:nvSpPr>
          <p:cNvPr id="5" name="Shape 3"/>
          <p:cNvSpPr/>
          <p:nvPr/>
        </p:nvSpPr>
        <p:spPr>
          <a:xfrm>
            <a:off x="530352" y="1856232"/>
            <a:ext cx="1874520" cy="1847088"/>
          </a:xfrm>
          <a:prstGeom prst="roundRect">
            <a:avLst>
              <a:gd name="adj" fmla="val 8911"/>
            </a:avLst>
          </a:prstGeom>
          <a:solidFill>
            <a:srgbClr val="FFFFFF"/>
          </a:solidFill>
          <a:ln w="12700">
            <a:solidFill>
              <a:srgbClr val="CBD8ED"/>
            </a:solidFill>
            <a:prstDash val="solid"/>
          </a:ln>
        </p:spPr>
      </p:sp>
      <p:sp>
        <p:nvSpPr>
          <p:cNvPr id="6" name="Shape 4"/>
          <p:cNvSpPr/>
          <p:nvPr/>
        </p:nvSpPr>
        <p:spPr>
          <a:xfrm>
            <a:off x="1161288" y="2075688"/>
            <a:ext cx="603504" cy="603504"/>
          </a:xfrm>
          <a:prstGeom prst="ellipse">
            <a:avLst/>
          </a:prstGeom>
          <a:solidFill>
            <a:srgbClr val="4D73C9"/>
          </a:solidFill>
          <a:ln w="12700">
            <a:solidFill>
              <a:srgbClr val="4D73C9"/>
            </a:solidFill>
            <a:prstDash val="solid"/>
          </a:ln>
        </p:spPr>
      </p:sp>
      <p:sp>
        <p:nvSpPr>
          <p:cNvPr id="7" name="Text 5"/>
          <p:cNvSpPr txBox="1"/>
          <p:nvPr/>
        </p:nvSpPr>
        <p:spPr>
          <a:xfrm>
            <a:off x="1161288" y="2112264"/>
            <a:ext cx="603504" cy="438912"/>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8" name="Text 6"/>
          <p:cNvSpPr txBox="1"/>
          <p:nvPr/>
        </p:nvSpPr>
        <p:spPr>
          <a:xfrm>
            <a:off x="685800" y="2779776"/>
            <a:ext cx="1563624" cy="274320"/>
          </a:xfrm>
          <a:prstGeom prst="rect">
            <a:avLst/>
          </a:prstGeom>
          <a:noFill/>
          <a:ln/>
        </p:spPr>
        <p:txBody>
          <a:bodyPr wrap="square" lIns="0" tIns="0" rIns="0" bIns="0" rtlCol="0" anchor="ctr">
            <a:normAutofit/>
          </a:bodyPr>
          <a:lstStyle/>
          <a:p>
            <a:pPr algn="ctr" indent="0" marL="0">
              <a:lnSpc>
                <a:spcPct val="100000"/>
              </a:lnSpc>
              <a:buNone/>
            </a:pPr>
            <a:r>
              <a:rPr lang="en-US" sz="1020" b="1" spc="70" kern="0" dirty="0">
                <a:solidFill>
                  <a:srgbClr val="4D73C9"/>
                </a:solidFill>
                <a:latin typeface="Aptos" pitchFamily="34" charset="0"/>
                <a:ea typeface="Aptos" pitchFamily="34" charset="-122"/>
                <a:cs typeface="Aptos" pitchFamily="34" charset="-120"/>
              </a:rPr>
              <a:t>NORMALIZE</a:t>
            </a:r>
            <a:endParaRPr lang="en-US" sz="1020" dirty="0"/>
          </a:p>
        </p:txBody>
      </p:sp>
      <p:sp>
        <p:nvSpPr>
          <p:cNvPr id="9" name="Text 7"/>
          <p:cNvSpPr txBox="1"/>
          <p:nvPr/>
        </p:nvSpPr>
        <p:spPr>
          <a:xfrm>
            <a:off x="694944" y="3127248"/>
            <a:ext cx="1545336" cy="420624"/>
          </a:xfrm>
          <a:prstGeom prst="rect">
            <a:avLst/>
          </a:prstGeom>
          <a:noFill/>
          <a:ln/>
        </p:spPr>
        <p:txBody>
          <a:bodyPr wrap="square" lIns="0" tIns="0" rIns="0" bIns="0" rtlCol="0" anchor="ctr">
            <a:normAutofit/>
          </a:bodyPr>
          <a:lstStyle/>
          <a:p>
            <a:pPr algn="ctr" indent="0" marL="0">
              <a:lnSpc>
                <a:spcPct val="100000"/>
              </a:lnSpc>
              <a:buNone/>
            </a:pPr>
            <a:r>
              <a:rPr lang="en-US" sz="1010" dirty="0">
                <a:solidFill>
                  <a:srgbClr val="253B5F"/>
                </a:solidFill>
                <a:latin typeface="Aptos" pitchFamily="34" charset="0"/>
                <a:ea typeface="Aptos" pitchFamily="34" charset="-122"/>
                <a:cs typeface="Aptos" pitchFamily="34" charset="-120"/>
              </a:rPr>
              <a:t>Chuẩn hóa tên và alias</a:t>
            </a:r>
            <a:endParaRPr lang="en-US" sz="1010" dirty="0"/>
          </a:p>
        </p:txBody>
      </p:sp>
      <p:sp>
        <p:nvSpPr>
          <p:cNvPr id="10" name="Shape 8"/>
          <p:cNvSpPr/>
          <p:nvPr/>
        </p:nvSpPr>
        <p:spPr>
          <a:xfrm>
            <a:off x="2432304" y="2788920"/>
            <a:ext cx="274320" cy="0"/>
          </a:xfrm>
          <a:prstGeom prst="line">
            <a:avLst/>
          </a:prstGeom>
          <a:noFill/>
          <a:ln w="20320">
            <a:solidFill>
              <a:srgbClr val="CBD8ED"/>
            </a:solidFill>
            <a:prstDash val="solid"/>
            <a:headEnd type="none"/>
            <a:tailEnd type="triangle"/>
          </a:ln>
        </p:spPr>
      </p:sp>
      <p:sp>
        <p:nvSpPr>
          <p:cNvPr id="11" name="Shape 9"/>
          <p:cNvSpPr/>
          <p:nvPr/>
        </p:nvSpPr>
        <p:spPr>
          <a:xfrm>
            <a:off x="2779776" y="1856232"/>
            <a:ext cx="1874520" cy="1847088"/>
          </a:xfrm>
          <a:prstGeom prst="roundRect">
            <a:avLst>
              <a:gd name="adj" fmla="val 8911"/>
            </a:avLst>
          </a:prstGeom>
          <a:solidFill>
            <a:srgbClr val="FFFFFF"/>
          </a:solidFill>
          <a:ln w="12700">
            <a:solidFill>
              <a:srgbClr val="CBD8ED"/>
            </a:solidFill>
            <a:prstDash val="solid"/>
          </a:ln>
        </p:spPr>
      </p:sp>
      <p:sp>
        <p:nvSpPr>
          <p:cNvPr id="12" name="Shape 10"/>
          <p:cNvSpPr/>
          <p:nvPr/>
        </p:nvSpPr>
        <p:spPr>
          <a:xfrm>
            <a:off x="3410712" y="2075688"/>
            <a:ext cx="603504" cy="603504"/>
          </a:xfrm>
          <a:prstGeom prst="ellipse">
            <a:avLst/>
          </a:prstGeom>
          <a:solidFill>
            <a:srgbClr val="8156BF"/>
          </a:solidFill>
          <a:ln w="12700">
            <a:solidFill>
              <a:srgbClr val="8156BF"/>
            </a:solidFill>
            <a:prstDash val="solid"/>
          </a:ln>
        </p:spPr>
      </p:sp>
      <p:sp>
        <p:nvSpPr>
          <p:cNvPr id="13" name="Text 11"/>
          <p:cNvSpPr txBox="1"/>
          <p:nvPr/>
        </p:nvSpPr>
        <p:spPr>
          <a:xfrm>
            <a:off x="3410712" y="2112264"/>
            <a:ext cx="603504" cy="438912"/>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4" name="Text 12"/>
          <p:cNvSpPr txBox="1"/>
          <p:nvPr/>
        </p:nvSpPr>
        <p:spPr>
          <a:xfrm>
            <a:off x="2935224" y="2779776"/>
            <a:ext cx="1563624" cy="274320"/>
          </a:xfrm>
          <a:prstGeom prst="rect">
            <a:avLst/>
          </a:prstGeom>
          <a:noFill/>
          <a:ln/>
        </p:spPr>
        <p:txBody>
          <a:bodyPr wrap="square" lIns="0" tIns="0" rIns="0" bIns="0" rtlCol="0" anchor="ctr">
            <a:normAutofit/>
          </a:bodyPr>
          <a:lstStyle/>
          <a:p>
            <a:pPr algn="ctr" indent="0" marL="0">
              <a:lnSpc>
                <a:spcPct val="100000"/>
              </a:lnSpc>
              <a:buNone/>
            </a:pPr>
            <a:r>
              <a:rPr lang="en-US" sz="1020" b="1" spc="70" kern="0" dirty="0">
                <a:solidFill>
                  <a:srgbClr val="8156BF"/>
                </a:solidFill>
                <a:latin typeface="Aptos" pitchFamily="34" charset="0"/>
                <a:ea typeface="Aptos" pitchFamily="34" charset="-122"/>
                <a:cs typeface="Aptos" pitchFamily="34" charset="-120"/>
              </a:rPr>
              <a:t>LOOKUP</a:t>
            </a:r>
            <a:endParaRPr lang="en-US" sz="1020" dirty="0"/>
          </a:p>
        </p:txBody>
      </p:sp>
      <p:sp>
        <p:nvSpPr>
          <p:cNvPr id="15" name="Text 13"/>
          <p:cNvSpPr txBox="1"/>
          <p:nvPr/>
        </p:nvSpPr>
        <p:spPr>
          <a:xfrm>
            <a:off x="2944368" y="3127248"/>
            <a:ext cx="1545336" cy="420624"/>
          </a:xfrm>
          <a:prstGeom prst="rect">
            <a:avLst/>
          </a:prstGeom>
          <a:noFill/>
          <a:ln/>
        </p:spPr>
        <p:txBody>
          <a:bodyPr wrap="square" lIns="0" tIns="0" rIns="0" bIns="0" rtlCol="0" anchor="ctr">
            <a:normAutofit/>
          </a:bodyPr>
          <a:lstStyle/>
          <a:p>
            <a:pPr algn="ctr" indent="0" marL="0">
              <a:lnSpc>
                <a:spcPct val="100000"/>
              </a:lnSpc>
              <a:buNone/>
            </a:pPr>
            <a:r>
              <a:rPr lang="en-US" sz="1010" dirty="0">
                <a:solidFill>
                  <a:srgbClr val="253B5F"/>
                </a:solidFill>
                <a:latin typeface="Aptos" pitchFamily="34" charset="0"/>
                <a:ea typeface="Aptos" pitchFamily="34" charset="-122"/>
                <a:cs typeface="Aptos" pitchFamily="34" charset="-120"/>
              </a:rPr>
              <a:t>Tra cặp tương tác DDInter</a:t>
            </a:r>
            <a:endParaRPr lang="en-US" sz="1010" dirty="0"/>
          </a:p>
        </p:txBody>
      </p:sp>
      <p:sp>
        <p:nvSpPr>
          <p:cNvPr id="16" name="Shape 14"/>
          <p:cNvSpPr/>
          <p:nvPr/>
        </p:nvSpPr>
        <p:spPr>
          <a:xfrm>
            <a:off x="4681728" y="2788920"/>
            <a:ext cx="274320" cy="0"/>
          </a:xfrm>
          <a:prstGeom prst="line">
            <a:avLst/>
          </a:prstGeom>
          <a:noFill/>
          <a:ln w="20320">
            <a:solidFill>
              <a:srgbClr val="CBD8ED"/>
            </a:solidFill>
            <a:prstDash val="solid"/>
            <a:headEnd type="none"/>
            <a:tailEnd type="triangle"/>
          </a:ln>
        </p:spPr>
      </p:sp>
      <p:sp>
        <p:nvSpPr>
          <p:cNvPr id="17" name="Shape 15"/>
          <p:cNvSpPr/>
          <p:nvPr/>
        </p:nvSpPr>
        <p:spPr>
          <a:xfrm>
            <a:off x="5029200" y="1856232"/>
            <a:ext cx="1874520" cy="1847088"/>
          </a:xfrm>
          <a:prstGeom prst="roundRect">
            <a:avLst>
              <a:gd name="adj" fmla="val 8911"/>
            </a:avLst>
          </a:prstGeom>
          <a:solidFill>
            <a:srgbClr val="FFFFFF"/>
          </a:solidFill>
          <a:ln w="12700">
            <a:solidFill>
              <a:srgbClr val="CBD8ED"/>
            </a:solidFill>
            <a:prstDash val="solid"/>
          </a:ln>
        </p:spPr>
      </p:sp>
      <p:sp>
        <p:nvSpPr>
          <p:cNvPr id="18" name="Shape 16"/>
          <p:cNvSpPr/>
          <p:nvPr/>
        </p:nvSpPr>
        <p:spPr>
          <a:xfrm>
            <a:off x="5660136" y="2075688"/>
            <a:ext cx="603504" cy="603504"/>
          </a:xfrm>
          <a:prstGeom prst="ellipse">
            <a:avLst/>
          </a:prstGeom>
          <a:solidFill>
            <a:srgbClr val="C68A2E"/>
          </a:solidFill>
          <a:ln w="12700">
            <a:solidFill>
              <a:srgbClr val="C68A2E"/>
            </a:solidFill>
            <a:prstDash val="solid"/>
          </a:ln>
        </p:spPr>
      </p:sp>
      <p:sp>
        <p:nvSpPr>
          <p:cNvPr id="19" name="Text 17"/>
          <p:cNvSpPr txBox="1"/>
          <p:nvPr/>
        </p:nvSpPr>
        <p:spPr>
          <a:xfrm>
            <a:off x="5660136" y="2112264"/>
            <a:ext cx="603504" cy="438912"/>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txBox="1"/>
          <p:nvPr/>
        </p:nvSpPr>
        <p:spPr>
          <a:xfrm>
            <a:off x="5184648" y="2779776"/>
            <a:ext cx="1563624" cy="274320"/>
          </a:xfrm>
          <a:prstGeom prst="rect">
            <a:avLst/>
          </a:prstGeom>
          <a:noFill/>
          <a:ln/>
        </p:spPr>
        <p:txBody>
          <a:bodyPr wrap="square" lIns="0" tIns="0" rIns="0" bIns="0" rtlCol="0" anchor="ctr">
            <a:normAutofit/>
          </a:bodyPr>
          <a:lstStyle/>
          <a:p>
            <a:pPr algn="ctr" indent="0" marL="0">
              <a:lnSpc>
                <a:spcPct val="100000"/>
              </a:lnSpc>
              <a:buNone/>
            </a:pPr>
            <a:r>
              <a:rPr lang="en-US" sz="1020" b="1" spc="70" kern="0" dirty="0">
                <a:solidFill>
                  <a:srgbClr val="C68A2E"/>
                </a:solidFill>
                <a:latin typeface="Aptos" pitchFamily="34" charset="0"/>
                <a:ea typeface="Aptos" pitchFamily="34" charset="-122"/>
                <a:cs typeface="Aptos" pitchFamily="34" charset="-120"/>
              </a:rPr>
              <a:t>RANK</a:t>
            </a:r>
            <a:endParaRPr lang="en-US" sz="1020" dirty="0"/>
          </a:p>
        </p:txBody>
      </p:sp>
      <p:sp>
        <p:nvSpPr>
          <p:cNvPr id="21" name="Text 19"/>
          <p:cNvSpPr txBox="1"/>
          <p:nvPr/>
        </p:nvSpPr>
        <p:spPr>
          <a:xfrm>
            <a:off x="5193792" y="3127248"/>
            <a:ext cx="1545336" cy="420624"/>
          </a:xfrm>
          <a:prstGeom prst="rect">
            <a:avLst/>
          </a:prstGeom>
          <a:noFill/>
          <a:ln/>
        </p:spPr>
        <p:txBody>
          <a:bodyPr wrap="square" lIns="0" tIns="0" rIns="0" bIns="0" rtlCol="0" anchor="ctr">
            <a:normAutofit/>
          </a:bodyPr>
          <a:lstStyle/>
          <a:p>
            <a:pPr algn="ctr" indent="0" marL="0">
              <a:lnSpc>
                <a:spcPct val="100000"/>
              </a:lnSpc>
              <a:buNone/>
            </a:pPr>
            <a:r>
              <a:rPr lang="en-US" sz="1010" dirty="0">
                <a:solidFill>
                  <a:srgbClr val="253B5F"/>
                </a:solidFill>
                <a:latin typeface="Aptos" pitchFamily="34" charset="0"/>
                <a:ea typeface="Aptos" pitchFamily="34" charset="-122"/>
                <a:cs typeface="Aptos" pitchFamily="34" charset="-120"/>
              </a:rPr>
              <a:t>Chuẩn hóa mức độ</a:t>
            </a:r>
            <a:endParaRPr lang="en-US" sz="1010" dirty="0"/>
          </a:p>
        </p:txBody>
      </p:sp>
      <p:sp>
        <p:nvSpPr>
          <p:cNvPr id="22" name="Shape 20"/>
          <p:cNvSpPr/>
          <p:nvPr/>
        </p:nvSpPr>
        <p:spPr>
          <a:xfrm>
            <a:off x="6931152" y="2788920"/>
            <a:ext cx="274320" cy="0"/>
          </a:xfrm>
          <a:prstGeom prst="line">
            <a:avLst/>
          </a:prstGeom>
          <a:noFill/>
          <a:ln w="20320">
            <a:solidFill>
              <a:srgbClr val="CBD8ED"/>
            </a:solidFill>
            <a:prstDash val="solid"/>
            <a:headEnd type="none"/>
            <a:tailEnd type="triangle"/>
          </a:ln>
        </p:spPr>
      </p:sp>
      <p:sp>
        <p:nvSpPr>
          <p:cNvPr id="23" name="Shape 21"/>
          <p:cNvSpPr/>
          <p:nvPr/>
        </p:nvSpPr>
        <p:spPr>
          <a:xfrm>
            <a:off x="7278624" y="1856232"/>
            <a:ext cx="1874520" cy="1847088"/>
          </a:xfrm>
          <a:prstGeom prst="roundRect">
            <a:avLst>
              <a:gd name="adj" fmla="val 8911"/>
            </a:avLst>
          </a:prstGeom>
          <a:solidFill>
            <a:srgbClr val="FFFFFF"/>
          </a:solidFill>
          <a:ln w="12700">
            <a:solidFill>
              <a:srgbClr val="CBD8ED"/>
            </a:solidFill>
            <a:prstDash val="solid"/>
          </a:ln>
        </p:spPr>
      </p:sp>
      <p:sp>
        <p:nvSpPr>
          <p:cNvPr id="24" name="Shape 22"/>
          <p:cNvSpPr/>
          <p:nvPr/>
        </p:nvSpPr>
        <p:spPr>
          <a:xfrm>
            <a:off x="7909560" y="2075688"/>
            <a:ext cx="603504" cy="603504"/>
          </a:xfrm>
          <a:prstGeom prst="ellipse">
            <a:avLst/>
          </a:prstGeom>
          <a:solidFill>
            <a:srgbClr val="2C9A83"/>
          </a:solidFill>
          <a:ln w="12700">
            <a:solidFill>
              <a:srgbClr val="2C9A83"/>
            </a:solidFill>
            <a:prstDash val="solid"/>
          </a:ln>
        </p:spPr>
      </p:sp>
      <p:sp>
        <p:nvSpPr>
          <p:cNvPr id="25" name="Text 23"/>
          <p:cNvSpPr txBox="1"/>
          <p:nvPr/>
        </p:nvSpPr>
        <p:spPr>
          <a:xfrm>
            <a:off x="7909560" y="2112264"/>
            <a:ext cx="603504" cy="438912"/>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6" name="Text 24"/>
          <p:cNvSpPr txBox="1"/>
          <p:nvPr/>
        </p:nvSpPr>
        <p:spPr>
          <a:xfrm>
            <a:off x="7434072" y="2779776"/>
            <a:ext cx="1563624" cy="274320"/>
          </a:xfrm>
          <a:prstGeom prst="rect">
            <a:avLst/>
          </a:prstGeom>
          <a:noFill/>
          <a:ln/>
        </p:spPr>
        <p:txBody>
          <a:bodyPr wrap="square" lIns="0" tIns="0" rIns="0" bIns="0" rtlCol="0" anchor="ctr">
            <a:normAutofit/>
          </a:bodyPr>
          <a:lstStyle/>
          <a:p>
            <a:pPr algn="ctr" indent="0" marL="0">
              <a:lnSpc>
                <a:spcPct val="100000"/>
              </a:lnSpc>
              <a:buNone/>
            </a:pPr>
            <a:r>
              <a:rPr lang="en-US" sz="1020" b="1" spc="70" kern="0" dirty="0">
                <a:solidFill>
                  <a:srgbClr val="2C9A83"/>
                </a:solidFill>
                <a:latin typeface="Aptos" pitchFamily="34" charset="0"/>
                <a:ea typeface="Aptos" pitchFamily="34" charset="-122"/>
                <a:cs typeface="Aptos" pitchFamily="34" charset="-120"/>
              </a:rPr>
              <a:t>EXPLAIN</a:t>
            </a:r>
            <a:endParaRPr lang="en-US" sz="1020" dirty="0"/>
          </a:p>
        </p:txBody>
      </p:sp>
      <p:sp>
        <p:nvSpPr>
          <p:cNvPr id="27" name="Text 25"/>
          <p:cNvSpPr txBox="1"/>
          <p:nvPr/>
        </p:nvSpPr>
        <p:spPr>
          <a:xfrm>
            <a:off x="7443216" y="3127248"/>
            <a:ext cx="1545336" cy="420624"/>
          </a:xfrm>
          <a:prstGeom prst="rect">
            <a:avLst/>
          </a:prstGeom>
          <a:noFill/>
          <a:ln/>
        </p:spPr>
        <p:txBody>
          <a:bodyPr wrap="square" lIns="0" tIns="0" rIns="0" bIns="0" rtlCol="0" anchor="ctr">
            <a:normAutofit/>
          </a:bodyPr>
          <a:lstStyle/>
          <a:p>
            <a:pPr algn="ctr" indent="0" marL="0">
              <a:lnSpc>
                <a:spcPct val="100000"/>
              </a:lnSpc>
              <a:buNone/>
            </a:pPr>
            <a:r>
              <a:rPr lang="en-US" sz="1010" dirty="0">
                <a:solidFill>
                  <a:srgbClr val="253B5F"/>
                </a:solidFill>
                <a:latin typeface="Aptos" pitchFamily="34" charset="0"/>
                <a:ea typeface="Aptos" pitchFamily="34" charset="-122"/>
                <a:cs typeface="Aptos" pitchFamily="34" charset="-120"/>
              </a:rPr>
              <a:t>Sinh giải thích tiếng Việt</a:t>
            </a:r>
            <a:endParaRPr lang="en-US" sz="1010" dirty="0"/>
          </a:p>
        </p:txBody>
      </p:sp>
      <p:sp>
        <p:nvSpPr>
          <p:cNvPr id="28" name="Shape 26"/>
          <p:cNvSpPr/>
          <p:nvPr/>
        </p:nvSpPr>
        <p:spPr>
          <a:xfrm>
            <a:off x="9180576" y="2788920"/>
            <a:ext cx="274320" cy="0"/>
          </a:xfrm>
          <a:prstGeom prst="line">
            <a:avLst/>
          </a:prstGeom>
          <a:noFill/>
          <a:ln w="20320">
            <a:solidFill>
              <a:srgbClr val="CBD8ED"/>
            </a:solidFill>
            <a:prstDash val="solid"/>
            <a:headEnd type="none"/>
            <a:tailEnd type="triangle"/>
          </a:ln>
        </p:spPr>
      </p:sp>
      <p:sp>
        <p:nvSpPr>
          <p:cNvPr id="29" name="Shape 27"/>
          <p:cNvSpPr/>
          <p:nvPr/>
        </p:nvSpPr>
        <p:spPr>
          <a:xfrm>
            <a:off x="9528048" y="1856232"/>
            <a:ext cx="1874520" cy="1847088"/>
          </a:xfrm>
          <a:prstGeom prst="roundRect">
            <a:avLst>
              <a:gd name="adj" fmla="val 8911"/>
            </a:avLst>
          </a:prstGeom>
          <a:solidFill>
            <a:srgbClr val="FFFFFF"/>
          </a:solidFill>
          <a:ln w="12700">
            <a:solidFill>
              <a:srgbClr val="CBD8ED"/>
            </a:solidFill>
            <a:prstDash val="solid"/>
          </a:ln>
        </p:spPr>
      </p:sp>
      <p:sp>
        <p:nvSpPr>
          <p:cNvPr id="30" name="Shape 28"/>
          <p:cNvSpPr/>
          <p:nvPr/>
        </p:nvSpPr>
        <p:spPr>
          <a:xfrm>
            <a:off x="10158984" y="2075688"/>
            <a:ext cx="603504" cy="603504"/>
          </a:xfrm>
          <a:prstGeom prst="ellipse">
            <a:avLst/>
          </a:prstGeom>
          <a:solidFill>
            <a:srgbClr val="D54B4B"/>
          </a:solidFill>
          <a:ln w="12700">
            <a:solidFill>
              <a:srgbClr val="D54B4B"/>
            </a:solidFill>
            <a:prstDash val="solid"/>
          </a:ln>
        </p:spPr>
      </p:sp>
      <p:sp>
        <p:nvSpPr>
          <p:cNvPr id="31" name="Text 29"/>
          <p:cNvSpPr txBox="1"/>
          <p:nvPr/>
        </p:nvSpPr>
        <p:spPr>
          <a:xfrm>
            <a:off x="10158984" y="2112264"/>
            <a:ext cx="603504" cy="438912"/>
          </a:xfrm>
          <a:prstGeom prst="rect">
            <a:avLst/>
          </a:prstGeom>
          <a:noFill/>
          <a:ln/>
        </p:spPr>
        <p:txBody>
          <a:bodyPr wrap="square" lIns="0" tIns="0" rIns="0" bIns="0" rtlCol="0" anchor="ctr">
            <a:normAutofit/>
          </a:bodyPr>
          <a:lstStyle/>
          <a:p>
            <a:pPr algn="ctr" indent="0" marL="0">
              <a:lnSpc>
                <a:spcPct val="100000"/>
              </a:lnSpc>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32" name="Text 30"/>
          <p:cNvSpPr txBox="1"/>
          <p:nvPr/>
        </p:nvSpPr>
        <p:spPr>
          <a:xfrm>
            <a:off x="9683496" y="2779776"/>
            <a:ext cx="1563624" cy="274320"/>
          </a:xfrm>
          <a:prstGeom prst="rect">
            <a:avLst/>
          </a:prstGeom>
          <a:noFill/>
          <a:ln/>
        </p:spPr>
        <p:txBody>
          <a:bodyPr wrap="square" lIns="0" tIns="0" rIns="0" bIns="0" rtlCol="0" anchor="ctr">
            <a:normAutofit/>
          </a:bodyPr>
          <a:lstStyle/>
          <a:p>
            <a:pPr algn="ctr" indent="0" marL="0">
              <a:lnSpc>
                <a:spcPct val="100000"/>
              </a:lnSpc>
              <a:buNone/>
            </a:pPr>
            <a:r>
              <a:rPr lang="en-US" sz="1020" b="1" spc="70" kern="0" dirty="0">
                <a:solidFill>
                  <a:srgbClr val="D54B4B"/>
                </a:solidFill>
                <a:latin typeface="Aptos" pitchFamily="34" charset="0"/>
                <a:ea typeface="Aptos" pitchFamily="34" charset="-122"/>
                <a:cs typeface="Aptos" pitchFamily="34" charset="-120"/>
              </a:rPr>
              <a:t>GUARDRAIL</a:t>
            </a:r>
            <a:endParaRPr lang="en-US" sz="1020" dirty="0"/>
          </a:p>
        </p:txBody>
      </p:sp>
      <p:sp>
        <p:nvSpPr>
          <p:cNvPr id="33" name="Text 31"/>
          <p:cNvSpPr txBox="1"/>
          <p:nvPr/>
        </p:nvSpPr>
        <p:spPr>
          <a:xfrm>
            <a:off x="9692640" y="3127248"/>
            <a:ext cx="1545336" cy="420624"/>
          </a:xfrm>
          <a:prstGeom prst="rect">
            <a:avLst/>
          </a:prstGeom>
          <a:noFill/>
          <a:ln/>
        </p:spPr>
        <p:txBody>
          <a:bodyPr wrap="square" lIns="0" tIns="0" rIns="0" bIns="0" rtlCol="0" anchor="ctr">
            <a:normAutofit/>
          </a:bodyPr>
          <a:lstStyle/>
          <a:p>
            <a:pPr algn="ctr" indent="0" marL="0">
              <a:lnSpc>
                <a:spcPct val="100000"/>
              </a:lnSpc>
              <a:buNone/>
            </a:pPr>
            <a:r>
              <a:rPr lang="en-US" sz="1010" dirty="0">
                <a:solidFill>
                  <a:srgbClr val="253B5F"/>
                </a:solidFill>
                <a:latin typeface="Aptos" pitchFamily="34" charset="0"/>
                <a:ea typeface="Aptos" pitchFamily="34" charset="-122"/>
                <a:cs typeface="Aptos" pitchFamily="34" charset="-120"/>
              </a:rPr>
              <a:t>Kiểm citation &amp; ngôn ngữ</a:t>
            </a:r>
            <a:endParaRPr lang="en-US" sz="1010" dirty="0"/>
          </a:p>
        </p:txBody>
      </p:sp>
      <p:sp>
        <p:nvSpPr>
          <p:cNvPr id="34" name="Shape 32"/>
          <p:cNvSpPr/>
          <p:nvPr/>
        </p:nvSpPr>
        <p:spPr>
          <a:xfrm>
            <a:off x="530352" y="4169664"/>
            <a:ext cx="2505456" cy="1591056"/>
          </a:xfrm>
          <a:prstGeom prst="roundRect">
            <a:avLst>
              <a:gd name="adj" fmla="val 9195"/>
            </a:avLst>
          </a:prstGeom>
          <a:solidFill>
            <a:srgbClr val="E9F0FF"/>
          </a:solidFill>
          <a:ln w="12700">
            <a:solidFill>
              <a:srgbClr val="E9F0FF"/>
            </a:solidFill>
            <a:prstDash val="solid"/>
          </a:ln>
        </p:spPr>
      </p:sp>
      <p:sp>
        <p:nvSpPr>
          <p:cNvPr id="35" name="Text 33"/>
          <p:cNvSpPr txBox="1"/>
          <p:nvPr/>
        </p:nvSpPr>
        <p:spPr>
          <a:xfrm>
            <a:off x="713232" y="4379976"/>
            <a:ext cx="2139696" cy="274320"/>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4D73C9"/>
                </a:solidFill>
                <a:latin typeface="Aptos" pitchFamily="34" charset="0"/>
                <a:ea typeface="Aptos" pitchFamily="34" charset="-122"/>
                <a:cs typeface="Aptos" pitchFamily="34" charset="-120"/>
              </a:rPr>
              <a:t>Nguồn sự thật</a:t>
            </a:r>
            <a:endParaRPr lang="en-US" sz="1130" dirty="0"/>
          </a:p>
        </p:txBody>
      </p:sp>
      <p:sp>
        <p:nvSpPr>
          <p:cNvPr id="36" name="Text 34"/>
          <p:cNvSpPr txBox="1"/>
          <p:nvPr/>
        </p:nvSpPr>
        <p:spPr>
          <a:xfrm>
            <a:off x="758952" y="4782312"/>
            <a:ext cx="2048256" cy="658368"/>
          </a:xfrm>
          <a:prstGeom prst="rect">
            <a:avLst/>
          </a:prstGeom>
          <a:noFill/>
          <a:ln/>
        </p:spPr>
        <p:txBody>
          <a:bodyPr wrap="square" lIns="0" tIns="0" rIns="0" bIns="0" rtlCol="0" anchor="t">
            <a:normAutofit/>
          </a:bodyPr>
          <a:lstStyle/>
          <a:p>
            <a:pPr algn="ctr" indent="0" marL="0">
              <a:lnSpc>
                <a:spcPct val="100000"/>
              </a:lnSpc>
              <a:buNone/>
            </a:pPr>
            <a:r>
              <a:rPr lang="en-US" sz="1010" dirty="0">
                <a:solidFill>
                  <a:srgbClr val="253B5F"/>
                </a:solidFill>
                <a:latin typeface="Aptos" pitchFamily="34" charset="0"/>
                <a:ea typeface="Aptos" pitchFamily="34" charset="-122"/>
                <a:cs typeface="Aptos" pitchFamily="34" charset="-120"/>
              </a:rPr>
              <a:t>1.939 hoạt chất</a:t>
            </a:r>
            <a:endParaRPr lang="en-US" sz="1010" dirty="0"/>
          </a:p>
          <a:p>
            <a:pPr algn="ctr" indent="0" marL="0">
              <a:lnSpc>
                <a:spcPct val="100000"/>
              </a:lnSpc>
              <a:buNone/>
            </a:pPr>
            <a:r>
              <a:rPr lang="en-US" sz="1010" dirty="0">
                <a:solidFill>
                  <a:srgbClr val="253B5F"/>
                </a:solidFill>
                <a:latin typeface="Aptos" pitchFamily="34" charset="0"/>
                <a:ea typeface="Aptos" pitchFamily="34" charset="-122"/>
                <a:cs typeface="Aptos" pitchFamily="34" charset="-120"/>
              </a:rPr>
              <a:t>160.227 cặp tương tác</a:t>
            </a:r>
            <a:endParaRPr lang="en-US" sz="1010" dirty="0"/>
          </a:p>
          <a:p>
            <a:pPr algn="ctr" indent="0" marL="0">
              <a:lnSpc>
                <a:spcPct val="100000"/>
              </a:lnSpc>
              <a:buNone/>
            </a:pPr>
            <a:r>
              <a:rPr lang="en-US" sz="1010" dirty="0">
                <a:solidFill>
                  <a:srgbClr val="253B5F"/>
                </a:solidFill>
                <a:latin typeface="Aptos" pitchFamily="34" charset="0"/>
                <a:ea typeface="Aptos" pitchFamily="34" charset="-122"/>
                <a:cs typeface="Aptos" pitchFamily="34" charset="-120"/>
              </a:rPr>
              <a:t>DDInter 2.0</a:t>
            </a:r>
            <a:endParaRPr lang="en-US" sz="1010" dirty="0"/>
          </a:p>
        </p:txBody>
      </p:sp>
      <p:sp>
        <p:nvSpPr>
          <p:cNvPr id="37" name="Shape 35"/>
          <p:cNvSpPr/>
          <p:nvPr/>
        </p:nvSpPr>
        <p:spPr>
          <a:xfrm>
            <a:off x="3319272" y="4169664"/>
            <a:ext cx="2505456" cy="1591056"/>
          </a:xfrm>
          <a:prstGeom prst="roundRect">
            <a:avLst>
              <a:gd name="adj" fmla="val 9195"/>
            </a:avLst>
          </a:prstGeom>
          <a:solidFill>
            <a:srgbClr val="F0E8FB"/>
          </a:solidFill>
          <a:ln w="12700">
            <a:solidFill>
              <a:srgbClr val="F0E8FB"/>
            </a:solidFill>
            <a:prstDash val="solid"/>
          </a:ln>
        </p:spPr>
      </p:sp>
      <p:sp>
        <p:nvSpPr>
          <p:cNvPr id="38" name="Text 36"/>
          <p:cNvSpPr txBox="1"/>
          <p:nvPr/>
        </p:nvSpPr>
        <p:spPr>
          <a:xfrm>
            <a:off x="3502152" y="4379976"/>
            <a:ext cx="2139696" cy="274320"/>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8156BF"/>
                </a:solidFill>
                <a:latin typeface="Aptos" pitchFamily="34" charset="0"/>
                <a:ea typeface="Aptos" pitchFamily="34" charset="-122"/>
                <a:cs typeface="Aptos" pitchFamily="34" charset="-120"/>
              </a:rPr>
              <a:t>Vai trò của LLM</a:t>
            </a:r>
            <a:endParaRPr lang="en-US" sz="1130" dirty="0"/>
          </a:p>
        </p:txBody>
      </p:sp>
      <p:sp>
        <p:nvSpPr>
          <p:cNvPr id="39" name="Text 37"/>
          <p:cNvSpPr txBox="1"/>
          <p:nvPr/>
        </p:nvSpPr>
        <p:spPr>
          <a:xfrm>
            <a:off x="3547872" y="4782312"/>
            <a:ext cx="2048256" cy="658368"/>
          </a:xfrm>
          <a:prstGeom prst="rect">
            <a:avLst/>
          </a:prstGeom>
          <a:noFill/>
          <a:ln/>
        </p:spPr>
        <p:txBody>
          <a:bodyPr wrap="square" lIns="0" tIns="0" rIns="0" bIns="0" rtlCol="0" anchor="t">
            <a:normAutofit/>
          </a:bodyPr>
          <a:lstStyle/>
          <a:p>
            <a:pPr algn="ctr" indent="0" marL="0">
              <a:lnSpc>
                <a:spcPct val="100000"/>
              </a:lnSpc>
              <a:buNone/>
            </a:pPr>
            <a:r>
              <a:rPr lang="en-US" sz="1010" dirty="0">
                <a:solidFill>
                  <a:srgbClr val="253B5F"/>
                </a:solidFill>
                <a:latin typeface="Aptos" pitchFamily="34" charset="0"/>
                <a:ea typeface="Aptos" pitchFamily="34" charset="-122"/>
                <a:cs typeface="Aptos" pitchFamily="34" charset="-120"/>
              </a:rPr>
              <a:t>Chỉ diễn giải dữ liệu đã tra cứu; không tự tạo tương tác.</a:t>
            </a:r>
            <a:endParaRPr lang="en-US" sz="1010" dirty="0"/>
          </a:p>
        </p:txBody>
      </p:sp>
      <p:sp>
        <p:nvSpPr>
          <p:cNvPr id="40" name="Shape 38"/>
          <p:cNvSpPr/>
          <p:nvPr/>
        </p:nvSpPr>
        <p:spPr>
          <a:xfrm>
            <a:off x="6108192" y="4169664"/>
            <a:ext cx="2505456" cy="1591056"/>
          </a:xfrm>
          <a:prstGeom prst="roundRect">
            <a:avLst>
              <a:gd name="adj" fmla="val 9195"/>
            </a:avLst>
          </a:prstGeom>
          <a:solidFill>
            <a:srgbClr val="FFE5E2"/>
          </a:solidFill>
          <a:ln w="12700">
            <a:solidFill>
              <a:srgbClr val="FFE5E2"/>
            </a:solidFill>
            <a:prstDash val="solid"/>
          </a:ln>
        </p:spPr>
      </p:sp>
      <p:sp>
        <p:nvSpPr>
          <p:cNvPr id="41" name="Text 39"/>
          <p:cNvSpPr txBox="1"/>
          <p:nvPr/>
        </p:nvSpPr>
        <p:spPr>
          <a:xfrm>
            <a:off x="6291072" y="4379976"/>
            <a:ext cx="2139696" cy="274320"/>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D54B4B"/>
                </a:solidFill>
                <a:latin typeface="Aptos" pitchFamily="34" charset="0"/>
                <a:ea typeface="Aptos" pitchFamily="34" charset="-122"/>
                <a:cs typeface="Aptos" pitchFamily="34" charset="-120"/>
              </a:rPr>
              <a:t>Rào chắn an toàn</a:t>
            </a:r>
            <a:endParaRPr lang="en-US" sz="1130" dirty="0"/>
          </a:p>
        </p:txBody>
      </p:sp>
      <p:sp>
        <p:nvSpPr>
          <p:cNvPr id="42" name="Text 40"/>
          <p:cNvSpPr txBox="1"/>
          <p:nvPr/>
        </p:nvSpPr>
        <p:spPr>
          <a:xfrm>
            <a:off x="6336792" y="4782312"/>
            <a:ext cx="2048256" cy="658368"/>
          </a:xfrm>
          <a:prstGeom prst="rect">
            <a:avLst/>
          </a:prstGeom>
          <a:noFill/>
          <a:ln/>
        </p:spPr>
        <p:txBody>
          <a:bodyPr wrap="square" lIns="0" tIns="0" rIns="0" bIns="0" rtlCol="0" anchor="t">
            <a:normAutofit/>
          </a:bodyPr>
          <a:lstStyle/>
          <a:p>
            <a:pPr algn="ctr" indent="0" marL="0">
              <a:lnSpc>
                <a:spcPct val="100000"/>
              </a:lnSpc>
              <a:buNone/>
            </a:pPr>
            <a:r>
              <a:rPr lang="en-US" sz="1010" dirty="0">
                <a:solidFill>
                  <a:srgbClr val="253B5F"/>
                </a:solidFill>
                <a:latin typeface="Aptos" pitchFamily="34" charset="0"/>
                <a:ea typeface="Aptos" pitchFamily="34" charset="-122"/>
                <a:cs typeface="Aptos" pitchFamily="34" charset="-120"/>
              </a:rPr>
              <a:t>Bắt buộc citation; lọc khuyến nghị tự đổi/ngừng thuốc.</a:t>
            </a:r>
            <a:endParaRPr lang="en-US" sz="1010" dirty="0"/>
          </a:p>
        </p:txBody>
      </p:sp>
      <p:sp>
        <p:nvSpPr>
          <p:cNvPr id="43" name="Shape 41"/>
          <p:cNvSpPr/>
          <p:nvPr/>
        </p:nvSpPr>
        <p:spPr>
          <a:xfrm>
            <a:off x="8897112" y="4169664"/>
            <a:ext cx="2505456" cy="1591056"/>
          </a:xfrm>
          <a:prstGeom prst="roundRect">
            <a:avLst>
              <a:gd name="adj" fmla="val 9195"/>
            </a:avLst>
          </a:prstGeom>
          <a:solidFill>
            <a:srgbClr val="E1F5EF"/>
          </a:solidFill>
          <a:ln w="12700">
            <a:solidFill>
              <a:srgbClr val="E1F5EF"/>
            </a:solidFill>
            <a:prstDash val="solid"/>
          </a:ln>
        </p:spPr>
      </p:sp>
      <p:sp>
        <p:nvSpPr>
          <p:cNvPr id="44" name="Text 42"/>
          <p:cNvSpPr txBox="1"/>
          <p:nvPr/>
        </p:nvSpPr>
        <p:spPr>
          <a:xfrm>
            <a:off x="9079992" y="4379976"/>
            <a:ext cx="2139696" cy="274320"/>
          </a:xfrm>
          <a:prstGeom prst="rect">
            <a:avLst/>
          </a:prstGeom>
          <a:noFill/>
          <a:ln/>
        </p:spPr>
        <p:txBody>
          <a:bodyPr wrap="square" lIns="0" tIns="0" rIns="0" bIns="0" rtlCol="0" anchor="ctr">
            <a:normAutofit/>
          </a:bodyPr>
          <a:lstStyle/>
          <a:p>
            <a:pPr algn="ctr" indent="0" marL="0">
              <a:lnSpc>
                <a:spcPct val="100000"/>
              </a:lnSpc>
              <a:buNone/>
            </a:pPr>
            <a:r>
              <a:rPr lang="en-US" sz="1130" b="1" dirty="0">
                <a:solidFill>
                  <a:srgbClr val="2C9A83"/>
                </a:solidFill>
                <a:latin typeface="Aptos" pitchFamily="34" charset="0"/>
                <a:ea typeface="Aptos" pitchFamily="34" charset="-122"/>
                <a:cs typeface="Aptos" pitchFamily="34" charset="-120"/>
              </a:rPr>
              <a:t>Con người kiểm soát</a:t>
            </a:r>
            <a:endParaRPr lang="en-US" sz="1130" dirty="0"/>
          </a:p>
        </p:txBody>
      </p:sp>
      <p:sp>
        <p:nvSpPr>
          <p:cNvPr id="45" name="Text 43"/>
          <p:cNvSpPr txBox="1"/>
          <p:nvPr/>
        </p:nvSpPr>
        <p:spPr>
          <a:xfrm>
            <a:off x="9125712" y="4782312"/>
            <a:ext cx="2048256" cy="658368"/>
          </a:xfrm>
          <a:prstGeom prst="rect">
            <a:avLst/>
          </a:prstGeom>
          <a:noFill/>
          <a:ln/>
        </p:spPr>
        <p:txBody>
          <a:bodyPr wrap="square" lIns="0" tIns="0" rIns="0" bIns="0" rtlCol="0" anchor="t">
            <a:normAutofit/>
          </a:bodyPr>
          <a:lstStyle/>
          <a:p>
            <a:pPr algn="ctr" indent="0" marL="0">
              <a:lnSpc>
                <a:spcPct val="100000"/>
              </a:lnSpc>
              <a:buNone/>
            </a:pPr>
            <a:r>
              <a:rPr lang="en-US" sz="1010" dirty="0">
                <a:solidFill>
                  <a:srgbClr val="253B5F"/>
                </a:solidFill>
                <a:latin typeface="Aptos" pitchFamily="34" charset="0"/>
                <a:ea typeface="Aptos" pitchFamily="34" charset="-122"/>
                <a:cs typeface="Aptos" pitchFamily="34" charset="-120"/>
              </a:rPr>
              <a:t>Dược sĩ xem chi tiết chuyên môn và xác nhận ca cần chú ý.</a:t>
            </a:r>
            <a:endParaRPr lang="en-US" sz="101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30352" y="310896"/>
            <a:ext cx="4754880" cy="256032"/>
          </a:xfrm>
          <a:prstGeom prst="rect">
            <a:avLst/>
          </a:prstGeom>
          <a:noFill/>
          <a:ln/>
        </p:spPr>
        <p:txBody>
          <a:bodyPr wrap="square" lIns="0" tIns="0" rIns="0" bIns="0" rtlCol="0" anchor="ctr">
            <a:normAutofit/>
          </a:bodyPr>
          <a:lstStyle/>
          <a:p>
            <a:pPr algn="l" indent="0" marL="0">
              <a:lnSpc>
                <a:spcPct val="100000"/>
              </a:lnSpc>
              <a:buNone/>
            </a:pPr>
            <a:r>
              <a:rPr lang="en-US" sz="1000" b="1" spc="180" kern="0" dirty="0">
                <a:solidFill>
                  <a:srgbClr val="4D73C9"/>
                </a:solidFill>
                <a:latin typeface="Aptos" pitchFamily="34" charset="0"/>
                <a:ea typeface="Aptos" pitchFamily="34" charset="-122"/>
                <a:cs typeface="Aptos" pitchFamily="34" charset="-120"/>
              </a:rPr>
              <a:t>09 / NỀN TẢNG KỸ THUẬT</a:t>
            </a:r>
            <a:endParaRPr lang="en-US" sz="1000" dirty="0"/>
          </a:p>
        </p:txBody>
      </p:sp>
      <p:sp>
        <p:nvSpPr>
          <p:cNvPr id="3" name="Text 1"/>
          <p:cNvSpPr txBox="1"/>
          <p:nvPr/>
        </p:nvSpPr>
        <p:spPr>
          <a:xfrm>
            <a:off x="530352" y="658368"/>
            <a:ext cx="11064240" cy="530352"/>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1284C"/>
                </a:solidFill>
                <a:latin typeface="Aptos" pitchFamily="34" charset="0"/>
                <a:ea typeface="Aptos" pitchFamily="34" charset="-122"/>
                <a:cs typeface="Aptos" pitchFamily="34" charset="-120"/>
              </a:rPr>
              <a:t>Một MVP full-stack có thể chạy nhất quán bằng Docker</a:t>
            </a:r>
            <a:endParaRPr lang="en-US" sz="2700" dirty="0"/>
          </a:p>
        </p:txBody>
      </p:sp>
      <p:sp>
        <p:nvSpPr>
          <p:cNvPr id="4" name="Text 2"/>
          <p:cNvSpPr txBox="1"/>
          <p:nvPr/>
        </p:nvSpPr>
        <p:spPr>
          <a:xfrm>
            <a:off x="530352" y="1197864"/>
            <a:ext cx="10972800" cy="384048"/>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667792"/>
                </a:solidFill>
                <a:latin typeface="Aptos" pitchFamily="34" charset="0"/>
                <a:ea typeface="Aptos" pitchFamily="34" charset="-122"/>
                <a:cs typeface="Aptos" pitchFamily="34" charset="-120"/>
              </a:rPr>
              <a:t>Công nghệ được chọn để tối ưu tốc độ phát triển, khả năng kiểm thử và đường nâng cấp lên production.</a:t>
            </a:r>
            <a:endParaRPr lang="en-US" sz="1250" dirty="0"/>
          </a:p>
        </p:txBody>
      </p:sp>
      <p:sp>
        <p:nvSpPr>
          <p:cNvPr id="5" name="Shape 3"/>
          <p:cNvSpPr/>
          <p:nvPr/>
        </p:nvSpPr>
        <p:spPr>
          <a:xfrm>
            <a:off x="530352" y="1801368"/>
            <a:ext cx="1874520" cy="2039112"/>
          </a:xfrm>
          <a:prstGeom prst="roundRect">
            <a:avLst>
              <a:gd name="adj" fmla="val 8780"/>
            </a:avLst>
          </a:prstGeom>
          <a:solidFill>
            <a:srgbClr val="FFFFFF"/>
          </a:solidFill>
          <a:ln w="12700">
            <a:solidFill>
              <a:srgbClr val="CBD8ED"/>
            </a:solidFill>
            <a:prstDash val="solid"/>
          </a:ln>
        </p:spPr>
      </p:sp>
      <p:sp>
        <p:nvSpPr>
          <p:cNvPr id="6" name="Shape 4"/>
          <p:cNvSpPr/>
          <p:nvPr/>
        </p:nvSpPr>
        <p:spPr>
          <a:xfrm>
            <a:off x="530352" y="1801368"/>
            <a:ext cx="1874520" cy="73152"/>
          </a:xfrm>
          <a:prstGeom prst="rect">
            <a:avLst/>
          </a:prstGeom>
          <a:solidFill>
            <a:srgbClr val="4D73C9"/>
          </a:solidFill>
          <a:ln w="12700">
            <a:solidFill>
              <a:srgbClr val="4D73C9"/>
            </a:solidFill>
            <a:prstDash val="solid"/>
          </a:ln>
        </p:spPr>
      </p:sp>
      <p:sp>
        <p:nvSpPr>
          <p:cNvPr id="7" name="Text 5"/>
          <p:cNvSpPr txBox="1"/>
          <p:nvPr/>
        </p:nvSpPr>
        <p:spPr>
          <a:xfrm>
            <a:off x="713232" y="2121408"/>
            <a:ext cx="1508760" cy="256032"/>
          </a:xfrm>
          <a:prstGeom prst="rect">
            <a:avLst/>
          </a:prstGeom>
          <a:noFill/>
          <a:ln/>
        </p:spPr>
        <p:txBody>
          <a:bodyPr wrap="square" lIns="0" tIns="0" rIns="0" bIns="0" rtlCol="0" anchor="ctr">
            <a:normAutofit/>
          </a:bodyPr>
          <a:lstStyle/>
          <a:p>
            <a:pPr algn="ctr" indent="0" marL="0">
              <a:lnSpc>
                <a:spcPct val="100000"/>
              </a:lnSpc>
              <a:buNone/>
            </a:pPr>
            <a:r>
              <a:rPr lang="en-US" sz="1000" b="1" spc="90" kern="0" dirty="0">
                <a:solidFill>
                  <a:srgbClr val="4D73C9"/>
                </a:solidFill>
                <a:latin typeface="Aptos" pitchFamily="34" charset="0"/>
                <a:ea typeface="Aptos" pitchFamily="34" charset="-122"/>
                <a:cs typeface="Aptos" pitchFamily="34" charset="-120"/>
              </a:rPr>
              <a:t>FRONTEND</a:t>
            </a:r>
            <a:endParaRPr lang="en-US" sz="1000" dirty="0"/>
          </a:p>
        </p:txBody>
      </p:sp>
      <p:sp>
        <p:nvSpPr>
          <p:cNvPr id="8" name="Text 6"/>
          <p:cNvSpPr txBox="1"/>
          <p:nvPr/>
        </p:nvSpPr>
        <p:spPr>
          <a:xfrm>
            <a:off x="713232" y="2596896"/>
            <a:ext cx="1508760" cy="877824"/>
          </a:xfrm>
          <a:prstGeom prst="rect">
            <a:avLst/>
          </a:prstGeom>
          <a:noFill/>
          <a:ln/>
        </p:spPr>
        <p:txBody>
          <a:bodyPr wrap="square" lIns="0" tIns="0" rIns="0" bIns="0" rtlCol="0" anchor="t">
            <a:normAutofit/>
          </a:bodyPr>
          <a:lstStyle/>
          <a:p>
            <a:pPr algn="ctr" indent="0" marL="0">
              <a:lnSpc>
                <a:spcPct val="100000"/>
              </a:lnSpc>
              <a:buNone/>
            </a:pPr>
            <a:r>
              <a:rPr lang="en-US" sz="1150" b="1" dirty="0">
                <a:solidFill>
                  <a:srgbClr val="11284C"/>
                </a:solidFill>
                <a:latin typeface="Aptos" pitchFamily="34" charset="0"/>
                <a:ea typeface="Aptos" pitchFamily="34" charset="-122"/>
                <a:cs typeface="Aptos" pitchFamily="34" charset="-120"/>
              </a:rPr>
              <a:t>Next.js 14</a:t>
            </a:r>
            <a:endParaRPr lang="en-US" sz="1150" dirty="0"/>
          </a:p>
          <a:p>
            <a:pPr algn="ctr" indent="0" marL="0">
              <a:lnSpc>
                <a:spcPct val="100000"/>
              </a:lnSpc>
              <a:buNone/>
            </a:pPr>
            <a:r>
              <a:rPr lang="en-US" sz="1150" b="1" dirty="0">
                <a:solidFill>
                  <a:srgbClr val="11284C"/>
                </a:solidFill>
                <a:latin typeface="Aptos" pitchFamily="34" charset="0"/>
                <a:ea typeface="Aptos" pitchFamily="34" charset="-122"/>
                <a:cs typeface="Aptos" pitchFamily="34" charset="-120"/>
              </a:rPr>
              <a:t>React 18</a:t>
            </a:r>
            <a:endParaRPr lang="en-US" sz="1150" dirty="0"/>
          </a:p>
          <a:p>
            <a:pPr algn="ctr" indent="0" marL="0">
              <a:lnSpc>
                <a:spcPct val="100000"/>
              </a:lnSpc>
              <a:buNone/>
            </a:pPr>
            <a:r>
              <a:rPr lang="en-US" sz="1150" b="1" dirty="0">
                <a:solidFill>
                  <a:srgbClr val="11284C"/>
                </a:solidFill>
                <a:latin typeface="Aptos" pitchFamily="34" charset="0"/>
                <a:ea typeface="Aptos" pitchFamily="34" charset="-122"/>
                <a:cs typeface="Aptos" pitchFamily="34" charset="-120"/>
              </a:rPr>
              <a:t>TypeScript</a:t>
            </a:r>
            <a:endParaRPr lang="en-US" sz="1150" dirty="0"/>
          </a:p>
        </p:txBody>
      </p:sp>
      <p:sp>
        <p:nvSpPr>
          <p:cNvPr id="9" name="Shape 7"/>
          <p:cNvSpPr/>
          <p:nvPr/>
        </p:nvSpPr>
        <p:spPr>
          <a:xfrm>
            <a:off x="2779776" y="1801368"/>
            <a:ext cx="1874520" cy="2039112"/>
          </a:xfrm>
          <a:prstGeom prst="roundRect">
            <a:avLst>
              <a:gd name="adj" fmla="val 8780"/>
            </a:avLst>
          </a:prstGeom>
          <a:solidFill>
            <a:srgbClr val="FFFFFF"/>
          </a:solidFill>
          <a:ln w="12700">
            <a:solidFill>
              <a:srgbClr val="CBD8ED"/>
            </a:solidFill>
            <a:prstDash val="solid"/>
          </a:ln>
        </p:spPr>
      </p:sp>
      <p:sp>
        <p:nvSpPr>
          <p:cNvPr id="10" name="Shape 8"/>
          <p:cNvSpPr/>
          <p:nvPr/>
        </p:nvSpPr>
        <p:spPr>
          <a:xfrm>
            <a:off x="2779776" y="1801368"/>
            <a:ext cx="1874520" cy="73152"/>
          </a:xfrm>
          <a:prstGeom prst="rect">
            <a:avLst/>
          </a:prstGeom>
          <a:solidFill>
            <a:srgbClr val="8156BF"/>
          </a:solidFill>
          <a:ln w="12700">
            <a:solidFill>
              <a:srgbClr val="8156BF"/>
            </a:solidFill>
            <a:prstDash val="solid"/>
          </a:ln>
        </p:spPr>
      </p:sp>
      <p:sp>
        <p:nvSpPr>
          <p:cNvPr id="11" name="Text 9"/>
          <p:cNvSpPr txBox="1"/>
          <p:nvPr/>
        </p:nvSpPr>
        <p:spPr>
          <a:xfrm>
            <a:off x="2962656" y="2121408"/>
            <a:ext cx="1508760" cy="256032"/>
          </a:xfrm>
          <a:prstGeom prst="rect">
            <a:avLst/>
          </a:prstGeom>
          <a:noFill/>
          <a:ln/>
        </p:spPr>
        <p:txBody>
          <a:bodyPr wrap="square" lIns="0" tIns="0" rIns="0" bIns="0" rtlCol="0" anchor="ctr">
            <a:normAutofit/>
          </a:bodyPr>
          <a:lstStyle/>
          <a:p>
            <a:pPr algn="ctr" indent="0" marL="0">
              <a:lnSpc>
                <a:spcPct val="100000"/>
              </a:lnSpc>
              <a:buNone/>
            </a:pPr>
            <a:r>
              <a:rPr lang="en-US" sz="1000" b="1" spc="90" kern="0" dirty="0">
                <a:solidFill>
                  <a:srgbClr val="8156BF"/>
                </a:solidFill>
                <a:latin typeface="Aptos" pitchFamily="34" charset="0"/>
                <a:ea typeface="Aptos" pitchFamily="34" charset="-122"/>
                <a:cs typeface="Aptos" pitchFamily="34" charset="-120"/>
              </a:rPr>
              <a:t>BACKEND</a:t>
            </a:r>
            <a:endParaRPr lang="en-US" sz="1000" dirty="0"/>
          </a:p>
        </p:txBody>
      </p:sp>
      <p:sp>
        <p:nvSpPr>
          <p:cNvPr id="12" name="Text 10"/>
          <p:cNvSpPr txBox="1"/>
          <p:nvPr/>
        </p:nvSpPr>
        <p:spPr>
          <a:xfrm>
            <a:off x="2962656" y="2596896"/>
            <a:ext cx="1508760" cy="877824"/>
          </a:xfrm>
          <a:prstGeom prst="rect">
            <a:avLst/>
          </a:prstGeom>
          <a:noFill/>
          <a:ln/>
        </p:spPr>
        <p:txBody>
          <a:bodyPr wrap="square" lIns="0" tIns="0" rIns="0" bIns="0" rtlCol="0" anchor="t">
            <a:normAutofit/>
          </a:bodyPr>
          <a:lstStyle/>
          <a:p>
            <a:pPr algn="ctr" indent="0" marL="0">
              <a:lnSpc>
                <a:spcPct val="100000"/>
              </a:lnSpc>
              <a:buNone/>
            </a:pPr>
            <a:r>
              <a:rPr lang="en-US" sz="1150" b="1" dirty="0">
                <a:solidFill>
                  <a:srgbClr val="11284C"/>
                </a:solidFill>
                <a:latin typeface="Aptos" pitchFamily="34" charset="0"/>
                <a:ea typeface="Aptos" pitchFamily="34" charset="-122"/>
                <a:cs typeface="Aptos" pitchFamily="34" charset="-120"/>
              </a:rPr>
              <a:t>FastAPI</a:t>
            </a:r>
            <a:endParaRPr lang="en-US" sz="1150" dirty="0"/>
          </a:p>
          <a:p>
            <a:pPr algn="ctr" indent="0" marL="0">
              <a:lnSpc>
                <a:spcPct val="100000"/>
              </a:lnSpc>
              <a:buNone/>
            </a:pPr>
            <a:r>
              <a:rPr lang="en-US" sz="1150" b="1" dirty="0">
                <a:solidFill>
                  <a:srgbClr val="11284C"/>
                </a:solidFill>
                <a:latin typeface="Aptos" pitchFamily="34" charset="0"/>
                <a:ea typeface="Aptos" pitchFamily="34" charset="-122"/>
                <a:cs typeface="Aptos" pitchFamily="34" charset="-120"/>
              </a:rPr>
              <a:t>Pydantic</a:t>
            </a:r>
            <a:endParaRPr lang="en-US" sz="1150" dirty="0"/>
          </a:p>
          <a:p>
            <a:pPr algn="ctr" indent="0" marL="0">
              <a:lnSpc>
                <a:spcPct val="100000"/>
              </a:lnSpc>
              <a:buNone/>
            </a:pPr>
            <a:r>
              <a:rPr lang="en-US" sz="1150" b="1" dirty="0">
                <a:solidFill>
                  <a:srgbClr val="11284C"/>
                </a:solidFill>
                <a:latin typeface="Aptos" pitchFamily="34" charset="0"/>
                <a:ea typeface="Aptos" pitchFamily="34" charset="-122"/>
                <a:cs typeface="Aptos" pitchFamily="34" charset="-120"/>
              </a:rPr>
              <a:t>Uvicorn</a:t>
            </a:r>
            <a:endParaRPr lang="en-US" sz="1150" dirty="0"/>
          </a:p>
        </p:txBody>
      </p:sp>
      <p:sp>
        <p:nvSpPr>
          <p:cNvPr id="13" name="Shape 11"/>
          <p:cNvSpPr/>
          <p:nvPr/>
        </p:nvSpPr>
        <p:spPr>
          <a:xfrm>
            <a:off x="5029200" y="1801368"/>
            <a:ext cx="1874520" cy="2039112"/>
          </a:xfrm>
          <a:prstGeom prst="roundRect">
            <a:avLst>
              <a:gd name="adj" fmla="val 8780"/>
            </a:avLst>
          </a:prstGeom>
          <a:solidFill>
            <a:srgbClr val="FFFFFF"/>
          </a:solidFill>
          <a:ln w="12700">
            <a:solidFill>
              <a:srgbClr val="CBD8ED"/>
            </a:solidFill>
            <a:prstDash val="solid"/>
          </a:ln>
        </p:spPr>
      </p:sp>
      <p:sp>
        <p:nvSpPr>
          <p:cNvPr id="14" name="Shape 12"/>
          <p:cNvSpPr/>
          <p:nvPr/>
        </p:nvSpPr>
        <p:spPr>
          <a:xfrm>
            <a:off x="5029200" y="1801368"/>
            <a:ext cx="1874520" cy="73152"/>
          </a:xfrm>
          <a:prstGeom prst="rect">
            <a:avLst/>
          </a:prstGeom>
          <a:solidFill>
            <a:srgbClr val="C68A2E"/>
          </a:solidFill>
          <a:ln w="12700">
            <a:solidFill>
              <a:srgbClr val="C68A2E"/>
            </a:solidFill>
            <a:prstDash val="solid"/>
          </a:ln>
        </p:spPr>
      </p:sp>
      <p:sp>
        <p:nvSpPr>
          <p:cNvPr id="15" name="Text 13"/>
          <p:cNvSpPr txBox="1"/>
          <p:nvPr/>
        </p:nvSpPr>
        <p:spPr>
          <a:xfrm>
            <a:off x="5212080" y="2121408"/>
            <a:ext cx="1508760" cy="256032"/>
          </a:xfrm>
          <a:prstGeom prst="rect">
            <a:avLst/>
          </a:prstGeom>
          <a:noFill/>
          <a:ln/>
        </p:spPr>
        <p:txBody>
          <a:bodyPr wrap="square" lIns="0" tIns="0" rIns="0" bIns="0" rtlCol="0" anchor="ctr">
            <a:normAutofit/>
          </a:bodyPr>
          <a:lstStyle/>
          <a:p>
            <a:pPr algn="ctr" indent="0" marL="0">
              <a:lnSpc>
                <a:spcPct val="100000"/>
              </a:lnSpc>
              <a:buNone/>
            </a:pPr>
            <a:r>
              <a:rPr lang="en-US" sz="1000" b="1" spc="90" kern="0" dirty="0">
                <a:solidFill>
                  <a:srgbClr val="C68A2E"/>
                </a:solidFill>
                <a:latin typeface="Aptos" pitchFamily="34" charset="0"/>
                <a:ea typeface="Aptos" pitchFamily="34" charset="-122"/>
                <a:cs typeface="Aptos" pitchFamily="34" charset="-120"/>
              </a:rPr>
              <a:t>AGENT</a:t>
            </a:r>
            <a:endParaRPr lang="en-US" sz="1000" dirty="0"/>
          </a:p>
        </p:txBody>
      </p:sp>
      <p:sp>
        <p:nvSpPr>
          <p:cNvPr id="16" name="Text 14"/>
          <p:cNvSpPr txBox="1"/>
          <p:nvPr/>
        </p:nvSpPr>
        <p:spPr>
          <a:xfrm>
            <a:off x="5212080" y="2596896"/>
            <a:ext cx="1508760" cy="877824"/>
          </a:xfrm>
          <a:prstGeom prst="rect">
            <a:avLst/>
          </a:prstGeom>
          <a:noFill/>
          <a:ln/>
        </p:spPr>
        <p:txBody>
          <a:bodyPr wrap="square" lIns="0" tIns="0" rIns="0" bIns="0" rtlCol="0" anchor="t">
            <a:normAutofit/>
          </a:bodyPr>
          <a:lstStyle/>
          <a:p>
            <a:pPr algn="ctr" indent="0" marL="0">
              <a:lnSpc>
                <a:spcPct val="100000"/>
              </a:lnSpc>
              <a:buNone/>
            </a:pPr>
            <a:r>
              <a:rPr lang="en-US" sz="1150" b="1" dirty="0">
                <a:solidFill>
                  <a:srgbClr val="11284C"/>
                </a:solidFill>
                <a:latin typeface="Aptos" pitchFamily="34" charset="0"/>
                <a:ea typeface="Aptos" pitchFamily="34" charset="-122"/>
                <a:cs typeface="Aptos" pitchFamily="34" charset="-120"/>
              </a:rPr>
              <a:t>LangGraph</a:t>
            </a:r>
            <a:endParaRPr lang="en-US" sz="1150" dirty="0"/>
          </a:p>
          <a:p>
            <a:pPr algn="ctr" indent="0" marL="0">
              <a:lnSpc>
                <a:spcPct val="100000"/>
              </a:lnSpc>
              <a:buNone/>
            </a:pPr>
            <a:r>
              <a:rPr lang="en-US" sz="1150" b="1" dirty="0">
                <a:solidFill>
                  <a:srgbClr val="11284C"/>
                </a:solidFill>
                <a:latin typeface="Aptos" pitchFamily="34" charset="0"/>
                <a:ea typeface="Aptos" pitchFamily="34" charset="-122"/>
                <a:cs typeface="Aptos" pitchFamily="34" charset="-120"/>
              </a:rPr>
              <a:t>LangChain</a:t>
            </a:r>
            <a:endParaRPr lang="en-US" sz="1150" dirty="0"/>
          </a:p>
          <a:p>
            <a:pPr algn="ctr" indent="0" marL="0">
              <a:lnSpc>
                <a:spcPct val="100000"/>
              </a:lnSpc>
              <a:buNone/>
            </a:pPr>
            <a:r>
              <a:rPr lang="en-US" sz="1150" b="1" dirty="0">
                <a:solidFill>
                  <a:srgbClr val="11284C"/>
                </a:solidFill>
                <a:latin typeface="Aptos" pitchFamily="34" charset="0"/>
                <a:ea typeface="Aptos" pitchFamily="34" charset="-122"/>
                <a:cs typeface="Aptos" pitchFamily="34" charset="-120"/>
              </a:rPr>
              <a:t>DeepSeek Chat</a:t>
            </a:r>
            <a:endParaRPr lang="en-US" sz="1150" dirty="0"/>
          </a:p>
        </p:txBody>
      </p:sp>
      <p:sp>
        <p:nvSpPr>
          <p:cNvPr id="17" name="Shape 15"/>
          <p:cNvSpPr/>
          <p:nvPr/>
        </p:nvSpPr>
        <p:spPr>
          <a:xfrm>
            <a:off x="7278624" y="1801368"/>
            <a:ext cx="1874520" cy="2039112"/>
          </a:xfrm>
          <a:prstGeom prst="roundRect">
            <a:avLst>
              <a:gd name="adj" fmla="val 8780"/>
            </a:avLst>
          </a:prstGeom>
          <a:solidFill>
            <a:srgbClr val="FFFFFF"/>
          </a:solidFill>
          <a:ln w="12700">
            <a:solidFill>
              <a:srgbClr val="CBD8ED"/>
            </a:solidFill>
            <a:prstDash val="solid"/>
          </a:ln>
        </p:spPr>
      </p:sp>
      <p:sp>
        <p:nvSpPr>
          <p:cNvPr id="18" name="Shape 16"/>
          <p:cNvSpPr/>
          <p:nvPr/>
        </p:nvSpPr>
        <p:spPr>
          <a:xfrm>
            <a:off x="7278624" y="1801368"/>
            <a:ext cx="1874520" cy="73152"/>
          </a:xfrm>
          <a:prstGeom prst="rect">
            <a:avLst/>
          </a:prstGeom>
          <a:solidFill>
            <a:srgbClr val="2C9A83"/>
          </a:solidFill>
          <a:ln w="12700">
            <a:solidFill>
              <a:srgbClr val="2C9A83"/>
            </a:solidFill>
            <a:prstDash val="solid"/>
          </a:ln>
        </p:spPr>
      </p:sp>
      <p:sp>
        <p:nvSpPr>
          <p:cNvPr id="19" name="Text 17"/>
          <p:cNvSpPr txBox="1"/>
          <p:nvPr/>
        </p:nvSpPr>
        <p:spPr>
          <a:xfrm>
            <a:off x="7461504" y="2121408"/>
            <a:ext cx="1508760" cy="256032"/>
          </a:xfrm>
          <a:prstGeom prst="rect">
            <a:avLst/>
          </a:prstGeom>
          <a:noFill/>
          <a:ln/>
        </p:spPr>
        <p:txBody>
          <a:bodyPr wrap="square" lIns="0" tIns="0" rIns="0" bIns="0" rtlCol="0" anchor="ctr">
            <a:normAutofit/>
          </a:bodyPr>
          <a:lstStyle/>
          <a:p>
            <a:pPr algn="ctr" indent="0" marL="0">
              <a:lnSpc>
                <a:spcPct val="100000"/>
              </a:lnSpc>
              <a:buNone/>
            </a:pPr>
            <a:r>
              <a:rPr lang="en-US" sz="1000" b="1" spc="90" kern="0" dirty="0">
                <a:solidFill>
                  <a:srgbClr val="2C9A83"/>
                </a:solidFill>
                <a:latin typeface="Aptos" pitchFamily="34" charset="0"/>
                <a:ea typeface="Aptos" pitchFamily="34" charset="-122"/>
                <a:cs typeface="Aptos" pitchFamily="34" charset="-120"/>
              </a:rPr>
              <a:t>DATA</a:t>
            </a:r>
            <a:endParaRPr lang="en-US" sz="1000" dirty="0"/>
          </a:p>
        </p:txBody>
      </p:sp>
      <p:sp>
        <p:nvSpPr>
          <p:cNvPr id="20" name="Text 18"/>
          <p:cNvSpPr txBox="1"/>
          <p:nvPr/>
        </p:nvSpPr>
        <p:spPr>
          <a:xfrm>
            <a:off x="7461504" y="2596896"/>
            <a:ext cx="1508760" cy="877824"/>
          </a:xfrm>
          <a:prstGeom prst="rect">
            <a:avLst/>
          </a:prstGeom>
          <a:noFill/>
          <a:ln/>
        </p:spPr>
        <p:txBody>
          <a:bodyPr wrap="square" lIns="0" tIns="0" rIns="0" bIns="0" rtlCol="0" anchor="t">
            <a:normAutofit/>
          </a:bodyPr>
          <a:lstStyle/>
          <a:p>
            <a:pPr algn="ctr" indent="0" marL="0">
              <a:lnSpc>
                <a:spcPct val="100000"/>
              </a:lnSpc>
              <a:buNone/>
            </a:pPr>
            <a:r>
              <a:rPr lang="en-US" sz="1150" b="1" dirty="0">
                <a:solidFill>
                  <a:srgbClr val="11284C"/>
                </a:solidFill>
                <a:latin typeface="Aptos" pitchFamily="34" charset="0"/>
                <a:ea typeface="Aptos" pitchFamily="34" charset="-122"/>
                <a:cs typeface="Aptos" pitchFamily="34" charset="-120"/>
              </a:rPr>
              <a:t>Supabase Postgres</a:t>
            </a:r>
            <a:endParaRPr lang="en-US" sz="1150" dirty="0"/>
          </a:p>
          <a:p>
            <a:pPr algn="ctr" indent="0" marL="0">
              <a:lnSpc>
                <a:spcPct val="100000"/>
              </a:lnSpc>
              <a:buNone/>
            </a:pPr>
            <a:r>
              <a:rPr lang="en-US" sz="1150" b="1" dirty="0">
                <a:solidFill>
                  <a:srgbClr val="11284C"/>
                </a:solidFill>
                <a:latin typeface="Aptos" pitchFamily="34" charset="0"/>
                <a:ea typeface="Aptos" pitchFamily="34" charset="-122"/>
                <a:cs typeface="Aptos" pitchFamily="34" charset="-120"/>
              </a:rPr>
              <a:t>CockroachDB (facts)</a:t>
            </a:r>
            <a:endParaRPr lang="en-US" sz="1150" dirty="0"/>
          </a:p>
          <a:p>
            <a:pPr algn="ctr" indent="0" marL="0">
              <a:lnSpc>
                <a:spcPct val="100000"/>
              </a:lnSpc>
              <a:buNone/>
            </a:pPr>
            <a:r>
              <a:rPr lang="en-US" sz="1150" b="1" dirty="0">
                <a:solidFill>
                  <a:srgbClr val="11284C"/>
                </a:solidFill>
                <a:latin typeface="Aptos" pitchFamily="34" charset="0"/>
                <a:ea typeface="Aptos" pitchFamily="34" charset="-122"/>
                <a:cs typeface="Aptos" pitchFamily="34" charset="-120"/>
              </a:rPr>
              <a:t>SQLAlchemy</a:t>
            </a:r>
            <a:endParaRPr lang="en-US" sz="1150" dirty="0"/>
          </a:p>
        </p:txBody>
      </p:sp>
      <p:sp>
        <p:nvSpPr>
          <p:cNvPr id="21" name="Shape 19"/>
          <p:cNvSpPr/>
          <p:nvPr/>
        </p:nvSpPr>
        <p:spPr>
          <a:xfrm>
            <a:off x="9528048" y="1801368"/>
            <a:ext cx="1874520" cy="2039112"/>
          </a:xfrm>
          <a:prstGeom prst="roundRect">
            <a:avLst>
              <a:gd name="adj" fmla="val 8780"/>
            </a:avLst>
          </a:prstGeom>
          <a:solidFill>
            <a:srgbClr val="FFFFFF"/>
          </a:solidFill>
          <a:ln w="12700">
            <a:solidFill>
              <a:srgbClr val="CBD8ED"/>
            </a:solidFill>
            <a:prstDash val="solid"/>
          </a:ln>
        </p:spPr>
      </p:sp>
      <p:sp>
        <p:nvSpPr>
          <p:cNvPr id="22" name="Shape 20"/>
          <p:cNvSpPr/>
          <p:nvPr/>
        </p:nvSpPr>
        <p:spPr>
          <a:xfrm>
            <a:off x="9528048" y="1801368"/>
            <a:ext cx="1874520" cy="73152"/>
          </a:xfrm>
          <a:prstGeom prst="rect">
            <a:avLst/>
          </a:prstGeom>
          <a:solidFill>
            <a:srgbClr val="D54B4B"/>
          </a:solidFill>
          <a:ln w="12700">
            <a:solidFill>
              <a:srgbClr val="D54B4B"/>
            </a:solidFill>
            <a:prstDash val="solid"/>
          </a:ln>
        </p:spPr>
      </p:sp>
      <p:sp>
        <p:nvSpPr>
          <p:cNvPr id="23" name="Text 21"/>
          <p:cNvSpPr txBox="1"/>
          <p:nvPr/>
        </p:nvSpPr>
        <p:spPr>
          <a:xfrm>
            <a:off x="9710928" y="2121408"/>
            <a:ext cx="1508760" cy="256032"/>
          </a:xfrm>
          <a:prstGeom prst="rect">
            <a:avLst/>
          </a:prstGeom>
          <a:noFill/>
          <a:ln/>
        </p:spPr>
        <p:txBody>
          <a:bodyPr wrap="square" lIns="0" tIns="0" rIns="0" bIns="0" rtlCol="0" anchor="ctr">
            <a:normAutofit/>
          </a:bodyPr>
          <a:lstStyle/>
          <a:p>
            <a:pPr algn="ctr" indent="0" marL="0">
              <a:lnSpc>
                <a:spcPct val="100000"/>
              </a:lnSpc>
              <a:buNone/>
            </a:pPr>
            <a:r>
              <a:rPr lang="en-US" sz="1000" b="1" spc="90" kern="0" dirty="0">
                <a:solidFill>
                  <a:srgbClr val="D54B4B"/>
                </a:solidFill>
                <a:latin typeface="Aptos" pitchFamily="34" charset="0"/>
                <a:ea typeface="Aptos" pitchFamily="34" charset="-122"/>
                <a:cs typeface="Aptos" pitchFamily="34" charset="-120"/>
              </a:rPr>
              <a:t>QUALITY</a:t>
            </a:r>
            <a:endParaRPr lang="en-US" sz="1000" dirty="0"/>
          </a:p>
        </p:txBody>
      </p:sp>
      <p:sp>
        <p:nvSpPr>
          <p:cNvPr id="24" name="Text 22"/>
          <p:cNvSpPr txBox="1"/>
          <p:nvPr/>
        </p:nvSpPr>
        <p:spPr>
          <a:xfrm>
            <a:off x="9710928" y="2596896"/>
            <a:ext cx="1508760" cy="877824"/>
          </a:xfrm>
          <a:prstGeom prst="rect">
            <a:avLst/>
          </a:prstGeom>
          <a:noFill/>
          <a:ln/>
        </p:spPr>
        <p:txBody>
          <a:bodyPr wrap="square" lIns="0" tIns="0" rIns="0" bIns="0" rtlCol="0" anchor="t">
            <a:normAutofit/>
          </a:bodyPr>
          <a:lstStyle/>
          <a:p>
            <a:pPr algn="ctr" indent="0" marL="0">
              <a:lnSpc>
                <a:spcPct val="100000"/>
              </a:lnSpc>
              <a:buNone/>
            </a:pPr>
            <a:r>
              <a:rPr lang="en-US" sz="1150" b="1" dirty="0">
                <a:solidFill>
                  <a:srgbClr val="11284C"/>
                </a:solidFill>
                <a:latin typeface="Aptos" pitchFamily="34" charset="0"/>
                <a:ea typeface="Aptos" pitchFamily="34" charset="-122"/>
                <a:cs typeface="Aptos" pitchFamily="34" charset="-120"/>
              </a:rPr>
              <a:t>pytest</a:t>
            </a:r>
            <a:endParaRPr lang="en-US" sz="1150" dirty="0"/>
          </a:p>
          <a:p>
            <a:pPr algn="ctr" indent="0" marL="0">
              <a:lnSpc>
                <a:spcPct val="100000"/>
              </a:lnSpc>
              <a:buNone/>
            </a:pPr>
            <a:r>
              <a:rPr lang="en-US" sz="1150" b="1" dirty="0">
                <a:solidFill>
                  <a:srgbClr val="11284C"/>
                </a:solidFill>
                <a:latin typeface="Aptos" pitchFamily="34" charset="0"/>
                <a:ea typeface="Aptos" pitchFamily="34" charset="-122"/>
                <a:cs typeface="Aptos" pitchFamily="34" charset="-120"/>
              </a:rPr>
              <a:t>Smoke test auth</a:t>
            </a:r>
            <a:endParaRPr lang="en-US" sz="1150" dirty="0"/>
          </a:p>
          <a:p>
            <a:pPr algn="ctr" indent="0" marL="0">
              <a:lnSpc>
                <a:spcPct val="100000"/>
              </a:lnSpc>
              <a:buNone/>
            </a:pPr>
            <a:r>
              <a:rPr lang="en-US" sz="1150" b="1" dirty="0">
                <a:solidFill>
                  <a:srgbClr val="11284C"/>
                </a:solidFill>
                <a:latin typeface="Aptos" pitchFamily="34" charset="0"/>
                <a:ea typeface="Aptos" pitchFamily="34" charset="-122"/>
                <a:cs typeface="Aptos" pitchFamily="34" charset="-120"/>
              </a:rPr>
              <a:t>Swagger / OpenAPI</a:t>
            </a:r>
            <a:endParaRPr lang="en-US" sz="1150" dirty="0"/>
          </a:p>
        </p:txBody>
      </p:sp>
      <p:sp>
        <p:nvSpPr>
          <p:cNvPr id="25" name="Text 23"/>
          <p:cNvSpPr txBox="1"/>
          <p:nvPr/>
        </p:nvSpPr>
        <p:spPr>
          <a:xfrm>
            <a:off x="530352" y="4233672"/>
            <a:ext cx="2286000" cy="25603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4D73C9"/>
                </a:solidFill>
                <a:latin typeface="Aptos" pitchFamily="34" charset="0"/>
                <a:ea typeface="Aptos" pitchFamily="34" charset="-122"/>
                <a:cs typeface="Aptos" pitchFamily="34" charset="-120"/>
              </a:rPr>
              <a:t>ĐƯỜNG TRIỂN KHAI</a:t>
            </a:r>
            <a:endParaRPr lang="en-US" sz="1000" dirty="0"/>
          </a:p>
        </p:txBody>
      </p:sp>
      <p:sp>
        <p:nvSpPr>
          <p:cNvPr id="26" name="Shape 24"/>
          <p:cNvSpPr/>
          <p:nvPr/>
        </p:nvSpPr>
        <p:spPr>
          <a:xfrm>
            <a:off x="530352" y="4626864"/>
            <a:ext cx="3364992" cy="1115568"/>
          </a:xfrm>
          <a:prstGeom prst="roundRect">
            <a:avLst>
              <a:gd name="adj" fmla="val 13934"/>
            </a:avLst>
          </a:prstGeom>
          <a:solidFill>
            <a:srgbClr val="E9F0FF"/>
          </a:solidFill>
          <a:ln w="12700">
            <a:solidFill>
              <a:srgbClr val="E9F0FF"/>
            </a:solidFill>
            <a:prstDash val="solid"/>
          </a:ln>
        </p:spPr>
      </p:sp>
      <p:sp>
        <p:nvSpPr>
          <p:cNvPr id="27" name="Text 25"/>
          <p:cNvSpPr txBox="1"/>
          <p:nvPr/>
        </p:nvSpPr>
        <p:spPr>
          <a:xfrm>
            <a:off x="731520" y="4754880"/>
            <a:ext cx="786384" cy="219456"/>
          </a:xfrm>
          <a:prstGeom prst="rect">
            <a:avLst/>
          </a:prstGeom>
          <a:noFill/>
          <a:ln/>
        </p:spPr>
        <p:txBody>
          <a:bodyPr wrap="square" lIns="0" tIns="0" rIns="0" bIns="0" rtlCol="0" anchor="ctr">
            <a:normAutofit/>
          </a:bodyPr>
          <a:lstStyle/>
          <a:p>
            <a:pPr algn="l" indent="0" marL="0">
              <a:lnSpc>
                <a:spcPct val="100000"/>
              </a:lnSpc>
              <a:buNone/>
            </a:pPr>
            <a:r>
              <a:rPr lang="en-US" sz="940" b="1" spc="90" kern="0" dirty="0">
                <a:solidFill>
                  <a:srgbClr val="4D73C9"/>
                </a:solidFill>
                <a:latin typeface="Aptos" pitchFamily="34" charset="0"/>
                <a:ea typeface="Aptos" pitchFamily="34" charset="-122"/>
                <a:cs typeface="Aptos" pitchFamily="34" charset="-120"/>
              </a:rPr>
              <a:t>LOCAL</a:t>
            </a:r>
            <a:endParaRPr lang="en-US" sz="940" dirty="0"/>
          </a:p>
        </p:txBody>
      </p:sp>
      <p:sp>
        <p:nvSpPr>
          <p:cNvPr id="28" name="Text 26"/>
          <p:cNvSpPr txBox="1"/>
          <p:nvPr/>
        </p:nvSpPr>
        <p:spPr>
          <a:xfrm>
            <a:off x="1554480" y="4727448"/>
            <a:ext cx="2066544" cy="292608"/>
          </a:xfrm>
          <a:prstGeom prst="rect">
            <a:avLst/>
          </a:prstGeom>
          <a:noFill/>
          <a:ln/>
        </p:spPr>
        <p:txBody>
          <a:bodyPr wrap="square" lIns="0" tIns="0" rIns="0" bIns="0" rtlCol="0" anchor="ctr">
            <a:normAutofit/>
          </a:bodyPr>
          <a:lstStyle/>
          <a:p>
            <a:pPr algn="l" indent="0" marL="0">
              <a:lnSpc>
                <a:spcPct val="100000"/>
              </a:lnSpc>
              <a:buNone/>
            </a:pPr>
            <a:r>
              <a:rPr lang="en-US" sz="1240" b="1" dirty="0">
                <a:solidFill>
                  <a:srgbClr val="11284C"/>
                </a:solidFill>
                <a:latin typeface="Aptos" pitchFamily="34" charset="0"/>
                <a:ea typeface="Aptos" pitchFamily="34" charset="-122"/>
                <a:cs typeface="Aptos" pitchFamily="34" charset="-120"/>
              </a:rPr>
              <a:t>Docker Compose</a:t>
            </a:r>
            <a:endParaRPr lang="en-US" sz="1240" dirty="0"/>
          </a:p>
        </p:txBody>
      </p:sp>
      <p:sp>
        <p:nvSpPr>
          <p:cNvPr id="29" name="Text 27"/>
          <p:cNvSpPr txBox="1"/>
          <p:nvPr/>
        </p:nvSpPr>
        <p:spPr>
          <a:xfrm>
            <a:off x="1554480" y="5102352"/>
            <a:ext cx="2066544" cy="274320"/>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667792"/>
                </a:solidFill>
                <a:latin typeface="Aptos" pitchFamily="34" charset="0"/>
                <a:ea typeface="Aptos" pitchFamily="34" charset="-122"/>
                <a:cs typeface="Aptos" pitchFamily="34" charset="-120"/>
              </a:rPr>
              <a:t>Frontend + Backend</a:t>
            </a:r>
            <a:endParaRPr lang="en-US" sz="1000" dirty="0"/>
          </a:p>
        </p:txBody>
      </p:sp>
      <p:sp>
        <p:nvSpPr>
          <p:cNvPr id="30" name="Shape 28"/>
          <p:cNvSpPr/>
          <p:nvPr/>
        </p:nvSpPr>
        <p:spPr>
          <a:xfrm>
            <a:off x="3941064" y="5175504"/>
            <a:ext cx="283464" cy="0"/>
          </a:xfrm>
          <a:prstGeom prst="line">
            <a:avLst/>
          </a:prstGeom>
          <a:noFill/>
          <a:ln w="22860">
            <a:solidFill>
              <a:srgbClr val="7899E8"/>
            </a:solidFill>
            <a:prstDash val="solid"/>
            <a:headEnd type="none"/>
            <a:tailEnd type="triangle"/>
          </a:ln>
        </p:spPr>
      </p:sp>
      <p:sp>
        <p:nvSpPr>
          <p:cNvPr id="31" name="Shape 29"/>
          <p:cNvSpPr/>
          <p:nvPr/>
        </p:nvSpPr>
        <p:spPr>
          <a:xfrm>
            <a:off x="4306824" y="4626864"/>
            <a:ext cx="3364992" cy="1115568"/>
          </a:xfrm>
          <a:prstGeom prst="roundRect">
            <a:avLst>
              <a:gd name="adj" fmla="val 13934"/>
            </a:avLst>
          </a:prstGeom>
          <a:solidFill>
            <a:srgbClr val="E9F0FF"/>
          </a:solidFill>
          <a:ln w="12700">
            <a:solidFill>
              <a:srgbClr val="E9F0FF"/>
            </a:solidFill>
            <a:prstDash val="solid"/>
          </a:ln>
        </p:spPr>
      </p:sp>
      <p:sp>
        <p:nvSpPr>
          <p:cNvPr id="32" name="Text 30"/>
          <p:cNvSpPr txBox="1"/>
          <p:nvPr/>
        </p:nvSpPr>
        <p:spPr>
          <a:xfrm>
            <a:off x="4507992" y="4754880"/>
            <a:ext cx="786384" cy="219456"/>
          </a:xfrm>
          <a:prstGeom prst="rect">
            <a:avLst/>
          </a:prstGeom>
          <a:noFill/>
          <a:ln/>
        </p:spPr>
        <p:txBody>
          <a:bodyPr wrap="square" lIns="0" tIns="0" rIns="0" bIns="0" rtlCol="0" anchor="ctr">
            <a:normAutofit/>
          </a:bodyPr>
          <a:lstStyle/>
          <a:p>
            <a:pPr algn="l" indent="0" marL="0">
              <a:lnSpc>
                <a:spcPct val="100000"/>
              </a:lnSpc>
              <a:buNone/>
            </a:pPr>
            <a:r>
              <a:rPr lang="en-US" sz="940" b="1" spc="90" kern="0" dirty="0">
                <a:solidFill>
                  <a:srgbClr val="4D73C9"/>
                </a:solidFill>
                <a:latin typeface="Aptos" pitchFamily="34" charset="0"/>
                <a:ea typeface="Aptos" pitchFamily="34" charset="-122"/>
                <a:cs typeface="Aptos" pitchFamily="34" charset="-120"/>
              </a:rPr>
              <a:t>STAGING</a:t>
            </a:r>
            <a:endParaRPr lang="en-US" sz="940" dirty="0"/>
          </a:p>
        </p:txBody>
      </p:sp>
      <p:sp>
        <p:nvSpPr>
          <p:cNvPr id="33" name="Text 31"/>
          <p:cNvSpPr txBox="1"/>
          <p:nvPr/>
        </p:nvSpPr>
        <p:spPr>
          <a:xfrm>
            <a:off x="5330952" y="4727448"/>
            <a:ext cx="2066544" cy="292608"/>
          </a:xfrm>
          <a:prstGeom prst="rect">
            <a:avLst/>
          </a:prstGeom>
          <a:noFill/>
          <a:ln/>
        </p:spPr>
        <p:txBody>
          <a:bodyPr wrap="square" lIns="0" tIns="0" rIns="0" bIns="0" rtlCol="0" anchor="ctr">
            <a:normAutofit/>
          </a:bodyPr>
          <a:lstStyle/>
          <a:p>
            <a:pPr algn="l" indent="0" marL="0">
              <a:lnSpc>
                <a:spcPct val="100000"/>
              </a:lnSpc>
              <a:buNone/>
            </a:pPr>
            <a:r>
              <a:rPr lang="en-US" sz="1240" b="1" dirty="0">
                <a:solidFill>
                  <a:srgbClr val="11284C"/>
                </a:solidFill>
                <a:latin typeface="Aptos" pitchFamily="34" charset="0"/>
                <a:ea typeface="Aptos" pitchFamily="34" charset="-122"/>
                <a:cs typeface="Aptos" pitchFamily="34" charset="-120"/>
              </a:rPr>
              <a:t>HTTPS + PostgreSQL</a:t>
            </a:r>
            <a:endParaRPr lang="en-US" sz="1240" dirty="0"/>
          </a:p>
        </p:txBody>
      </p:sp>
      <p:sp>
        <p:nvSpPr>
          <p:cNvPr id="34" name="Text 32"/>
          <p:cNvSpPr txBox="1"/>
          <p:nvPr/>
        </p:nvSpPr>
        <p:spPr>
          <a:xfrm>
            <a:off x="5330952" y="5102352"/>
            <a:ext cx="2066544" cy="274320"/>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667792"/>
                </a:solidFill>
                <a:latin typeface="Aptos" pitchFamily="34" charset="0"/>
                <a:ea typeface="Aptos" pitchFamily="34" charset="-122"/>
                <a:cs typeface="Aptos" pitchFamily="34" charset="-120"/>
              </a:rPr>
              <a:t>Auth smoke test</a:t>
            </a:r>
            <a:endParaRPr lang="en-US" sz="1000" dirty="0"/>
          </a:p>
        </p:txBody>
      </p:sp>
      <p:sp>
        <p:nvSpPr>
          <p:cNvPr id="35" name="Shape 33"/>
          <p:cNvSpPr/>
          <p:nvPr/>
        </p:nvSpPr>
        <p:spPr>
          <a:xfrm>
            <a:off x="7717536" y="5175504"/>
            <a:ext cx="283464" cy="0"/>
          </a:xfrm>
          <a:prstGeom prst="line">
            <a:avLst/>
          </a:prstGeom>
          <a:noFill/>
          <a:ln w="22860">
            <a:solidFill>
              <a:srgbClr val="7899E8"/>
            </a:solidFill>
            <a:prstDash val="solid"/>
            <a:headEnd type="none"/>
            <a:tailEnd type="triangle"/>
          </a:ln>
        </p:spPr>
      </p:sp>
      <p:sp>
        <p:nvSpPr>
          <p:cNvPr id="36" name="Shape 34"/>
          <p:cNvSpPr/>
          <p:nvPr/>
        </p:nvSpPr>
        <p:spPr>
          <a:xfrm>
            <a:off x="8083296" y="4626864"/>
            <a:ext cx="3364992" cy="1115568"/>
          </a:xfrm>
          <a:prstGeom prst="roundRect">
            <a:avLst>
              <a:gd name="adj" fmla="val 13934"/>
            </a:avLst>
          </a:prstGeom>
          <a:solidFill>
            <a:srgbClr val="11284C"/>
          </a:solidFill>
          <a:ln w="12700">
            <a:solidFill>
              <a:srgbClr val="11284C"/>
            </a:solidFill>
            <a:prstDash val="solid"/>
          </a:ln>
        </p:spPr>
      </p:sp>
      <p:sp>
        <p:nvSpPr>
          <p:cNvPr id="37" name="Text 35"/>
          <p:cNvSpPr txBox="1"/>
          <p:nvPr/>
        </p:nvSpPr>
        <p:spPr>
          <a:xfrm>
            <a:off x="8284464" y="4754880"/>
            <a:ext cx="786384" cy="219456"/>
          </a:xfrm>
          <a:prstGeom prst="rect">
            <a:avLst/>
          </a:prstGeom>
          <a:noFill/>
          <a:ln/>
        </p:spPr>
        <p:txBody>
          <a:bodyPr wrap="square" lIns="0" tIns="0" rIns="0" bIns="0" rtlCol="0" anchor="ctr">
            <a:normAutofit/>
          </a:bodyPr>
          <a:lstStyle/>
          <a:p>
            <a:pPr algn="l" indent="0" marL="0">
              <a:lnSpc>
                <a:spcPct val="100000"/>
              </a:lnSpc>
              <a:buNone/>
            </a:pPr>
            <a:r>
              <a:rPr lang="en-US" sz="940" b="1" spc="90" kern="0" dirty="0">
                <a:solidFill>
                  <a:srgbClr val="AFC8FF"/>
                </a:solidFill>
                <a:latin typeface="Aptos" pitchFamily="34" charset="0"/>
                <a:ea typeface="Aptos" pitchFamily="34" charset="-122"/>
                <a:cs typeface="Aptos" pitchFamily="34" charset="-120"/>
              </a:rPr>
              <a:t>PRODUCTION</a:t>
            </a:r>
            <a:endParaRPr lang="en-US" sz="940" dirty="0"/>
          </a:p>
        </p:txBody>
      </p:sp>
      <p:sp>
        <p:nvSpPr>
          <p:cNvPr id="38" name="Text 36"/>
          <p:cNvSpPr txBox="1"/>
          <p:nvPr/>
        </p:nvSpPr>
        <p:spPr>
          <a:xfrm>
            <a:off x="9107424" y="4727448"/>
            <a:ext cx="2066544" cy="292608"/>
          </a:xfrm>
          <a:prstGeom prst="rect">
            <a:avLst/>
          </a:prstGeom>
          <a:noFill/>
          <a:ln/>
        </p:spPr>
        <p:txBody>
          <a:bodyPr wrap="square" lIns="0" tIns="0" rIns="0" bIns="0" rtlCol="0" anchor="ctr">
            <a:normAutofit/>
          </a:bodyPr>
          <a:lstStyle/>
          <a:p>
            <a:pPr algn="l" indent="0" marL="0">
              <a:lnSpc>
                <a:spcPct val="100000"/>
              </a:lnSpc>
              <a:buNone/>
            </a:pPr>
            <a:r>
              <a:rPr lang="en-US" sz="1240" b="1" dirty="0">
                <a:solidFill>
                  <a:srgbClr val="FFFFFF"/>
                </a:solidFill>
                <a:latin typeface="Aptos" pitchFamily="34" charset="0"/>
                <a:ea typeface="Aptos" pitchFamily="34" charset="-122"/>
                <a:cs typeface="Aptos" pitchFamily="34" charset="-120"/>
              </a:rPr>
              <a:t>CORS / cookie an toàn</a:t>
            </a:r>
            <a:endParaRPr lang="en-US" sz="1240" dirty="0"/>
          </a:p>
        </p:txBody>
      </p:sp>
      <p:sp>
        <p:nvSpPr>
          <p:cNvPr id="39" name="Text 37"/>
          <p:cNvSpPr txBox="1"/>
          <p:nvPr/>
        </p:nvSpPr>
        <p:spPr>
          <a:xfrm>
            <a:off x="9107424" y="5102352"/>
            <a:ext cx="2066544" cy="274320"/>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D6E2F7"/>
                </a:solidFill>
                <a:latin typeface="Aptos" pitchFamily="34" charset="0"/>
                <a:ea typeface="Aptos" pitchFamily="34" charset="-122"/>
                <a:cs typeface="Aptos" pitchFamily="34" charset="-120"/>
              </a:rPr>
              <a:t>DB branch riêng</a:t>
            </a:r>
            <a:endParaRPr lang="en-US" sz="1000" dirty="0"/>
          </a:p>
        </p:txBody>
      </p:sp>
      <p:sp>
        <p:nvSpPr>
          <p:cNvPr id="40" name="Text 38"/>
          <p:cNvSpPr txBox="1"/>
          <p:nvPr/>
        </p:nvSpPr>
        <p:spPr>
          <a:xfrm>
            <a:off x="658368" y="5961888"/>
            <a:ext cx="10698480" cy="256032"/>
          </a:xfrm>
          <a:prstGeom prst="rect">
            <a:avLst/>
          </a:prstGeom>
          <a:noFill/>
          <a:ln/>
        </p:spPr>
        <p:txBody>
          <a:bodyPr wrap="square" lIns="0" tIns="0" rIns="0" bIns="0" rtlCol="0" anchor="ctr">
            <a:normAutofit/>
          </a:bodyPr>
          <a:lstStyle/>
          <a:p>
            <a:pPr algn="ctr" indent="0" marL="0">
              <a:lnSpc>
                <a:spcPct val="100000"/>
              </a:lnSpc>
              <a:buNone/>
            </a:pPr>
            <a:r>
              <a:rPr lang="en-US" sz="960" i="1" dirty="0">
                <a:solidFill>
                  <a:srgbClr val="667792"/>
                </a:solidFill>
                <a:latin typeface="Aptos" pitchFamily="34" charset="0"/>
                <a:ea typeface="Aptos" pitchFamily="34" charset="-122"/>
                <a:cs typeface="Aptos" pitchFamily="34" charset="-120"/>
              </a:rPr>
              <a:t>Lưu ý: báo cáo KPI hiện còn đang thu thập; không trình bày số accuracy/latency chưa có bằng chứng đo.</a:t>
            </a:r>
            <a:endParaRPr lang="en-US" sz="96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30352" y="310896"/>
            <a:ext cx="4754880" cy="256032"/>
          </a:xfrm>
          <a:prstGeom prst="rect">
            <a:avLst/>
          </a:prstGeom>
          <a:noFill/>
          <a:ln/>
        </p:spPr>
        <p:txBody>
          <a:bodyPr wrap="square" lIns="0" tIns="0" rIns="0" bIns="0" rtlCol="0" anchor="ctr">
            <a:normAutofit/>
          </a:bodyPr>
          <a:lstStyle/>
          <a:p>
            <a:pPr algn="l" indent="0" marL="0">
              <a:lnSpc>
                <a:spcPct val="100000"/>
              </a:lnSpc>
              <a:buNone/>
            </a:pPr>
            <a:r>
              <a:rPr lang="en-US" sz="1000" b="1" spc="180" kern="0" dirty="0">
                <a:solidFill>
                  <a:srgbClr val="4D73C9"/>
                </a:solidFill>
                <a:latin typeface="Aptos" pitchFamily="34" charset="0"/>
                <a:ea typeface="Aptos" pitchFamily="34" charset="-122"/>
                <a:cs typeface="Aptos" pitchFamily="34" charset="-120"/>
              </a:rPr>
              <a:t>08 / ĐÁNH GIÁ</a:t>
            </a:r>
            <a:endParaRPr lang="en-US" sz="1000" dirty="0"/>
          </a:p>
        </p:txBody>
      </p:sp>
      <p:sp>
        <p:nvSpPr>
          <p:cNvPr id="3" name="Text 1"/>
          <p:cNvSpPr txBox="1"/>
          <p:nvPr/>
        </p:nvSpPr>
        <p:spPr>
          <a:xfrm>
            <a:off x="530352" y="658368"/>
            <a:ext cx="11064240" cy="530352"/>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1284C"/>
                </a:solidFill>
                <a:latin typeface="Aptos" pitchFamily="34" charset="0"/>
                <a:ea typeface="Aptos" pitchFamily="34" charset="-122"/>
                <a:cs typeface="Aptos" pitchFamily="34" charset="-120"/>
              </a:rPr>
              <a:t>Đánh giá chất lượng giải thích AI — 3/3 chỉ số chính đạt ngưỡng</a:t>
            </a:r>
            <a:endParaRPr lang="en-US" sz="2700" dirty="0"/>
          </a:p>
        </p:txBody>
      </p:sp>
      <p:sp>
        <p:nvSpPr>
          <p:cNvPr id="4" name="Text 2"/>
          <p:cNvSpPr txBox="1"/>
          <p:nvPr/>
        </p:nvSpPr>
        <p:spPr>
          <a:xfrm>
            <a:off x="530352" y="1197864"/>
            <a:ext cx="10972800" cy="384048"/>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667792"/>
                </a:solidFill>
                <a:latin typeface="Aptos" pitchFamily="34" charset="0"/>
                <a:ea typeface="Aptos" pitchFamily="34" charset="-122"/>
                <a:cs typeface="Aptos" pitchFamily="34" charset="-120"/>
              </a:rPr>
              <a:t>135 case thực tế, chấm bằng 24 phiên AI độc lập không cùng nhà cung cấp với model sinh nội dung — thay vì để AI tự chấm chính mình.</a:t>
            </a:r>
            <a:endParaRPr lang="en-US" sz="1250" dirty="0"/>
          </a:p>
        </p:txBody>
      </p:sp>
      <p:sp>
        <p:nvSpPr>
          <p:cNvPr id="5" name="Text 3"/>
          <p:cNvSpPr txBox="1"/>
          <p:nvPr/>
        </p:nvSpPr>
        <p:spPr>
          <a:xfrm>
            <a:off x="530352" y="1700784"/>
            <a:ext cx="2743200" cy="237744"/>
          </a:xfrm>
          <a:prstGeom prst="rect">
            <a:avLst/>
          </a:prstGeom>
          <a:noFill/>
          <a:ln/>
        </p:spPr>
        <p:txBody>
          <a:bodyPr wrap="square" lIns="0" tIns="0" rIns="0" bIns="0" rtlCol="0" anchor="ctr">
            <a:normAutofit/>
          </a:bodyPr>
          <a:lstStyle/>
          <a:p>
            <a:pPr algn="l" indent="0" marL="0">
              <a:lnSpc>
                <a:spcPct val="100000"/>
              </a:lnSpc>
              <a:buNone/>
            </a:pPr>
            <a:r>
              <a:rPr lang="en-US" sz="1000" b="1" spc="130" kern="0" dirty="0">
                <a:solidFill>
                  <a:srgbClr val="4D73C9"/>
                </a:solidFill>
                <a:latin typeface="Aptos" pitchFamily="34" charset="0"/>
                <a:ea typeface="Aptos" pitchFamily="34" charset="-122"/>
                <a:cs typeface="Aptos" pitchFamily="34" charset="-120"/>
              </a:rPr>
              <a:t>SCORECARD</a:t>
            </a:r>
            <a:endParaRPr lang="en-US" sz="1000" dirty="0"/>
          </a:p>
        </p:txBody>
      </p:sp>
      <p:sp>
        <p:nvSpPr>
          <p:cNvPr id="6" name="Shape 4"/>
          <p:cNvSpPr/>
          <p:nvPr/>
        </p:nvSpPr>
        <p:spPr>
          <a:xfrm>
            <a:off x="530352" y="1993392"/>
            <a:ext cx="1748028" cy="1170432"/>
          </a:xfrm>
          <a:prstGeom prst="roundRect">
            <a:avLst>
              <a:gd name="adj" fmla="val 12500"/>
            </a:avLst>
          </a:prstGeom>
          <a:solidFill>
            <a:srgbClr val="E1F5EF"/>
          </a:solidFill>
          <a:ln w="12700">
            <a:solidFill>
              <a:srgbClr val="E1F5EF"/>
            </a:solidFill>
            <a:prstDash val="solid"/>
          </a:ln>
        </p:spPr>
      </p:sp>
      <p:sp>
        <p:nvSpPr>
          <p:cNvPr id="7" name="Text 5"/>
          <p:cNvSpPr txBox="1"/>
          <p:nvPr/>
        </p:nvSpPr>
        <p:spPr>
          <a:xfrm>
            <a:off x="667512" y="2121408"/>
            <a:ext cx="147370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2C9A83"/>
                </a:solidFill>
                <a:latin typeface="Aptos" pitchFamily="34" charset="0"/>
                <a:ea typeface="Aptos" pitchFamily="34" charset="-122"/>
                <a:cs typeface="Aptos" pitchFamily="34" charset="-120"/>
              </a:rPr>
              <a:t>0.97</a:t>
            </a:r>
            <a:endParaRPr lang="en-US" sz="1900" dirty="0"/>
          </a:p>
        </p:txBody>
      </p:sp>
      <p:sp>
        <p:nvSpPr>
          <p:cNvPr id="8" name="Text 6"/>
          <p:cNvSpPr txBox="1"/>
          <p:nvPr/>
        </p:nvSpPr>
        <p:spPr>
          <a:xfrm>
            <a:off x="667512" y="2596896"/>
            <a:ext cx="1473708" cy="29260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1284C"/>
                </a:solidFill>
                <a:latin typeface="Aptos" pitchFamily="34" charset="0"/>
                <a:ea typeface="Aptos" pitchFamily="34" charset="-122"/>
                <a:cs typeface="Aptos" pitchFamily="34" charset="-120"/>
              </a:rPr>
              <a:t>Faithfulness</a:t>
            </a:r>
            <a:endParaRPr lang="en-US" sz="1000" dirty="0"/>
          </a:p>
        </p:txBody>
      </p:sp>
      <p:sp>
        <p:nvSpPr>
          <p:cNvPr id="9" name="Text 7"/>
          <p:cNvSpPr txBox="1"/>
          <p:nvPr/>
        </p:nvSpPr>
        <p:spPr>
          <a:xfrm>
            <a:off x="667512" y="2880360"/>
            <a:ext cx="1473708" cy="219456"/>
          </a:xfrm>
          <a:prstGeom prst="rect">
            <a:avLst/>
          </a:prstGeom>
          <a:noFill/>
          <a:ln/>
        </p:spPr>
        <p:txBody>
          <a:bodyPr wrap="square" lIns="0" tIns="0" rIns="0" bIns="0" rtlCol="0" anchor="ctr">
            <a:normAutofit/>
          </a:bodyPr>
          <a:lstStyle/>
          <a:p>
            <a:pPr algn="l" indent="0" marL="0">
              <a:lnSpc>
                <a:spcPct val="100000"/>
              </a:lnSpc>
              <a:buNone/>
            </a:pPr>
            <a:r>
              <a:rPr lang="en-US" sz="840" dirty="0">
                <a:solidFill>
                  <a:srgbClr val="667792"/>
                </a:solidFill>
                <a:latin typeface="Aptos" pitchFamily="34" charset="0"/>
                <a:ea typeface="Aptos" pitchFamily="34" charset="-122"/>
                <a:cs typeface="Aptos" pitchFamily="34" charset="-120"/>
              </a:rPr>
              <a:t>≥ 0.95</a:t>
            </a:r>
            <a:endParaRPr lang="en-US" sz="840" dirty="0"/>
          </a:p>
        </p:txBody>
      </p:sp>
      <p:sp>
        <p:nvSpPr>
          <p:cNvPr id="10" name="Shape 8"/>
          <p:cNvSpPr/>
          <p:nvPr/>
        </p:nvSpPr>
        <p:spPr>
          <a:xfrm>
            <a:off x="2406396" y="1993392"/>
            <a:ext cx="1748028" cy="1170432"/>
          </a:xfrm>
          <a:prstGeom prst="roundRect">
            <a:avLst>
              <a:gd name="adj" fmla="val 12500"/>
            </a:avLst>
          </a:prstGeom>
          <a:solidFill>
            <a:srgbClr val="E1F5EF"/>
          </a:solidFill>
          <a:ln w="12700">
            <a:solidFill>
              <a:srgbClr val="E1F5EF"/>
            </a:solidFill>
            <a:prstDash val="solid"/>
          </a:ln>
        </p:spPr>
      </p:sp>
      <p:sp>
        <p:nvSpPr>
          <p:cNvPr id="11" name="Text 9"/>
          <p:cNvSpPr txBox="1"/>
          <p:nvPr/>
        </p:nvSpPr>
        <p:spPr>
          <a:xfrm>
            <a:off x="2543556" y="2121408"/>
            <a:ext cx="147370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2C9A83"/>
                </a:solidFill>
                <a:latin typeface="Aptos" pitchFamily="34" charset="0"/>
                <a:ea typeface="Aptos" pitchFamily="34" charset="-122"/>
                <a:cs typeface="Aptos" pitchFamily="34" charset="-120"/>
              </a:rPr>
              <a:t>4.67</a:t>
            </a:r>
            <a:endParaRPr lang="en-US" sz="1900" dirty="0"/>
          </a:p>
        </p:txBody>
      </p:sp>
      <p:sp>
        <p:nvSpPr>
          <p:cNvPr id="12" name="Text 10"/>
          <p:cNvSpPr txBox="1"/>
          <p:nvPr/>
        </p:nvSpPr>
        <p:spPr>
          <a:xfrm>
            <a:off x="2543556" y="2596896"/>
            <a:ext cx="1473708" cy="29260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1284C"/>
                </a:solidFill>
                <a:latin typeface="Aptos" pitchFamily="34" charset="0"/>
                <a:ea typeface="Aptos" pitchFamily="34" charset="-122"/>
                <a:cs typeface="Aptos" pitchFamily="34" charset="-120"/>
              </a:rPr>
              <a:t>Relevance /5</a:t>
            </a:r>
            <a:endParaRPr lang="en-US" sz="1000" dirty="0"/>
          </a:p>
        </p:txBody>
      </p:sp>
      <p:sp>
        <p:nvSpPr>
          <p:cNvPr id="13" name="Text 11"/>
          <p:cNvSpPr txBox="1"/>
          <p:nvPr/>
        </p:nvSpPr>
        <p:spPr>
          <a:xfrm>
            <a:off x="2543556" y="2880360"/>
            <a:ext cx="1473708" cy="219456"/>
          </a:xfrm>
          <a:prstGeom prst="rect">
            <a:avLst/>
          </a:prstGeom>
          <a:noFill/>
          <a:ln/>
        </p:spPr>
        <p:txBody>
          <a:bodyPr wrap="square" lIns="0" tIns="0" rIns="0" bIns="0" rtlCol="0" anchor="ctr">
            <a:normAutofit/>
          </a:bodyPr>
          <a:lstStyle/>
          <a:p>
            <a:pPr algn="l" indent="0" marL="0">
              <a:lnSpc>
                <a:spcPct val="100000"/>
              </a:lnSpc>
              <a:buNone/>
            </a:pPr>
            <a:r>
              <a:rPr lang="en-US" sz="840" dirty="0">
                <a:solidFill>
                  <a:srgbClr val="667792"/>
                </a:solidFill>
                <a:latin typeface="Aptos" pitchFamily="34" charset="0"/>
                <a:ea typeface="Aptos" pitchFamily="34" charset="-122"/>
                <a:cs typeface="Aptos" pitchFamily="34" charset="-120"/>
              </a:rPr>
              <a:t>≥ 4.3</a:t>
            </a:r>
            <a:endParaRPr lang="en-US" sz="840" dirty="0"/>
          </a:p>
        </p:txBody>
      </p:sp>
      <p:sp>
        <p:nvSpPr>
          <p:cNvPr id="14" name="Shape 12"/>
          <p:cNvSpPr/>
          <p:nvPr/>
        </p:nvSpPr>
        <p:spPr>
          <a:xfrm>
            <a:off x="4282440" y="1993392"/>
            <a:ext cx="1748028" cy="1170432"/>
          </a:xfrm>
          <a:prstGeom prst="roundRect">
            <a:avLst>
              <a:gd name="adj" fmla="val 12500"/>
            </a:avLst>
          </a:prstGeom>
          <a:solidFill>
            <a:srgbClr val="E1F5EF"/>
          </a:solidFill>
          <a:ln w="12700">
            <a:solidFill>
              <a:srgbClr val="E1F5EF"/>
            </a:solidFill>
            <a:prstDash val="solid"/>
          </a:ln>
        </p:spPr>
      </p:sp>
      <p:sp>
        <p:nvSpPr>
          <p:cNvPr id="15" name="Text 13"/>
          <p:cNvSpPr txBox="1"/>
          <p:nvPr/>
        </p:nvSpPr>
        <p:spPr>
          <a:xfrm>
            <a:off x="4419600" y="2121408"/>
            <a:ext cx="147370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2C9A83"/>
                </a:solidFill>
                <a:latin typeface="Aptos" pitchFamily="34" charset="0"/>
                <a:ea typeface="Aptos" pitchFamily="34" charset="-122"/>
                <a:cs typeface="Aptos" pitchFamily="34" charset="-120"/>
              </a:rPr>
              <a:t>1.00</a:t>
            </a:r>
            <a:endParaRPr lang="en-US" sz="1900" dirty="0"/>
          </a:p>
        </p:txBody>
      </p:sp>
      <p:sp>
        <p:nvSpPr>
          <p:cNvPr id="16" name="Text 14"/>
          <p:cNvSpPr txBox="1"/>
          <p:nvPr/>
        </p:nvSpPr>
        <p:spPr>
          <a:xfrm>
            <a:off x="4419600" y="2596896"/>
            <a:ext cx="1473708" cy="29260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1284C"/>
                </a:solidFill>
                <a:latin typeface="Aptos" pitchFamily="34" charset="0"/>
                <a:ea typeface="Aptos" pitchFamily="34" charset="-122"/>
                <a:cs typeface="Aptos" pitchFamily="34" charset="-120"/>
              </a:rPr>
              <a:t>Completeness</a:t>
            </a:r>
            <a:endParaRPr lang="en-US" sz="1000" dirty="0"/>
          </a:p>
        </p:txBody>
      </p:sp>
      <p:sp>
        <p:nvSpPr>
          <p:cNvPr id="17" name="Text 15"/>
          <p:cNvSpPr txBox="1"/>
          <p:nvPr/>
        </p:nvSpPr>
        <p:spPr>
          <a:xfrm>
            <a:off x="4419600" y="2880360"/>
            <a:ext cx="1473708" cy="219456"/>
          </a:xfrm>
          <a:prstGeom prst="rect">
            <a:avLst/>
          </a:prstGeom>
          <a:noFill/>
          <a:ln/>
        </p:spPr>
        <p:txBody>
          <a:bodyPr wrap="square" lIns="0" tIns="0" rIns="0" bIns="0" rtlCol="0" anchor="ctr">
            <a:normAutofit/>
          </a:bodyPr>
          <a:lstStyle/>
          <a:p>
            <a:pPr algn="l" indent="0" marL="0">
              <a:lnSpc>
                <a:spcPct val="100000"/>
              </a:lnSpc>
              <a:buNone/>
            </a:pPr>
            <a:r>
              <a:rPr lang="en-US" sz="840" dirty="0">
                <a:solidFill>
                  <a:srgbClr val="667792"/>
                </a:solidFill>
                <a:latin typeface="Aptos" pitchFamily="34" charset="0"/>
                <a:ea typeface="Aptos" pitchFamily="34" charset="-122"/>
                <a:cs typeface="Aptos" pitchFamily="34" charset="-120"/>
              </a:rPr>
              <a:t>≥ 0.90</a:t>
            </a:r>
            <a:endParaRPr lang="en-US" sz="840" dirty="0"/>
          </a:p>
        </p:txBody>
      </p:sp>
      <p:sp>
        <p:nvSpPr>
          <p:cNvPr id="18" name="Shape 16"/>
          <p:cNvSpPr/>
          <p:nvPr/>
        </p:nvSpPr>
        <p:spPr>
          <a:xfrm>
            <a:off x="6158484" y="1993392"/>
            <a:ext cx="1748028" cy="1170432"/>
          </a:xfrm>
          <a:prstGeom prst="roundRect">
            <a:avLst>
              <a:gd name="adj" fmla="val 12500"/>
            </a:avLst>
          </a:prstGeom>
          <a:solidFill>
            <a:srgbClr val="E1F5EF"/>
          </a:solidFill>
          <a:ln w="12700">
            <a:solidFill>
              <a:srgbClr val="E1F5EF"/>
            </a:solidFill>
            <a:prstDash val="solid"/>
          </a:ln>
        </p:spPr>
      </p:sp>
      <p:sp>
        <p:nvSpPr>
          <p:cNvPr id="19" name="Text 17"/>
          <p:cNvSpPr txBox="1"/>
          <p:nvPr/>
        </p:nvSpPr>
        <p:spPr>
          <a:xfrm>
            <a:off x="6295644" y="2121408"/>
            <a:ext cx="147370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2C9A83"/>
                </a:solidFill>
                <a:latin typeface="Aptos" pitchFamily="34" charset="0"/>
                <a:ea typeface="Aptos" pitchFamily="34" charset="-122"/>
                <a:cs typeface="Aptos" pitchFamily="34" charset="-120"/>
              </a:rPr>
              <a:t>100%</a:t>
            </a:r>
            <a:endParaRPr lang="en-US" sz="1900" dirty="0"/>
          </a:p>
        </p:txBody>
      </p:sp>
      <p:sp>
        <p:nvSpPr>
          <p:cNvPr id="20" name="Text 18"/>
          <p:cNvSpPr txBox="1"/>
          <p:nvPr/>
        </p:nvSpPr>
        <p:spPr>
          <a:xfrm>
            <a:off x="6295644" y="2596896"/>
            <a:ext cx="1473708" cy="29260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1284C"/>
                </a:solidFill>
                <a:latin typeface="Aptos" pitchFamily="34" charset="0"/>
                <a:ea typeface="Aptos" pitchFamily="34" charset="-122"/>
                <a:cs typeface="Aptos" pitchFamily="34" charset="-120"/>
              </a:rPr>
              <a:t>Guardrail</a:t>
            </a:r>
            <a:endParaRPr lang="en-US" sz="1000" dirty="0"/>
          </a:p>
        </p:txBody>
      </p:sp>
      <p:sp>
        <p:nvSpPr>
          <p:cNvPr id="21" name="Text 19"/>
          <p:cNvSpPr txBox="1"/>
          <p:nvPr/>
        </p:nvSpPr>
        <p:spPr>
          <a:xfrm>
            <a:off x="6295644" y="2880360"/>
            <a:ext cx="1473708" cy="219456"/>
          </a:xfrm>
          <a:prstGeom prst="rect">
            <a:avLst/>
          </a:prstGeom>
          <a:noFill/>
          <a:ln/>
        </p:spPr>
        <p:txBody>
          <a:bodyPr wrap="square" lIns="0" tIns="0" rIns="0" bIns="0" rtlCol="0" anchor="ctr">
            <a:normAutofit/>
          </a:bodyPr>
          <a:lstStyle/>
          <a:p>
            <a:pPr algn="l" indent="0" marL="0">
              <a:lnSpc>
                <a:spcPct val="100000"/>
              </a:lnSpc>
              <a:buNone/>
            </a:pPr>
            <a:r>
              <a:rPr lang="en-US" sz="840" dirty="0">
                <a:solidFill>
                  <a:srgbClr val="667792"/>
                </a:solidFill>
                <a:latin typeface="Aptos" pitchFamily="34" charset="0"/>
                <a:ea typeface="Aptos" pitchFamily="34" charset="-122"/>
                <a:cs typeface="Aptos" pitchFamily="34" charset="-120"/>
              </a:rPr>
              <a:t>sau khi vá</a:t>
            </a:r>
            <a:endParaRPr lang="en-US" sz="840" dirty="0"/>
          </a:p>
        </p:txBody>
      </p:sp>
      <p:sp>
        <p:nvSpPr>
          <p:cNvPr id="22" name="Shape 20"/>
          <p:cNvSpPr/>
          <p:nvPr/>
        </p:nvSpPr>
        <p:spPr>
          <a:xfrm>
            <a:off x="8034528" y="1993392"/>
            <a:ext cx="1748028" cy="1170432"/>
          </a:xfrm>
          <a:prstGeom prst="roundRect">
            <a:avLst>
              <a:gd name="adj" fmla="val 12500"/>
            </a:avLst>
          </a:prstGeom>
          <a:solidFill>
            <a:srgbClr val="FFF1D9"/>
          </a:solidFill>
          <a:ln w="12700">
            <a:solidFill>
              <a:srgbClr val="FFF1D9"/>
            </a:solidFill>
            <a:prstDash val="solid"/>
          </a:ln>
        </p:spPr>
      </p:sp>
      <p:sp>
        <p:nvSpPr>
          <p:cNvPr id="23" name="Text 21"/>
          <p:cNvSpPr txBox="1"/>
          <p:nvPr/>
        </p:nvSpPr>
        <p:spPr>
          <a:xfrm>
            <a:off x="8171688" y="2121408"/>
            <a:ext cx="147370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C68A2E"/>
                </a:solidFill>
                <a:latin typeface="Aptos" pitchFamily="34" charset="0"/>
                <a:ea typeface="Aptos" pitchFamily="34" charset="-122"/>
                <a:cs typeface="Aptos" pitchFamily="34" charset="-120"/>
              </a:rPr>
              <a:t>89%</a:t>
            </a:r>
            <a:endParaRPr lang="en-US" sz="1900" dirty="0"/>
          </a:p>
        </p:txBody>
      </p:sp>
      <p:sp>
        <p:nvSpPr>
          <p:cNvPr id="24" name="Text 22"/>
          <p:cNvSpPr txBox="1"/>
          <p:nvPr/>
        </p:nvSpPr>
        <p:spPr>
          <a:xfrm>
            <a:off x="8171688" y="2596896"/>
            <a:ext cx="1473708" cy="29260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1284C"/>
                </a:solidFill>
                <a:latin typeface="Aptos" pitchFamily="34" charset="0"/>
                <a:ea typeface="Aptos" pitchFamily="34" charset="-122"/>
                <a:cs typeface="Aptos" pitchFamily="34" charset="-120"/>
              </a:rPr>
              <a:t>Consistency</a:t>
            </a:r>
            <a:endParaRPr lang="en-US" sz="1000" dirty="0"/>
          </a:p>
        </p:txBody>
      </p:sp>
      <p:sp>
        <p:nvSpPr>
          <p:cNvPr id="25" name="Text 23"/>
          <p:cNvSpPr txBox="1"/>
          <p:nvPr/>
        </p:nvSpPr>
        <p:spPr>
          <a:xfrm>
            <a:off x="8171688" y="2880360"/>
            <a:ext cx="1473708" cy="219456"/>
          </a:xfrm>
          <a:prstGeom prst="rect">
            <a:avLst/>
          </a:prstGeom>
          <a:noFill/>
          <a:ln/>
        </p:spPr>
        <p:txBody>
          <a:bodyPr wrap="square" lIns="0" tIns="0" rIns="0" bIns="0" rtlCol="0" anchor="ctr">
            <a:normAutofit/>
          </a:bodyPr>
          <a:lstStyle/>
          <a:p>
            <a:pPr algn="l" indent="0" marL="0">
              <a:lnSpc>
                <a:spcPct val="100000"/>
              </a:lnSpc>
              <a:buNone/>
            </a:pPr>
            <a:r>
              <a:rPr lang="en-US" sz="840" dirty="0">
                <a:solidFill>
                  <a:srgbClr val="667792"/>
                </a:solidFill>
                <a:latin typeface="Aptos" pitchFamily="34" charset="0"/>
                <a:ea typeface="Aptos" pitchFamily="34" charset="-122"/>
                <a:cs typeface="Aptos" pitchFamily="34" charset="-120"/>
              </a:rPr>
              <a:t>mục tiêu 100%</a:t>
            </a:r>
            <a:endParaRPr lang="en-US" sz="840" dirty="0"/>
          </a:p>
        </p:txBody>
      </p:sp>
      <p:sp>
        <p:nvSpPr>
          <p:cNvPr id="26" name="Shape 24"/>
          <p:cNvSpPr/>
          <p:nvPr/>
        </p:nvSpPr>
        <p:spPr>
          <a:xfrm>
            <a:off x="9910572" y="1993392"/>
            <a:ext cx="1748028" cy="1170432"/>
          </a:xfrm>
          <a:prstGeom prst="roundRect">
            <a:avLst>
              <a:gd name="adj" fmla="val 12500"/>
            </a:avLst>
          </a:prstGeom>
          <a:solidFill>
            <a:srgbClr val="E9F0FF"/>
          </a:solidFill>
          <a:ln w="12700">
            <a:solidFill>
              <a:srgbClr val="E9F0FF"/>
            </a:solidFill>
            <a:prstDash val="solid"/>
          </a:ln>
        </p:spPr>
      </p:sp>
      <p:sp>
        <p:nvSpPr>
          <p:cNvPr id="27" name="Text 25"/>
          <p:cNvSpPr txBox="1"/>
          <p:nvPr/>
        </p:nvSpPr>
        <p:spPr>
          <a:xfrm>
            <a:off x="10047732" y="2121408"/>
            <a:ext cx="1473708" cy="457200"/>
          </a:xfrm>
          <a:prstGeom prst="rect">
            <a:avLst/>
          </a:prstGeom>
          <a:noFill/>
          <a:ln/>
        </p:spPr>
        <p:txBody>
          <a:bodyPr wrap="square" lIns="0" tIns="0" rIns="0" bIns="0" rtlCol="0" anchor="ctr">
            <a:normAutofit/>
          </a:bodyPr>
          <a:lstStyle/>
          <a:p>
            <a:pPr algn="l" indent="0" marL="0">
              <a:lnSpc>
                <a:spcPct val="100000"/>
              </a:lnSpc>
              <a:buNone/>
            </a:pPr>
            <a:r>
              <a:rPr lang="en-US" sz="1900" b="1" dirty="0">
                <a:solidFill>
                  <a:srgbClr val="4D73C9"/>
                </a:solidFill>
                <a:latin typeface="Aptos" pitchFamily="34" charset="0"/>
                <a:ea typeface="Aptos" pitchFamily="34" charset="-122"/>
                <a:cs typeface="Aptos" pitchFamily="34" charset="-120"/>
              </a:rPr>
              <a:t>$0.0004</a:t>
            </a:r>
            <a:endParaRPr lang="en-US" sz="1900" dirty="0"/>
          </a:p>
        </p:txBody>
      </p:sp>
      <p:sp>
        <p:nvSpPr>
          <p:cNvPr id="28" name="Text 26"/>
          <p:cNvSpPr txBox="1"/>
          <p:nvPr/>
        </p:nvSpPr>
        <p:spPr>
          <a:xfrm>
            <a:off x="10047732" y="2596896"/>
            <a:ext cx="1473708" cy="29260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1284C"/>
                </a:solidFill>
                <a:latin typeface="Aptos" pitchFamily="34" charset="0"/>
                <a:ea typeface="Aptos" pitchFamily="34" charset="-122"/>
                <a:cs typeface="Aptos" pitchFamily="34" charset="-120"/>
              </a:rPr>
              <a:t>Chi phí / lượt</a:t>
            </a:r>
            <a:endParaRPr lang="en-US" sz="1000" dirty="0"/>
          </a:p>
        </p:txBody>
      </p:sp>
      <p:sp>
        <p:nvSpPr>
          <p:cNvPr id="29" name="Text 27"/>
          <p:cNvSpPr txBox="1"/>
          <p:nvPr/>
        </p:nvSpPr>
        <p:spPr>
          <a:xfrm>
            <a:off x="10047732" y="2880360"/>
            <a:ext cx="1473708" cy="219456"/>
          </a:xfrm>
          <a:prstGeom prst="rect">
            <a:avLst/>
          </a:prstGeom>
          <a:noFill/>
          <a:ln/>
        </p:spPr>
        <p:txBody>
          <a:bodyPr wrap="square" lIns="0" tIns="0" rIns="0" bIns="0" rtlCol="0" anchor="ctr">
            <a:normAutofit/>
          </a:bodyPr>
          <a:lstStyle/>
          <a:p>
            <a:pPr algn="l" indent="0" marL="0">
              <a:lnSpc>
                <a:spcPct val="100000"/>
              </a:lnSpc>
              <a:buNone/>
            </a:pPr>
            <a:r>
              <a:rPr lang="en-US" sz="840" dirty="0">
                <a:solidFill>
                  <a:srgbClr val="667792"/>
                </a:solidFill>
                <a:latin typeface="Aptos" pitchFamily="34" charset="0"/>
                <a:ea typeface="Aptos" pitchFamily="34" charset="-122"/>
                <a:cs typeface="Aptos" pitchFamily="34" charset="-120"/>
              </a:rPr>
              <a:t>cache ấm</a:t>
            </a:r>
            <a:endParaRPr lang="en-US" sz="840" dirty="0"/>
          </a:p>
        </p:txBody>
      </p:sp>
      <p:sp>
        <p:nvSpPr>
          <p:cNvPr id="30" name="Text 28"/>
          <p:cNvSpPr txBox="1"/>
          <p:nvPr/>
        </p:nvSpPr>
        <p:spPr>
          <a:xfrm>
            <a:off x="530352" y="3401568"/>
            <a:ext cx="2743200" cy="237744"/>
          </a:xfrm>
          <a:prstGeom prst="rect">
            <a:avLst/>
          </a:prstGeom>
          <a:noFill/>
          <a:ln/>
        </p:spPr>
        <p:txBody>
          <a:bodyPr wrap="square" lIns="0" tIns="0" rIns="0" bIns="0" rtlCol="0" anchor="ctr">
            <a:normAutofit/>
          </a:bodyPr>
          <a:lstStyle/>
          <a:p>
            <a:pPr algn="l" indent="0" marL="0">
              <a:lnSpc>
                <a:spcPct val="100000"/>
              </a:lnSpc>
              <a:buNone/>
            </a:pPr>
            <a:r>
              <a:rPr lang="en-US" sz="1000" b="1" spc="130" kern="0" dirty="0">
                <a:solidFill>
                  <a:srgbClr val="4D73C9"/>
                </a:solidFill>
                <a:latin typeface="Aptos" pitchFamily="34" charset="0"/>
                <a:ea typeface="Aptos" pitchFamily="34" charset="-122"/>
                <a:cs typeface="Aptos" pitchFamily="34" charset="-120"/>
              </a:rPr>
              <a:t>ĐIỂM NỔI BẬT</a:t>
            </a:r>
            <a:endParaRPr lang="en-US" sz="1000" dirty="0"/>
          </a:p>
        </p:txBody>
      </p:sp>
      <p:sp>
        <p:nvSpPr>
          <p:cNvPr id="31" name="Shape 29"/>
          <p:cNvSpPr/>
          <p:nvPr/>
        </p:nvSpPr>
        <p:spPr>
          <a:xfrm>
            <a:off x="530352" y="3712464"/>
            <a:ext cx="3587496" cy="1828800"/>
          </a:xfrm>
          <a:prstGeom prst="roundRect">
            <a:avLst>
              <a:gd name="adj" fmla="val 9000"/>
            </a:avLst>
          </a:prstGeom>
          <a:solidFill>
            <a:srgbClr val="FFFFFF"/>
          </a:solidFill>
          <a:ln w="12700">
            <a:solidFill>
              <a:srgbClr val="CBD8ED"/>
            </a:solidFill>
            <a:prstDash val="solid"/>
          </a:ln>
        </p:spPr>
      </p:sp>
      <p:sp>
        <p:nvSpPr>
          <p:cNvPr id="32" name="Shape 30"/>
          <p:cNvSpPr/>
          <p:nvPr/>
        </p:nvSpPr>
        <p:spPr>
          <a:xfrm>
            <a:off x="530352" y="3712464"/>
            <a:ext cx="73152" cy="1828800"/>
          </a:xfrm>
          <a:prstGeom prst="rect">
            <a:avLst/>
          </a:prstGeom>
          <a:solidFill>
            <a:srgbClr val="4D73C9"/>
          </a:solidFill>
          <a:ln w="12700">
            <a:solidFill>
              <a:srgbClr val="4D73C9"/>
            </a:solidFill>
            <a:prstDash val="solid"/>
          </a:ln>
        </p:spPr>
      </p:sp>
      <p:sp>
        <p:nvSpPr>
          <p:cNvPr id="33" name="Shape 31"/>
          <p:cNvSpPr/>
          <p:nvPr/>
        </p:nvSpPr>
        <p:spPr>
          <a:xfrm>
            <a:off x="758952" y="3959352"/>
            <a:ext cx="384048" cy="384048"/>
          </a:xfrm>
          <a:prstGeom prst="ellipse">
            <a:avLst/>
          </a:prstGeom>
          <a:solidFill>
            <a:srgbClr val="4D73C9"/>
          </a:solidFill>
          <a:ln w="12700">
            <a:solidFill>
              <a:srgbClr val="4D73C9"/>
            </a:solidFill>
            <a:prstDash val="solid"/>
          </a:ln>
        </p:spPr>
      </p:sp>
      <p:sp>
        <p:nvSpPr>
          <p:cNvPr id="34" name="Text 32"/>
          <p:cNvSpPr txBox="1"/>
          <p:nvPr/>
        </p:nvSpPr>
        <p:spPr>
          <a:xfrm>
            <a:off x="758952" y="3968496"/>
            <a:ext cx="384048" cy="34747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01</a:t>
            </a:r>
            <a:endParaRPr lang="en-US" sz="1000" dirty="0"/>
          </a:p>
        </p:txBody>
      </p:sp>
      <p:sp>
        <p:nvSpPr>
          <p:cNvPr id="35" name="Text 33"/>
          <p:cNvSpPr txBox="1"/>
          <p:nvPr/>
        </p:nvSpPr>
        <p:spPr>
          <a:xfrm>
            <a:off x="1280160" y="3922776"/>
            <a:ext cx="2654808" cy="347472"/>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11284C"/>
                </a:solidFill>
                <a:latin typeface="Aptos" pitchFamily="34" charset="0"/>
                <a:ea typeface="Aptos" pitchFamily="34" charset="-122"/>
                <a:cs typeface="Aptos" pitchFamily="34" charset="-120"/>
              </a:rPr>
              <a:t>Đổi giám khảo, không tự chấm mình</a:t>
            </a:r>
            <a:endParaRPr lang="en-US" sz="1500" dirty="0"/>
          </a:p>
        </p:txBody>
      </p:sp>
      <p:sp>
        <p:nvSpPr>
          <p:cNvPr id="36" name="Text 34"/>
          <p:cNvSpPr txBox="1"/>
          <p:nvPr/>
        </p:nvSpPr>
        <p:spPr>
          <a:xfrm>
            <a:off x="786384" y="4379976"/>
            <a:ext cx="3075432" cy="996696"/>
          </a:xfrm>
          <a:prstGeom prst="rect">
            <a:avLst/>
          </a:prstGeom>
          <a:noFill/>
          <a:ln/>
        </p:spPr>
        <p:txBody>
          <a:bodyPr wrap="square" lIns="0" tIns="0" rIns="0" bIns="0" rtlCol="0" anchor="t">
            <a:normAutofit/>
          </a:bodyPr>
          <a:lstStyle/>
          <a:p>
            <a:pPr algn="l" indent="0" marL="0">
              <a:lnSpc>
                <a:spcPct val="105000"/>
              </a:lnSpc>
              <a:buNone/>
            </a:pPr>
            <a:r>
              <a:rPr lang="en-US" sz="1120" dirty="0">
                <a:solidFill>
                  <a:srgbClr val="667792"/>
                </a:solidFill>
                <a:latin typeface="Aptos" pitchFamily="34" charset="0"/>
                <a:ea typeface="Aptos" pitchFamily="34" charset="-122"/>
                <a:cs typeface="Aptos" pitchFamily="34" charset="-120"/>
              </a:rPr>
              <a:t>AI khác nhà cung cấp với model sinh nội dung được dùng để chấm — giảm thiên vị "tự chấm chính mình" so với đợt trước.</a:t>
            </a:r>
            <a:endParaRPr lang="en-US" sz="1120" dirty="0"/>
          </a:p>
        </p:txBody>
      </p:sp>
      <p:sp>
        <p:nvSpPr>
          <p:cNvPr id="37" name="Shape 35"/>
          <p:cNvSpPr/>
          <p:nvPr/>
        </p:nvSpPr>
        <p:spPr>
          <a:xfrm>
            <a:off x="4300728" y="3712464"/>
            <a:ext cx="3587496" cy="1828800"/>
          </a:xfrm>
          <a:prstGeom prst="roundRect">
            <a:avLst>
              <a:gd name="adj" fmla="val 9000"/>
            </a:avLst>
          </a:prstGeom>
          <a:solidFill>
            <a:srgbClr val="FFFFFF"/>
          </a:solidFill>
          <a:ln w="12700">
            <a:solidFill>
              <a:srgbClr val="CBD8ED"/>
            </a:solidFill>
            <a:prstDash val="solid"/>
          </a:ln>
        </p:spPr>
      </p:sp>
      <p:sp>
        <p:nvSpPr>
          <p:cNvPr id="38" name="Shape 36"/>
          <p:cNvSpPr/>
          <p:nvPr/>
        </p:nvSpPr>
        <p:spPr>
          <a:xfrm>
            <a:off x="4300728" y="3712464"/>
            <a:ext cx="73152" cy="1828800"/>
          </a:xfrm>
          <a:prstGeom prst="rect">
            <a:avLst/>
          </a:prstGeom>
          <a:solidFill>
            <a:srgbClr val="C68A2E"/>
          </a:solidFill>
          <a:ln w="12700">
            <a:solidFill>
              <a:srgbClr val="C68A2E"/>
            </a:solidFill>
            <a:prstDash val="solid"/>
          </a:ln>
        </p:spPr>
      </p:sp>
      <p:sp>
        <p:nvSpPr>
          <p:cNvPr id="39" name="Shape 37"/>
          <p:cNvSpPr/>
          <p:nvPr/>
        </p:nvSpPr>
        <p:spPr>
          <a:xfrm>
            <a:off x="4529328" y="3959352"/>
            <a:ext cx="384048" cy="384048"/>
          </a:xfrm>
          <a:prstGeom prst="ellipse">
            <a:avLst/>
          </a:prstGeom>
          <a:solidFill>
            <a:srgbClr val="C68A2E"/>
          </a:solidFill>
          <a:ln w="12700">
            <a:solidFill>
              <a:srgbClr val="C68A2E"/>
            </a:solidFill>
            <a:prstDash val="solid"/>
          </a:ln>
        </p:spPr>
      </p:sp>
      <p:sp>
        <p:nvSpPr>
          <p:cNvPr id="40" name="Text 38"/>
          <p:cNvSpPr txBox="1"/>
          <p:nvPr/>
        </p:nvSpPr>
        <p:spPr>
          <a:xfrm>
            <a:off x="4529328" y="3968496"/>
            <a:ext cx="384048" cy="34747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02</a:t>
            </a:r>
            <a:endParaRPr lang="en-US" sz="1000" dirty="0"/>
          </a:p>
        </p:txBody>
      </p:sp>
      <p:sp>
        <p:nvSpPr>
          <p:cNvPr id="41" name="Text 39"/>
          <p:cNvSpPr txBox="1"/>
          <p:nvPr/>
        </p:nvSpPr>
        <p:spPr>
          <a:xfrm>
            <a:off x="5050536" y="3922776"/>
            <a:ext cx="2654808" cy="347472"/>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11284C"/>
                </a:solidFill>
                <a:latin typeface="Aptos" pitchFamily="34" charset="0"/>
                <a:ea typeface="Aptos" pitchFamily="34" charset="-122"/>
                <a:cs typeface="Aptos" pitchFamily="34" charset="-120"/>
              </a:rPr>
              <a:t>Rà soát trước khi chấm diện rộng</a:t>
            </a:r>
            <a:endParaRPr lang="en-US" sz="1500" dirty="0"/>
          </a:p>
        </p:txBody>
      </p:sp>
      <p:sp>
        <p:nvSpPr>
          <p:cNvPr id="42" name="Text 40"/>
          <p:cNvSpPr txBox="1"/>
          <p:nvPr/>
        </p:nvSpPr>
        <p:spPr>
          <a:xfrm>
            <a:off x="4556760" y="4379976"/>
            <a:ext cx="3075432" cy="996696"/>
          </a:xfrm>
          <a:prstGeom prst="rect">
            <a:avLst/>
          </a:prstGeom>
          <a:noFill/>
          <a:ln/>
        </p:spPr>
        <p:txBody>
          <a:bodyPr wrap="square" lIns="0" tIns="0" rIns="0" bIns="0" rtlCol="0" anchor="t">
            <a:normAutofit/>
          </a:bodyPr>
          <a:lstStyle/>
          <a:p>
            <a:pPr algn="l" indent="0" marL="0">
              <a:lnSpc>
                <a:spcPct val="105000"/>
              </a:lnSpc>
              <a:buNone/>
            </a:pPr>
            <a:r>
              <a:rPr lang="en-US" sz="1120" dirty="0">
                <a:solidFill>
                  <a:srgbClr val="667792"/>
                </a:solidFill>
                <a:latin typeface="Aptos" pitchFamily="34" charset="0"/>
                <a:ea typeface="Aptos" pitchFamily="34" charset="-122"/>
                <a:cs typeface="Aptos" pitchFamily="34" charset="-120"/>
              </a:rPr>
              <a:t>Tìm và vá 5 kiểu rò rỉ lời khuyên xử trí ẩn trong văn bản, trước khi tốn chi phí đánh giá cả 135 case.</a:t>
            </a:r>
            <a:endParaRPr lang="en-US" sz="1120" dirty="0"/>
          </a:p>
        </p:txBody>
      </p:sp>
      <p:sp>
        <p:nvSpPr>
          <p:cNvPr id="43" name="Shape 41"/>
          <p:cNvSpPr/>
          <p:nvPr/>
        </p:nvSpPr>
        <p:spPr>
          <a:xfrm>
            <a:off x="8071104" y="3712464"/>
            <a:ext cx="3587496" cy="1828800"/>
          </a:xfrm>
          <a:prstGeom prst="roundRect">
            <a:avLst>
              <a:gd name="adj" fmla="val 9000"/>
            </a:avLst>
          </a:prstGeom>
          <a:solidFill>
            <a:srgbClr val="FFFFFF"/>
          </a:solidFill>
          <a:ln w="12700">
            <a:solidFill>
              <a:srgbClr val="CBD8ED"/>
            </a:solidFill>
            <a:prstDash val="solid"/>
          </a:ln>
        </p:spPr>
      </p:sp>
      <p:sp>
        <p:nvSpPr>
          <p:cNvPr id="44" name="Shape 42"/>
          <p:cNvSpPr/>
          <p:nvPr/>
        </p:nvSpPr>
        <p:spPr>
          <a:xfrm>
            <a:off x="8071104" y="3712464"/>
            <a:ext cx="73152" cy="1828800"/>
          </a:xfrm>
          <a:prstGeom prst="rect">
            <a:avLst/>
          </a:prstGeom>
          <a:solidFill>
            <a:srgbClr val="2C9A83"/>
          </a:solidFill>
          <a:ln w="12700">
            <a:solidFill>
              <a:srgbClr val="2C9A83"/>
            </a:solidFill>
            <a:prstDash val="solid"/>
          </a:ln>
        </p:spPr>
      </p:sp>
      <p:sp>
        <p:nvSpPr>
          <p:cNvPr id="45" name="Shape 43"/>
          <p:cNvSpPr/>
          <p:nvPr/>
        </p:nvSpPr>
        <p:spPr>
          <a:xfrm>
            <a:off x="8299704" y="3959352"/>
            <a:ext cx="384048" cy="384048"/>
          </a:xfrm>
          <a:prstGeom prst="ellipse">
            <a:avLst/>
          </a:prstGeom>
          <a:solidFill>
            <a:srgbClr val="2C9A83"/>
          </a:solidFill>
          <a:ln w="12700">
            <a:solidFill>
              <a:srgbClr val="2C9A83"/>
            </a:solidFill>
            <a:prstDash val="solid"/>
          </a:ln>
        </p:spPr>
      </p:sp>
      <p:sp>
        <p:nvSpPr>
          <p:cNvPr id="46" name="Text 44"/>
          <p:cNvSpPr txBox="1"/>
          <p:nvPr/>
        </p:nvSpPr>
        <p:spPr>
          <a:xfrm>
            <a:off x="8299704" y="3968496"/>
            <a:ext cx="384048" cy="347472"/>
          </a:xfrm>
          <a:prstGeom prst="rect">
            <a:avLst/>
          </a:prstGeom>
          <a:noFill/>
          <a:ln/>
        </p:spPr>
        <p:txBody>
          <a:bodyPr wrap="square" lIns="0" tIns="0" rIns="0" bIns="0" rtlCol="0" anchor="ctr">
            <a:normAutofit/>
          </a:bodyPr>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03</a:t>
            </a:r>
            <a:endParaRPr lang="en-US" sz="1000" dirty="0"/>
          </a:p>
        </p:txBody>
      </p:sp>
      <p:sp>
        <p:nvSpPr>
          <p:cNvPr id="47" name="Text 45"/>
          <p:cNvSpPr txBox="1"/>
          <p:nvPr/>
        </p:nvSpPr>
        <p:spPr>
          <a:xfrm>
            <a:off x="8820912" y="3922776"/>
            <a:ext cx="2654808" cy="347472"/>
          </a:xfrm>
          <a:prstGeom prst="rect">
            <a:avLst/>
          </a:prstGeom>
          <a:noFill/>
          <a:ln/>
        </p:spPr>
        <p:txBody>
          <a:bodyPr wrap="square" lIns="0" tIns="0" rIns="0" bIns="0" rtlCol="0" anchor="ctr">
            <a:normAutofit/>
          </a:bodyPr>
          <a:lstStyle/>
          <a:p>
            <a:pPr algn="l" indent="0" marL="0">
              <a:lnSpc>
                <a:spcPct val="100000"/>
              </a:lnSpc>
              <a:buNone/>
            </a:pPr>
            <a:r>
              <a:rPr lang="en-US" sz="1500" b="1" dirty="0">
                <a:solidFill>
                  <a:srgbClr val="11284C"/>
                </a:solidFill>
                <a:latin typeface="Aptos" pitchFamily="34" charset="0"/>
                <a:ea typeface="Aptos" pitchFamily="34" charset="-122"/>
                <a:cs typeface="Aptos" pitchFamily="34" charset="-120"/>
              </a:rPr>
              <a:t>Soát tay bắt lỗi ngoài khung có sẵn</a:t>
            </a:r>
            <a:endParaRPr lang="en-US" sz="1500" dirty="0"/>
          </a:p>
        </p:txBody>
      </p:sp>
      <p:sp>
        <p:nvSpPr>
          <p:cNvPr id="48" name="Text 46"/>
          <p:cNvSpPr txBox="1"/>
          <p:nvPr/>
        </p:nvSpPr>
        <p:spPr>
          <a:xfrm>
            <a:off x="8327136" y="4379976"/>
            <a:ext cx="3075432" cy="996696"/>
          </a:xfrm>
          <a:prstGeom prst="rect">
            <a:avLst/>
          </a:prstGeom>
          <a:noFill/>
          <a:ln/>
        </p:spPr>
        <p:txBody>
          <a:bodyPr wrap="square" lIns="0" tIns="0" rIns="0" bIns="0" rtlCol="0" anchor="t">
            <a:normAutofit/>
          </a:bodyPr>
          <a:lstStyle/>
          <a:p>
            <a:pPr algn="l" indent="0" marL="0">
              <a:lnSpc>
                <a:spcPct val="105000"/>
              </a:lnSpc>
              <a:buNone/>
            </a:pPr>
            <a:r>
              <a:rPr lang="en-US" sz="1120" dirty="0">
                <a:solidFill>
                  <a:srgbClr val="667792"/>
                </a:solidFill>
                <a:latin typeface="Aptos" pitchFamily="34" charset="0"/>
                <a:ea typeface="Aptos" pitchFamily="34" charset="-122"/>
                <a:cs typeface="Aptos" pitchFamily="34" charset="-120"/>
              </a:rPr>
              <a:t>1 thành viên đọc trực tiếp, không cần chuyên môn y dược, phát hiện thêm 1 lỗi mà bộ tiêu chí tự động không bắt được.</a:t>
            </a:r>
            <a:endParaRPr lang="en-US" sz="1120" dirty="0"/>
          </a:p>
        </p:txBody>
      </p:sp>
      <p:sp>
        <p:nvSpPr>
          <p:cNvPr id="49" name="Shape 47"/>
          <p:cNvSpPr/>
          <p:nvPr/>
        </p:nvSpPr>
        <p:spPr>
          <a:xfrm>
            <a:off x="530352" y="5669280"/>
            <a:ext cx="11128248" cy="438912"/>
          </a:xfrm>
          <a:prstGeom prst="roundRect">
            <a:avLst>
              <a:gd name="adj" fmla="val 29167"/>
            </a:avLst>
          </a:prstGeom>
          <a:solidFill>
            <a:srgbClr val="11284C"/>
          </a:solidFill>
          <a:ln w="12700">
            <a:solidFill>
              <a:srgbClr val="11284C"/>
            </a:solidFill>
            <a:prstDash val="solid"/>
          </a:ln>
        </p:spPr>
      </p:sp>
      <p:sp>
        <p:nvSpPr>
          <p:cNvPr id="50" name="Text 48"/>
          <p:cNvSpPr txBox="1"/>
          <p:nvPr/>
        </p:nvSpPr>
        <p:spPr>
          <a:xfrm>
            <a:off x="777240" y="5724144"/>
            <a:ext cx="10634472" cy="329184"/>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FFFFFF"/>
                </a:solidFill>
                <a:latin typeface="Aptos" pitchFamily="34" charset="0"/>
                <a:ea typeface="Aptos" pitchFamily="34" charset="-122"/>
                <a:cs typeface="Aptos" pitchFamily="34" charset="-120"/>
              </a:rPr>
              <a:t>Không có cảnh báo xử trí/liều lượng nào lọt qua tầng guardrail trong toàn bộ 135 case kiểm tra — kể cả câu diễn đạt gián tiếp.</a:t>
            </a:r>
            <a:endParaRPr lang="en-US" sz="110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30352" y="310896"/>
            <a:ext cx="4754880" cy="256032"/>
          </a:xfrm>
          <a:prstGeom prst="rect">
            <a:avLst/>
          </a:prstGeom>
          <a:noFill/>
          <a:ln/>
        </p:spPr>
        <p:txBody>
          <a:bodyPr wrap="square" lIns="0" tIns="0" rIns="0" bIns="0" rtlCol="0" anchor="ctr">
            <a:normAutofit/>
          </a:bodyPr>
          <a:lstStyle/>
          <a:p>
            <a:pPr algn="l" indent="0" marL="0">
              <a:lnSpc>
                <a:spcPct val="100000"/>
              </a:lnSpc>
              <a:buNone/>
            </a:pPr>
            <a:r>
              <a:rPr lang="en-US" sz="1000" b="1" spc="180" kern="0" dirty="0">
                <a:solidFill>
                  <a:srgbClr val="4D73C9"/>
                </a:solidFill>
                <a:latin typeface="Aptos" pitchFamily="34" charset="0"/>
                <a:ea typeface="Aptos" pitchFamily="34" charset="-122"/>
                <a:cs typeface="Aptos" pitchFamily="34" charset="-120"/>
              </a:rPr>
              <a:t>10 / PHÂN TÍCH &amp; ĐỊNH HƯỚNG</a:t>
            </a:r>
            <a:endParaRPr lang="en-US" sz="1000" dirty="0"/>
          </a:p>
        </p:txBody>
      </p:sp>
      <p:sp>
        <p:nvSpPr>
          <p:cNvPr id="3" name="Text 1"/>
          <p:cNvSpPr txBox="1"/>
          <p:nvPr/>
        </p:nvSpPr>
        <p:spPr>
          <a:xfrm>
            <a:off x="530352" y="658368"/>
            <a:ext cx="11064240" cy="530352"/>
          </a:xfrm>
          <a:prstGeom prst="rect">
            <a:avLst/>
          </a:prstGeom>
          <a:noFill/>
          <a:ln/>
        </p:spPr>
        <p:txBody>
          <a:bodyPr wrap="square" lIns="0" tIns="0" rIns="0" bIns="0" rtlCol="0" anchor="ctr">
            <a:normAutofit/>
          </a:bodyPr>
          <a:lstStyle/>
          <a:p>
            <a:pPr algn="l" indent="0" marL="0">
              <a:lnSpc>
                <a:spcPct val="100000"/>
              </a:lnSpc>
              <a:buNone/>
            </a:pPr>
            <a:r>
              <a:rPr lang="en-US" sz="2700" b="1" dirty="0">
                <a:solidFill>
                  <a:srgbClr val="11284C"/>
                </a:solidFill>
                <a:latin typeface="Aptos" pitchFamily="34" charset="0"/>
                <a:ea typeface="Aptos" pitchFamily="34" charset="-122"/>
                <a:cs typeface="Aptos" pitchFamily="34" charset="-120"/>
              </a:rPr>
              <a:t>Nền tảng đúng hướng; bước tiếp theo là chứng minh chất lượng ngoài phòng lab</a:t>
            </a:r>
            <a:endParaRPr lang="en-US" sz="2700" dirty="0"/>
          </a:p>
        </p:txBody>
      </p:sp>
      <p:sp>
        <p:nvSpPr>
          <p:cNvPr id="4" name="Text 2"/>
          <p:cNvSpPr txBox="1"/>
          <p:nvPr/>
        </p:nvSpPr>
        <p:spPr>
          <a:xfrm>
            <a:off x="530352" y="1197864"/>
            <a:ext cx="10972800" cy="384048"/>
          </a:xfrm>
          <a:prstGeom prst="rect">
            <a:avLst/>
          </a:prstGeom>
          <a:noFill/>
          <a:ln/>
        </p:spPr>
        <p:txBody>
          <a:bodyPr wrap="square" lIns="0" tIns="0" rIns="0" bIns="0" rtlCol="0" anchor="ctr">
            <a:normAutofit/>
          </a:bodyPr>
          <a:lstStyle/>
          <a:p>
            <a:pPr algn="l" indent="0" marL="0">
              <a:lnSpc>
                <a:spcPct val="100000"/>
              </a:lnSpc>
              <a:buNone/>
            </a:pPr>
            <a:r>
              <a:rPr lang="en-US" sz="1250" dirty="0">
                <a:solidFill>
                  <a:srgbClr val="667792"/>
                </a:solidFill>
                <a:latin typeface="Aptos" pitchFamily="34" charset="0"/>
                <a:ea typeface="Aptos" pitchFamily="34" charset="-122"/>
                <a:cs typeface="Aptos" pitchFamily="34" charset="-120"/>
              </a:rPr>
              <a:t>Roadmap ưu tiên bằng chứng đo lường, độ tin cậy dữ liệu và khả năng vận hành trước khi mở rộng tính năng.</a:t>
            </a:r>
            <a:endParaRPr lang="en-US" sz="1250" dirty="0"/>
          </a:p>
        </p:txBody>
      </p:sp>
      <p:sp>
        <p:nvSpPr>
          <p:cNvPr id="5" name="Shape 3"/>
          <p:cNvSpPr/>
          <p:nvPr/>
        </p:nvSpPr>
        <p:spPr>
          <a:xfrm>
            <a:off x="530352" y="1719072"/>
            <a:ext cx="2505456" cy="1682496"/>
          </a:xfrm>
          <a:prstGeom prst="roundRect">
            <a:avLst>
              <a:gd name="adj" fmla="val 9239"/>
            </a:avLst>
          </a:prstGeom>
          <a:solidFill>
            <a:srgbClr val="000000"/>
          </a:solidFill>
          <a:ln w="12700">
            <a:solidFill>
              <a:srgbClr val="333333"/>
            </a:solidFill>
            <a:prstDash val="solid"/>
          </a:ln>
        </p:spPr>
      </p:sp>
      <p:sp>
        <p:nvSpPr>
          <p:cNvPr id="6" name="Text 4"/>
          <p:cNvSpPr txBox="1"/>
          <p:nvPr/>
        </p:nvSpPr>
        <p:spPr>
          <a:xfrm>
            <a:off x="731520" y="1929384"/>
            <a:ext cx="2103120" cy="246888"/>
          </a:xfrm>
          <a:prstGeom prst="rect">
            <a:avLst/>
          </a:prstGeom>
          <a:noFill/>
          <a:ln/>
        </p:spPr>
        <p:txBody>
          <a:bodyPr wrap="square" lIns="0" tIns="0" rIns="0" bIns="0" rtlCol="0" anchor="ctr">
            <a:normAutofit/>
          </a:bodyPr>
          <a:lstStyle/>
          <a:p>
            <a:pPr algn="ctr" indent="0" marL="0">
              <a:lnSpc>
                <a:spcPct val="100000"/>
              </a:lnSpc>
              <a:buNone/>
            </a:pPr>
            <a:r>
              <a:rPr lang="en-US" sz="1020" b="1" spc="80" kern="0" dirty="0">
                <a:solidFill>
                  <a:srgbClr val="E1F5EF"/>
                </a:solidFill>
                <a:latin typeface="Aptos" pitchFamily="34" charset="0"/>
                <a:ea typeface="Aptos" pitchFamily="34" charset="-122"/>
                <a:cs typeface="Aptos" pitchFamily="34" charset="-120"/>
              </a:rPr>
              <a:t>ĐIỂM MẠNH</a:t>
            </a:r>
            <a:endParaRPr lang="en-US" sz="1020" dirty="0"/>
          </a:p>
        </p:txBody>
      </p:sp>
      <p:sp>
        <p:nvSpPr>
          <p:cNvPr id="7" name="Text 5"/>
          <p:cNvSpPr txBox="1"/>
          <p:nvPr/>
        </p:nvSpPr>
        <p:spPr>
          <a:xfrm>
            <a:off x="749808" y="2350008"/>
            <a:ext cx="2066544" cy="786384"/>
          </a:xfrm>
          <a:prstGeom prst="rect">
            <a:avLst/>
          </a:prstGeom>
          <a:noFill/>
          <a:ln/>
        </p:spPr>
        <p:txBody>
          <a:bodyPr wrap="square" lIns="0" tIns="0" rIns="0" bIns="0" rtlCol="0" anchor="t">
            <a:normAutofit/>
          </a:bodyPr>
          <a:lstStyle/>
          <a:p>
            <a:pPr algn="ctr" indent="0" marL="0">
              <a:lnSpc>
                <a:spcPct val="100000"/>
              </a:lnSpc>
              <a:buNone/>
            </a:pPr>
            <a:r>
              <a:rPr lang="en-US" sz="1050" dirty="0">
                <a:solidFill>
                  <a:srgbClr val="253B5F"/>
                </a:solidFill>
                <a:latin typeface="Aptos" pitchFamily="34" charset="0"/>
                <a:ea typeface="Aptos" pitchFamily="34" charset="-122"/>
                <a:cs typeface="Aptos" pitchFamily="34" charset="-120"/>
              </a:rPr>
              <a:t>Dữ liệu DDInter thật</a:t>
            </a:r>
            <a:endParaRPr lang="en-US" sz="1050" dirty="0"/>
          </a:p>
          <a:p>
            <a:pPr algn="ctr" indent="0" marL="0">
              <a:lnSpc>
                <a:spcPct val="100000"/>
              </a:lnSpc>
              <a:buNone/>
            </a:pPr>
            <a:r>
              <a:rPr lang="en-US" sz="1050" dirty="0">
                <a:solidFill>
                  <a:srgbClr val="253B5F"/>
                </a:solidFill>
                <a:latin typeface="Aptos" pitchFamily="34" charset="0"/>
                <a:ea typeface="Aptos" pitchFamily="34" charset="-122"/>
                <a:cs typeface="Aptos" pitchFamily="34" charset="-120"/>
              </a:rPr>
              <a:t>Giải thích tiếng Việt</a:t>
            </a:r>
            <a:endParaRPr lang="en-US" sz="1050" dirty="0"/>
          </a:p>
          <a:p>
            <a:pPr algn="ctr" indent="0" marL="0">
              <a:lnSpc>
                <a:spcPct val="100000"/>
              </a:lnSpc>
              <a:buNone/>
            </a:pPr>
            <a:r>
              <a:rPr lang="en-US" sz="1050" dirty="0">
                <a:solidFill>
                  <a:srgbClr val="253B5F"/>
                </a:solidFill>
                <a:latin typeface="Aptos" pitchFamily="34" charset="0"/>
                <a:ea typeface="Aptos" pitchFamily="34" charset="-122"/>
                <a:cs typeface="Aptos" pitchFamily="34" charset="-120"/>
              </a:rPr>
              <a:t>HITL dược sĩ</a:t>
            </a:r>
            <a:endParaRPr lang="en-US" sz="1050" dirty="0"/>
          </a:p>
        </p:txBody>
      </p:sp>
      <p:sp>
        <p:nvSpPr>
          <p:cNvPr id="8" name="Shape 6"/>
          <p:cNvSpPr/>
          <p:nvPr/>
        </p:nvSpPr>
        <p:spPr>
          <a:xfrm>
            <a:off x="3319272" y="1719072"/>
            <a:ext cx="2505456" cy="1682496"/>
          </a:xfrm>
          <a:prstGeom prst="roundRect">
            <a:avLst>
              <a:gd name="adj" fmla="val 9239"/>
            </a:avLst>
          </a:prstGeom>
          <a:solidFill>
            <a:srgbClr val="000000"/>
          </a:solidFill>
          <a:ln w="12700">
            <a:solidFill>
              <a:srgbClr val="333333"/>
            </a:solidFill>
            <a:prstDash val="solid"/>
          </a:ln>
        </p:spPr>
      </p:sp>
      <p:sp>
        <p:nvSpPr>
          <p:cNvPr id="9" name="Text 7"/>
          <p:cNvSpPr txBox="1"/>
          <p:nvPr/>
        </p:nvSpPr>
        <p:spPr>
          <a:xfrm>
            <a:off x="3520440" y="1929384"/>
            <a:ext cx="2103120" cy="246888"/>
          </a:xfrm>
          <a:prstGeom prst="rect">
            <a:avLst/>
          </a:prstGeom>
          <a:noFill/>
          <a:ln/>
        </p:spPr>
        <p:txBody>
          <a:bodyPr wrap="square" lIns="0" tIns="0" rIns="0" bIns="0" rtlCol="0" anchor="ctr">
            <a:normAutofit/>
          </a:bodyPr>
          <a:lstStyle/>
          <a:p>
            <a:pPr algn="ctr" indent="0" marL="0">
              <a:lnSpc>
                <a:spcPct val="100000"/>
              </a:lnSpc>
              <a:buNone/>
            </a:pPr>
            <a:r>
              <a:rPr lang="en-US" sz="1020" b="1" spc="80" kern="0" dirty="0">
                <a:solidFill>
                  <a:srgbClr val="FFE5E2"/>
                </a:solidFill>
                <a:latin typeface="Aptos" pitchFamily="34" charset="0"/>
                <a:ea typeface="Aptos" pitchFamily="34" charset="-122"/>
                <a:cs typeface="Aptos" pitchFamily="34" charset="-120"/>
              </a:rPr>
              <a:t>ĐIỂM YẾU</a:t>
            </a:r>
            <a:endParaRPr lang="en-US" sz="1020" dirty="0"/>
          </a:p>
        </p:txBody>
      </p:sp>
      <p:sp>
        <p:nvSpPr>
          <p:cNvPr id="10" name="Text 8"/>
          <p:cNvSpPr txBox="1"/>
          <p:nvPr/>
        </p:nvSpPr>
        <p:spPr>
          <a:xfrm>
            <a:off x="3538728" y="2350008"/>
            <a:ext cx="2066544" cy="786384"/>
          </a:xfrm>
          <a:prstGeom prst="rect">
            <a:avLst/>
          </a:prstGeom>
          <a:noFill/>
          <a:ln/>
        </p:spPr>
        <p:txBody>
          <a:bodyPr wrap="square" lIns="0" tIns="0" rIns="0" bIns="0" rtlCol="0" anchor="t">
            <a:normAutofit/>
          </a:bodyPr>
          <a:lstStyle/>
          <a:p>
            <a:pPr algn="ctr" indent="0" marL="0">
              <a:lnSpc>
                <a:spcPct val="100000"/>
              </a:lnSpc>
              <a:buNone/>
            </a:pPr>
            <a:r>
              <a:rPr lang="en-US" sz="1050" dirty="0">
                <a:solidFill>
                  <a:srgbClr val="253B5F"/>
                </a:solidFill>
                <a:latin typeface="Aptos" pitchFamily="34" charset="0"/>
                <a:ea typeface="Aptos" pitchFamily="34" charset="-122"/>
                <a:cs typeface="Aptos" pitchFamily="34" charset="-120"/>
              </a:rPr>
              <a:t>KPI chưa đo đủ</a:t>
            </a:r>
            <a:endParaRPr lang="en-US" sz="1050" dirty="0"/>
          </a:p>
          <a:p>
            <a:pPr algn="ctr" indent="0" marL="0">
              <a:lnSpc>
                <a:spcPct val="100000"/>
              </a:lnSpc>
              <a:buNone/>
            </a:pPr>
            <a:r>
              <a:rPr lang="en-US" sz="1050" dirty="0">
                <a:solidFill>
                  <a:srgbClr val="253B5F"/>
                </a:solidFill>
                <a:latin typeface="Aptos" pitchFamily="34" charset="0"/>
                <a:ea typeface="Aptos" pitchFamily="34" charset="-122"/>
                <a:cs typeface="Aptos" pitchFamily="34" charset="-120"/>
              </a:rPr>
              <a:t>Phụ thuộc dịch vụ LLM</a:t>
            </a:r>
            <a:endParaRPr lang="en-US" sz="1050" dirty="0"/>
          </a:p>
          <a:p>
            <a:pPr algn="ctr" indent="0" marL="0">
              <a:lnSpc>
                <a:spcPct val="100000"/>
              </a:lnSpc>
              <a:buNone/>
            </a:pPr>
            <a:r>
              <a:rPr lang="en-US" sz="1050" dirty="0">
                <a:solidFill>
                  <a:srgbClr val="253B5F"/>
                </a:solidFill>
                <a:latin typeface="Aptos" pitchFamily="34" charset="0"/>
                <a:ea typeface="Aptos" pitchFamily="34" charset="-122"/>
                <a:cs typeface="Aptos" pitchFamily="34" charset="-120"/>
              </a:rPr>
              <a:t>Dữ liệu y tế nhạy cảm</a:t>
            </a:r>
            <a:endParaRPr lang="en-US" sz="1050" dirty="0"/>
          </a:p>
        </p:txBody>
      </p:sp>
      <p:sp>
        <p:nvSpPr>
          <p:cNvPr id="11" name="Shape 9"/>
          <p:cNvSpPr/>
          <p:nvPr/>
        </p:nvSpPr>
        <p:spPr>
          <a:xfrm>
            <a:off x="6108192" y="1719072"/>
            <a:ext cx="2505456" cy="1682496"/>
          </a:xfrm>
          <a:prstGeom prst="roundRect">
            <a:avLst>
              <a:gd name="adj" fmla="val 9239"/>
            </a:avLst>
          </a:prstGeom>
          <a:solidFill>
            <a:srgbClr val="000000"/>
          </a:solidFill>
          <a:ln w="12700">
            <a:solidFill>
              <a:srgbClr val="333333"/>
            </a:solidFill>
            <a:prstDash val="solid"/>
          </a:ln>
        </p:spPr>
      </p:sp>
      <p:sp>
        <p:nvSpPr>
          <p:cNvPr id="12" name="Text 10"/>
          <p:cNvSpPr txBox="1"/>
          <p:nvPr/>
        </p:nvSpPr>
        <p:spPr>
          <a:xfrm>
            <a:off x="6309360" y="1929384"/>
            <a:ext cx="2103120" cy="246888"/>
          </a:xfrm>
          <a:prstGeom prst="rect">
            <a:avLst/>
          </a:prstGeom>
          <a:noFill/>
          <a:ln/>
        </p:spPr>
        <p:txBody>
          <a:bodyPr wrap="square" lIns="0" tIns="0" rIns="0" bIns="0" rtlCol="0" anchor="ctr">
            <a:normAutofit/>
          </a:bodyPr>
          <a:lstStyle/>
          <a:p>
            <a:pPr algn="ctr" indent="0" marL="0">
              <a:lnSpc>
                <a:spcPct val="100000"/>
              </a:lnSpc>
              <a:buNone/>
            </a:pPr>
            <a:r>
              <a:rPr lang="en-US" sz="1020" b="1" spc="80" kern="0" dirty="0">
                <a:solidFill>
                  <a:srgbClr val="E9F0FF"/>
                </a:solidFill>
                <a:latin typeface="Aptos" pitchFamily="34" charset="0"/>
                <a:ea typeface="Aptos" pitchFamily="34" charset="-122"/>
                <a:cs typeface="Aptos" pitchFamily="34" charset="-120"/>
              </a:rPr>
              <a:t>CƠ HỘI</a:t>
            </a:r>
            <a:endParaRPr lang="en-US" sz="1020" dirty="0"/>
          </a:p>
        </p:txBody>
      </p:sp>
      <p:sp>
        <p:nvSpPr>
          <p:cNvPr id="13" name="Text 11"/>
          <p:cNvSpPr txBox="1"/>
          <p:nvPr/>
        </p:nvSpPr>
        <p:spPr>
          <a:xfrm>
            <a:off x="6327648" y="2350008"/>
            <a:ext cx="2066544" cy="786384"/>
          </a:xfrm>
          <a:prstGeom prst="rect">
            <a:avLst/>
          </a:prstGeom>
          <a:noFill/>
          <a:ln/>
        </p:spPr>
        <p:txBody>
          <a:bodyPr wrap="square" lIns="0" tIns="0" rIns="0" bIns="0" rtlCol="0" anchor="t">
            <a:normAutofit/>
          </a:bodyPr>
          <a:lstStyle/>
          <a:p>
            <a:pPr algn="ctr" indent="0" marL="0">
              <a:lnSpc>
                <a:spcPct val="100000"/>
              </a:lnSpc>
              <a:buNone/>
            </a:pPr>
            <a:r>
              <a:rPr lang="en-US" sz="1050" dirty="0">
                <a:solidFill>
                  <a:srgbClr val="253B5F"/>
                </a:solidFill>
                <a:latin typeface="Aptos" pitchFamily="34" charset="0"/>
                <a:ea typeface="Aptos" pitchFamily="34" charset="-122"/>
                <a:cs typeface="Aptos" pitchFamily="34" charset="-120"/>
              </a:rPr>
              <a:t>Nhà thuốc / phòng khám nhỏ</a:t>
            </a:r>
            <a:endParaRPr lang="en-US" sz="1050" dirty="0"/>
          </a:p>
          <a:p>
            <a:pPr algn="ctr" indent="0" marL="0">
              <a:lnSpc>
                <a:spcPct val="100000"/>
              </a:lnSpc>
              <a:buNone/>
            </a:pPr>
            <a:r>
              <a:rPr lang="en-US" sz="1050" dirty="0">
                <a:solidFill>
                  <a:srgbClr val="253B5F"/>
                </a:solidFill>
                <a:latin typeface="Aptos" pitchFamily="34" charset="0"/>
                <a:ea typeface="Aptos" pitchFamily="34" charset="-122"/>
                <a:cs typeface="Aptos" pitchFamily="34" charset="-120"/>
              </a:rPr>
              <a:t>Người dùng đa bệnh lý</a:t>
            </a:r>
            <a:endParaRPr lang="en-US" sz="1050" dirty="0"/>
          </a:p>
          <a:p>
            <a:pPr algn="ctr" indent="0" marL="0">
              <a:lnSpc>
                <a:spcPct val="100000"/>
              </a:lnSpc>
              <a:buNone/>
            </a:pPr>
            <a:r>
              <a:rPr lang="en-US" sz="1050" dirty="0">
                <a:solidFill>
                  <a:srgbClr val="253B5F"/>
                </a:solidFill>
                <a:latin typeface="Aptos" pitchFamily="34" charset="0"/>
                <a:ea typeface="Aptos" pitchFamily="34" charset="-122"/>
                <a:cs typeface="Aptos" pitchFamily="34" charset="-120"/>
              </a:rPr>
              <a:t>OCR đơn thuốc</a:t>
            </a:r>
            <a:endParaRPr lang="en-US" sz="1050" dirty="0"/>
          </a:p>
        </p:txBody>
      </p:sp>
      <p:sp>
        <p:nvSpPr>
          <p:cNvPr id="14" name="Shape 12"/>
          <p:cNvSpPr/>
          <p:nvPr/>
        </p:nvSpPr>
        <p:spPr>
          <a:xfrm>
            <a:off x="8897112" y="1719072"/>
            <a:ext cx="2505456" cy="1682496"/>
          </a:xfrm>
          <a:prstGeom prst="roundRect">
            <a:avLst>
              <a:gd name="adj" fmla="val 9239"/>
            </a:avLst>
          </a:prstGeom>
          <a:solidFill>
            <a:srgbClr val="000000"/>
          </a:solidFill>
          <a:ln w="12700">
            <a:solidFill>
              <a:srgbClr val="333333"/>
            </a:solidFill>
            <a:prstDash val="solid"/>
          </a:ln>
        </p:spPr>
      </p:sp>
      <p:sp>
        <p:nvSpPr>
          <p:cNvPr id="15" name="Text 13"/>
          <p:cNvSpPr txBox="1"/>
          <p:nvPr/>
        </p:nvSpPr>
        <p:spPr>
          <a:xfrm>
            <a:off x="9098280" y="1929384"/>
            <a:ext cx="2103120" cy="246888"/>
          </a:xfrm>
          <a:prstGeom prst="rect">
            <a:avLst/>
          </a:prstGeom>
          <a:noFill/>
          <a:ln/>
        </p:spPr>
        <p:txBody>
          <a:bodyPr wrap="square" lIns="0" tIns="0" rIns="0" bIns="0" rtlCol="0" anchor="ctr">
            <a:normAutofit/>
          </a:bodyPr>
          <a:lstStyle/>
          <a:p>
            <a:pPr algn="ctr" indent="0" marL="0">
              <a:lnSpc>
                <a:spcPct val="100000"/>
              </a:lnSpc>
              <a:buNone/>
            </a:pPr>
            <a:r>
              <a:rPr lang="en-US" sz="1020" b="1" spc="80" kern="0" dirty="0">
                <a:solidFill>
                  <a:srgbClr val="FFF1D9"/>
                </a:solidFill>
                <a:latin typeface="Aptos" pitchFamily="34" charset="0"/>
                <a:ea typeface="Aptos" pitchFamily="34" charset="-122"/>
                <a:cs typeface="Aptos" pitchFamily="34" charset="-120"/>
              </a:rPr>
              <a:t>THÁCH THỨC</a:t>
            </a:r>
            <a:endParaRPr lang="en-US" sz="1020" dirty="0"/>
          </a:p>
        </p:txBody>
      </p:sp>
      <p:sp>
        <p:nvSpPr>
          <p:cNvPr id="16" name="Text 14"/>
          <p:cNvSpPr txBox="1"/>
          <p:nvPr/>
        </p:nvSpPr>
        <p:spPr>
          <a:xfrm>
            <a:off x="9116568" y="2350008"/>
            <a:ext cx="2066544" cy="786384"/>
          </a:xfrm>
          <a:prstGeom prst="rect">
            <a:avLst/>
          </a:prstGeom>
          <a:noFill/>
          <a:ln/>
        </p:spPr>
        <p:txBody>
          <a:bodyPr wrap="square" lIns="0" tIns="0" rIns="0" bIns="0" rtlCol="0" anchor="t">
            <a:normAutofit/>
          </a:bodyPr>
          <a:lstStyle/>
          <a:p>
            <a:pPr algn="ctr" indent="0" marL="0">
              <a:lnSpc>
                <a:spcPct val="100000"/>
              </a:lnSpc>
              <a:buNone/>
            </a:pPr>
            <a:r>
              <a:rPr lang="en-US" sz="1050" dirty="0">
                <a:solidFill>
                  <a:srgbClr val="253B5F"/>
                </a:solidFill>
                <a:latin typeface="Aptos" pitchFamily="34" charset="0"/>
                <a:ea typeface="Aptos" pitchFamily="34" charset="-122"/>
                <a:cs typeface="Aptos" pitchFamily="34" charset="-120"/>
              </a:rPr>
              <a:t>Niềm tin &amp; pháp lý</a:t>
            </a:r>
            <a:endParaRPr lang="en-US" sz="1050" dirty="0"/>
          </a:p>
          <a:p>
            <a:pPr algn="ctr" indent="0" marL="0">
              <a:lnSpc>
                <a:spcPct val="100000"/>
              </a:lnSpc>
              <a:buNone/>
            </a:pPr>
            <a:r>
              <a:rPr lang="en-US" sz="1050" dirty="0">
                <a:solidFill>
                  <a:srgbClr val="253B5F"/>
                </a:solidFill>
                <a:latin typeface="Aptos" pitchFamily="34" charset="0"/>
                <a:ea typeface="Aptos" pitchFamily="34" charset="-122"/>
                <a:cs typeface="Aptos" pitchFamily="34" charset="-120"/>
              </a:rPr>
              <a:t>Duy trì dữ liệu cập nhật</a:t>
            </a:r>
            <a:endParaRPr lang="en-US" sz="1050" dirty="0"/>
          </a:p>
          <a:p>
            <a:pPr algn="ctr" indent="0" marL="0">
              <a:lnSpc>
                <a:spcPct val="100000"/>
              </a:lnSpc>
              <a:buNone/>
            </a:pPr>
            <a:r>
              <a:rPr lang="en-US" sz="1050" dirty="0">
                <a:solidFill>
                  <a:srgbClr val="253B5F"/>
                </a:solidFill>
                <a:latin typeface="Aptos" pitchFamily="34" charset="0"/>
                <a:ea typeface="Aptos" pitchFamily="34" charset="-122"/>
                <a:cs typeface="Aptos" pitchFamily="34" charset="-120"/>
              </a:rPr>
              <a:t>Trách nhiệm khi cảnh báo sai</a:t>
            </a:r>
            <a:endParaRPr lang="en-US" sz="1050" dirty="0"/>
          </a:p>
        </p:txBody>
      </p:sp>
      <p:sp>
        <p:nvSpPr>
          <p:cNvPr id="17" name="Text 15"/>
          <p:cNvSpPr txBox="1"/>
          <p:nvPr/>
        </p:nvSpPr>
        <p:spPr>
          <a:xfrm>
            <a:off x="530352" y="3794760"/>
            <a:ext cx="2194560" cy="256032"/>
          </a:xfrm>
          <a:prstGeom prst="rect">
            <a:avLst/>
          </a:prstGeom>
          <a:noFill/>
          <a:ln/>
        </p:spPr>
        <p:txBody>
          <a:bodyPr wrap="square" lIns="0" tIns="0" rIns="0" bIns="0" rtlCol="0" anchor="ctr">
            <a:normAutofit/>
          </a:bodyPr>
          <a:lstStyle/>
          <a:p>
            <a:pPr algn="l" indent="0" marL="0">
              <a:lnSpc>
                <a:spcPct val="100000"/>
              </a:lnSpc>
              <a:buNone/>
            </a:pPr>
            <a:r>
              <a:rPr lang="en-US" sz="1000" b="1" spc="120" kern="0" dirty="0">
                <a:solidFill>
                  <a:srgbClr val="4D73C9"/>
                </a:solidFill>
                <a:latin typeface="Aptos" pitchFamily="34" charset="0"/>
                <a:ea typeface="Aptos" pitchFamily="34" charset="-122"/>
                <a:cs typeface="Aptos" pitchFamily="34" charset="-120"/>
              </a:rPr>
              <a:t>ROADMAP ĐỀ XUẤT</a:t>
            </a:r>
            <a:endParaRPr lang="en-US" sz="1000" dirty="0"/>
          </a:p>
        </p:txBody>
      </p:sp>
      <p:sp>
        <p:nvSpPr>
          <p:cNvPr id="18" name="Shape 16"/>
          <p:cNvSpPr/>
          <p:nvPr/>
        </p:nvSpPr>
        <p:spPr>
          <a:xfrm>
            <a:off x="530352" y="4315968"/>
            <a:ext cx="429768" cy="429768"/>
          </a:xfrm>
          <a:prstGeom prst="ellipse">
            <a:avLst/>
          </a:prstGeom>
          <a:solidFill>
            <a:srgbClr val="4D73C9"/>
          </a:solidFill>
          <a:ln w="12700">
            <a:solidFill>
              <a:srgbClr val="4D73C9"/>
            </a:solidFill>
            <a:prstDash val="solid"/>
          </a:ln>
        </p:spPr>
      </p:sp>
      <p:sp>
        <p:nvSpPr>
          <p:cNvPr id="19" name="Text 17"/>
          <p:cNvSpPr txBox="1"/>
          <p:nvPr/>
        </p:nvSpPr>
        <p:spPr>
          <a:xfrm>
            <a:off x="530352" y="4343400"/>
            <a:ext cx="429768" cy="310896"/>
          </a:xfrm>
          <a:prstGeom prst="rect">
            <a:avLst/>
          </a:prstGeom>
          <a:noFill/>
          <a:ln/>
        </p:spPr>
        <p:txBody>
          <a:bodyPr wrap="square" lIns="0" tIns="0" rIns="0" bIns="0" rtlCol="0" anchor="ctr">
            <a:normAutofit/>
          </a:bodyPr>
          <a:lstStyle/>
          <a:p>
            <a:pPr algn="ctr" indent="0" marL="0">
              <a:lnSpc>
                <a:spcPct val="100000"/>
              </a:lnSpc>
              <a:buNone/>
            </a:pPr>
            <a:r>
              <a:rPr lang="en-US" sz="920" b="1" dirty="0">
                <a:solidFill>
                  <a:srgbClr val="FFFFFF"/>
                </a:solidFill>
                <a:latin typeface="Aptos" pitchFamily="34" charset="0"/>
                <a:ea typeface="Aptos" pitchFamily="34" charset="-122"/>
                <a:cs typeface="Aptos" pitchFamily="34" charset="-120"/>
              </a:rPr>
              <a:t>01</a:t>
            </a:r>
            <a:endParaRPr lang="en-US" sz="920" dirty="0"/>
          </a:p>
        </p:txBody>
      </p:sp>
      <p:sp>
        <p:nvSpPr>
          <p:cNvPr id="20" name="Shape 18"/>
          <p:cNvSpPr/>
          <p:nvPr/>
        </p:nvSpPr>
        <p:spPr>
          <a:xfrm>
            <a:off x="1005840" y="4535424"/>
            <a:ext cx="2103120" cy="0"/>
          </a:xfrm>
          <a:prstGeom prst="line">
            <a:avLst/>
          </a:prstGeom>
          <a:noFill/>
          <a:ln w="17780">
            <a:solidFill>
              <a:srgbClr val="CBD8ED"/>
            </a:solidFill>
            <a:prstDash val="solid"/>
            <a:headEnd type="none"/>
            <a:tailEnd type="triangle"/>
          </a:ln>
        </p:spPr>
      </p:sp>
      <p:sp>
        <p:nvSpPr>
          <p:cNvPr id="21" name="Text 19"/>
          <p:cNvSpPr txBox="1"/>
          <p:nvPr/>
        </p:nvSpPr>
        <p:spPr>
          <a:xfrm>
            <a:off x="530352" y="4919472"/>
            <a:ext cx="2487168" cy="256032"/>
          </a:xfrm>
          <a:prstGeom prst="rect">
            <a:avLst/>
          </a:prstGeom>
          <a:noFill/>
          <a:ln/>
        </p:spPr>
        <p:txBody>
          <a:bodyPr wrap="square" lIns="0" tIns="0" rIns="0" bIns="0" rtlCol="0" anchor="ctr">
            <a:normAutofit/>
          </a:bodyPr>
          <a:lstStyle/>
          <a:p>
            <a:pPr algn="l" indent="0" marL="0">
              <a:lnSpc>
                <a:spcPct val="100000"/>
              </a:lnSpc>
              <a:buNone/>
            </a:pPr>
            <a:r>
              <a:rPr lang="en-US" sz="1050" b="1" dirty="0">
                <a:solidFill>
                  <a:srgbClr val="11284C"/>
                </a:solidFill>
                <a:latin typeface="Aptos" pitchFamily="34" charset="0"/>
                <a:ea typeface="Aptos" pitchFamily="34" charset="-122"/>
                <a:cs typeface="Aptos" pitchFamily="34" charset="-120"/>
              </a:rPr>
              <a:t>ĐO LƯỜNG</a:t>
            </a:r>
            <a:endParaRPr lang="en-US" sz="1050" dirty="0"/>
          </a:p>
        </p:txBody>
      </p:sp>
      <p:sp>
        <p:nvSpPr>
          <p:cNvPr id="22" name="Text 20"/>
          <p:cNvSpPr txBox="1"/>
          <p:nvPr/>
        </p:nvSpPr>
        <p:spPr>
          <a:xfrm>
            <a:off x="530352" y="5294376"/>
            <a:ext cx="2487168" cy="658368"/>
          </a:xfrm>
          <a:prstGeom prst="rect">
            <a:avLst/>
          </a:prstGeom>
          <a:noFill/>
          <a:ln/>
        </p:spPr>
        <p:txBody>
          <a:bodyPr wrap="square" lIns="0" tIns="0" rIns="0" bIns="0" rtlCol="0" anchor="t">
            <a:normAutofit/>
          </a:bodyPr>
          <a:lstStyle/>
          <a:p>
            <a:pPr algn="l" indent="0" marL="0">
              <a:lnSpc>
                <a:spcPct val="100000"/>
              </a:lnSpc>
              <a:buNone/>
            </a:pPr>
            <a:r>
              <a:rPr lang="en-US" sz="1020" dirty="0">
                <a:solidFill>
                  <a:srgbClr val="667792"/>
                </a:solidFill>
                <a:latin typeface="Aptos" pitchFamily="34" charset="0"/>
                <a:ea typeface="Aptos" pitchFamily="34" charset="-122"/>
                <a:cs typeface="Aptos" pitchFamily="34" charset="-120"/>
              </a:rPr>
              <a:t>Bộ test chuẩn; accuracy, latency, citation coverage</a:t>
            </a:r>
            <a:endParaRPr lang="en-US" sz="1020" dirty="0"/>
          </a:p>
        </p:txBody>
      </p:sp>
      <p:sp>
        <p:nvSpPr>
          <p:cNvPr id="23" name="Shape 21"/>
          <p:cNvSpPr/>
          <p:nvPr/>
        </p:nvSpPr>
        <p:spPr>
          <a:xfrm>
            <a:off x="3319272" y="4315968"/>
            <a:ext cx="429768" cy="429768"/>
          </a:xfrm>
          <a:prstGeom prst="ellipse">
            <a:avLst/>
          </a:prstGeom>
          <a:solidFill>
            <a:srgbClr val="4D73C9"/>
          </a:solidFill>
          <a:ln w="12700">
            <a:solidFill>
              <a:srgbClr val="4D73C9"/>
            </a:solidFill>
            <a:prstDash val="solid"/>
          </a:ln>
        </p:spPr>
      </p:sp>
      <p:sp>
        <p:nvSpPr>
          <p:cNvPr id="24" name="Text 22"/>
          <p:cNvSpPr txBox="1"/>
          <p:nvPr/>
        </p:nvSpPr>
        <p:spPr>
          <a:xfrm>
            <a:off x="3319272" y="4343400"/>
            <a:ext cx="429768" cy="310896"/>
          </a:xfrm>
          <a:prstGeom prst="rect">
            <a:avLst/>
          </a:prstGeom>
          <a:noFill/>
          <a:ln/>
        </p:spPr>
        <p:txBody>
          <a:bodyPr wrap="square" lIns="0" tIns="0" rIns="0" bIns="0" rtlCol="0" anchor="ctr">
            <a:normAutofit/>
          </a:bodyPr>
          <a:lstStyle/>
          <a:p>
            <a:pPr algn="ctr" indent="0" marL="0">
              <a:lnSpc>
                <a:spcPct val="100000"/>
              </a:lnSpc>
              <a:buNone/>
            </a:pPr>
            <a:r>
              <a:rPr lang="en-US" sz="920" b="1" dirty="0">
                <a:solidFill>
                  <a:srgbClr val="FFFFFF"/>
                </a:solidFill>
                <a:latin typeface="Aptos" pitchFamily="34" charset="0"/>
                <a:ea typeface="Aptos" pitchFamily="34" charset="-122"/>
                <a:cs typeface="Aptos" pitchFamily="34" charset="-120"/>
              </a:rPr>
              <a:t>02</a:t>
            </a:r>
            <a:endParaRPr lang="en-US" sz="920" dirty="0"/>
          </a:p>
        </p:txBody>
      </p:sp>
      <p:sp>
        <p:nvSpPr>
          <p:cNvPr id="25" name="Shape 23"/>
          <p:cNvSpPr/>
          <p:nvPr/>
        </p:nvSpPr>
        <p:spPr>
          <a:xfrm>
            <a:off x="3794760" y="4535424"/>
            <a:ext cx="2103120" cy="0"/>
          </a:xfrm>
          <a:prstGeom prst="line">
            <a:avLst/>
          </a:prstGeom>
          <a:noFill/>
          <a:ln w="17780">
            <a:solidFill>
              <a:srgbClr val="CBD8ED"/>
            </a:solidFill>
            <a:prstDash val="solid"/>
            <a:headEnd type="none"/>
            <a:tailEnd type="triangle"/>
          </a:ln>
        </p:spPr>
      </p:sp>
      <p:sp>
        <p:nvSpPr>
          <p:cNvPr id="26" name="Text 24"/>
          <p:cNvSpPr txBox="1"/>
          <p:nvPr/>
        </p:nvSpPr>
        <p:spPr>
          <a:xfrm>
            <a:off x="3319272" y="4919472"/>
            <a:ext cx="2487168" cy="256032"/>
          </a:xfrm>
          <a:prstGeom prst="rect">
            <a:avLst/>
          </a:prstGeom>
          <a:noFill/>
          <a:ln/>
        </p:spPr>
        <p:txBody>
          <a:bodyPr wrap="square" lIns="0" tIns="0" rIns="0" bIns="0" rtlCol="0" anchor="ctr">
            <a:normAutofit/>
          </a:bodyPr>
          <a:lstStyle/>
          <a:p>
            <a:pPr algn="l" indent="0" marL="0">
              <a:lnSpc>
                <a:spcPct val="100000"/>
              </a:lnSpc>
              <a:buNone/>
            </a:pPr>
            <a:r>
              <a:rPr lang="en-US" sz="1050" b="1" dirty="0">
                <a:solidFill>
                  <a:srgbClr val="11284C"/>
                </a:solidFill>
                <a:latin typeface="Aptos" pitchFamily="34" charset="0"/>
                <a:ea typeface="Aptos" pitchFamily="34" charset="-122"/>
                <a:cs typeface="Aptos" pitchFamily="34" charset="-120"/>
              </a:rPr>
              <a:t>KIỂM CHỨNG</a:t>
            </a:r>
            <a:endParaRPr lang="en-US" sz="1050" dirty="0"/>
          </a:p>
        </p:txBody>
      </p:sp>
      <p:sp>
        <p:nvSpPr>
          <p:cNvPr id="27" name="Text 25"/>
          <p:cNvSpPr txBox="1"/>
          <p:nvPr/>
        </p:nvSpPr>
        <p:spPr>
          <a:xfrm>
            <a:off x="3319272" y="5294376"/>
            <a:ext cx="2487168" cy="658368"/>
          </a:xfrm>
          <a:prstGeom prst="rect">
            <a:avLst/>
          </a:prstGeom>
          <a:noFill/>
          <a:ln/>
        </p:spPr>
        <p:txBody>
          <a:bodyPr wrap="square" lIns="0" tIns="0" rIns="0" bIns="0" rtlCol="0" anchor="t">
            <a:normAutofit/>
          </a:bodyPr>
          <a:lstStyle/>
          <a:p>
            <a:pPr algn="l" indent="0" marL="0">
              <a:lnSpc>
                <a:spcPct val="100000"/>
              </a:lnSpc>
              <a:buNone/>
            </a:pPr>
            <a:r>
              <a:rPr lang="en-US" sz="1020" dirty="0">
                <a:solidFill>
                  <a:srgbClr val="667792"/>
                </a:solidFill>
                <a:latin typeface="Aptos" pitchFamily="34" charset="0"/>
                <a:ea typeface="Aptos" pitchFamily="34" charset="-122"/>
                <a:cs typeface="Aptos" pitchFamily="34" charset="-120"/>
              </a:rPr>
              <a:t>Pilot với dược sĩ; phân tích cảnh báo sai / bỏ sót</a:t>
            </a:r>
            <a:endParaRPr lang="en-US" sz="1020" dirty="0"/>
          </a:p>
        </p:txBody>
      </p:sp>
      <p:sp>
        <p:nvSpPr>
          <p:cNvPr id="28" name="Shape 26"/>
          <p:cNvSpPr/>
          <p:nvPr/>
        </p:nvSpPr>
        <p:spPr>
          <a:xfrm>
            <a:off x="6108192" y="4315968"/>
            <a:ext cx="429768" cy="429768"/>
          </a:xfrm>
          <a:prstGeom prst="ellipse">
            <a:avLst/>
          </a:prstGeom>
          <a:solidFill>
            <a:srgbClr val="4D73C9"/>
          </a:solidFill>
          <a:ln w="12700">
            <a:solidFill>
              <a:srgbClr val="4D73C9"/>
            </a:solidFill>
            <a:prstDash val="solid"/>
          </a:ln>
        </p:spPr>
      </p:sp>
      <p:sp>
        <p:nvSpPr>
          <p:cNvPr id="29" name="Text 27"/>
          <p:cNvSpPr txBox="1"/>
          <p:nvPr/>
        </p:nvSpPr>
        <p:spPr>
          <a:xfrm>
            <a:off x="6108192" y="4343400"/>
            <a:ext cx="429768" cy="310896"/>
          </a:xfrm>
          <a:prstGeom prst="rect">
            <a:avLst/>
          </a:prstGeom>
          <a:noFill/>
          <a:ln/>
        </p:spPr>
        <p:txBody>
          <a:bodyPr wrap="square" lIns="0" tIns="0" rIns="0" bIns="0" rtlCol="0" anchor="ctr">
            <a:normAutofit/>
          </a:bodyPr>
          <a:lstStyle/>
          <a:p>
            <a:pPr algn="ctr" indent="0" marL="0">
              <a:lnSpc>
                <a:spcPct val="100000"/>
              </a:lnSpc>
              <a:buNone/>
            </a:pPr>
            <a:r>
              <a:rPr lang="en-US" sz="920" b="1" dirty="0">
                <a:solidFill>
                  <a:srgbClr val="FFFFFF"/>
                </a:solidFill>
                <a:latin typeface="Aptos" pitchFamily="34" charset="0"/>
                <a:ea typeface="Aptos" pitchFamily="34" charset="-122"/>
                <a:cs typeface="Aptos" pitchFamily="34" charset="-120"/>
              </a:rPr>
              <a:t>03</a:t>
            </a:r>
            <a:endParaRPr lang="en-US" sz="920" dirty="0"/>
          </a:p>
        </p:txBody>
      </p:sp>
      <p:sp>
        <p:nvSpPr>
          <p:cNvPr id="30" name="Shape 28"/>
          <p:cNvSpPr/>
          <p:nvPr/>
        </p:nvSpPr>
        <p:spPr>
          <a:xfrm>
            <a:off x="6583680" y="4535424"/>
            <a:ext cx="2103120" cy="0"/>
          </a:xfrm>
          <a:prstGeom prst="line">
            <a:avLst/>
          </a:prstGeom>
          <a:noFill/>
          <a:ln w="17780">
            <a:solidFill>
              <a:srgbClr val="CBD8ED"/>
            </a:solidFill>
            <a:prstDash val="solid"/>
            <a:headEnd type="none"/>
            <a:tailEnd type="triangle"/>
          </a:ln>
        </p:spPr>
      </p:sp>
      <p:sp>
        <p:nvSpPr>
          <p:cNvPr id="31" name="Text 29"/>
          <p:cNvSpPr txBox="1"/>
          <p:nvPr/>
        </p:nvSpPr>
        <p:spPr>
          <a:xfrm>
            <a:off x="6108192" y="4919472"/>
            <a:ext cx="2487168" cy="256032"/>
          </a:xfrm>
          <a:prstGeom prst="rect">
            <a:avLst/>
          </a:prstGeom>
          <a:noFill/>
          <a:ln/>
        </p:spPr>
        <p:txBody>
          <a:bodyPr wrap="square" lIns="0" tIns="0" rIns="0" bIns="0" rtlCol="0" anchor="ctr">
            <a:normAutofit/>
          </a:bodyPr>
          <a:lstStyle/>
          <a:p>
            <a:pPr algn="l" indent="0" marL="0">
              <a:lnSpc>
                <a:spcPct val="100000"/>
              </a:lnSpc>
              <a:buNone/>
            </a:pPr>
            <a:r>
              <a:rPr lang="en-US" sz="1050" b="1" dirty="0">
                <a:solidFill>
                  <a:srgbClr val="11284C"/>
                </a:solidFill>
                <a:latin typeface="Aptos" pitchFamily="34" charset="0"/>
                <a:ea typeface="Aptos" pitchFamily="34" charset="-122"/>
                <a:cs typeface="Aptos" pitchFamily="34" charset="-120"/>
              </a:rPr>
              <a:t>CỨNG HÓA</a:t>
            </a:r>
            <a:endParaRPr lang="en-US" sz="1050" dirty="0"/>
          </a:p>
        </p:txBody>
      </p:sp>
      <p:sp>
        <p:nvSpPr>
          <p:cNvPr id="32" name="Text 30"/>
          <p:cNvSpPr txBox="1"/>
          <p:nvPr/>
        </p:nvSpPr>
        <p:spPr>
          <a:xfrm>
            <a:off x="6108192" y="5294376"/>
            <a:ext cx="2487168" cy="658368"/>
          </a:xfrm>
          <a:prstGeom prst="rect">
            <a:avLst/>
          </a:prstGeom>
          <a:noFill/>
          <a:ln/>
        </p:spPr>
        <p:txBody>
          <a:bodyPr wrap="square" lIns="0" tIns="0" rIns="0" bIns="0" rtlCol="0" anchor="t">
            <a:normAutofit/>
          </a:bodyPr>
          <a:lstStyle/>
          <a:p>
            <a:pPr algn="l" indent="0" marL="0">
              <a:lnSpc>
                <a:spcPct val="100000"/>
              </a:lnSpc>
              <a:buNone/>
            </a:pPr>
            <a:r>
              <a:rPr lang="en-US" sz="1020" dirty="0">
                <a:solidFill>
                  <a:srgbClr val="667792"/>
                </a:solidFill>
                <a:latin typeface="Aptos" pitchFamily="34" charset="0"/>
                <a:ea typeface="Aptos" pitchFamily="34" charset="-122"/>
                <a:cs typeface="Aptos" pitchFamily="34" charset="-120"/>
              </a:rPr>
              <a:t>Monitoring, audit log, backup, privacy &amp; security review</a:t>
            </a:r>
            <a:endParaRPr lang="en-US" sz="1020" dirty="0"/>
          </a:p>
        </p:txBody>
      </p:sp>
      <p:sp>
        <p:nvSpPr>
          <p:cNvPr id="33" name="Shape 31"/>
          <p:cNvSpPr/>
          <p:nvPr/>
        </p:nvSpPr>
        <p:spPr>
          <a:xfrm>
            <a:off x="8897112" y="4315968"/>
            <a:ext cx="429768" cy="429768"/>
          </a:xfrm>
          <a:prstGeom prst="ellipse">
            <a:avLst/>
          </a:prstGeom>
          <a:solidFill>
            <a:srgbClr val="2C9A83"/>
          </a:solidFill>
          <a:ln w="12700">
            <a:solidFill>
              <a:srgbClr val="2C9A83"/>
            </a:solidFill>
            <a:prstDash val="solid"/>
          </a:ln>
        </p:spPr>
      </p:sp>
      <p:sp>
        <p:nvSpPr>
          <p:cNvPr id="34" name="Text 32"/>
          <p:cNvSpPr txBox="1"/>
          <p:nvPr/>
        </p:nvSpPr>
        <p:spPr>
          <a:xfrm>
            <a:off x="8897112" y="4343400"/>
            <a:ext cx="429768" cy="310896"/>
          </a:xfrm>
          <a:prstGeom prst="rect">
            <a:avLst/>
          </a:prstGeom>
          <a:noFill/>
          <a:ln/>
        </p:spPr>
        <p:txBody>
          <a:bodyPr wrap="square" lIns="0" tIns="0" rIns="0" bIns="0" rtlCol="0" anchor="ctr">
            <a:normAutofit/>
          </a:bodyPr>
          <a:lstStyle/>
          <a:p>
            <a:pPr algn="ctr" indent="0" marL="0">
              <a:lnSpc>
                <a:spcPct val="100000"/>
              </a:lnSpc>
              <a:buNone/>
            </a:pPr>
            <a:r>
              <a:rPr lang="en-US" sz="920" b="1" dirty="0">
                <a:solidFill>
                  <a:srgbClr val="FFFFFF"/>
                </a:solidFill>
                <a:latin typeface="Aptos" pitchFamily="34" charset="0"/>
                <a:ea typeface="Aptos" pitchFamily="34" charset="-122"/>
                <a:cs typeface="Aptos" pitchFamily="34" charset="-120"/>
              </a:rPr>
              <a:t>04</a:t>
            </a:r>
            <a:endParaRPr lang="en-US" sz="920" dirty="0"/>
          </a:p>
        </p:txBody>
      </p:sp>
      <p:sp>
        <p:nvSpPr>
          <p:cNvPr id="35" name="Text 33"/>
          <p:cNvSpPr txBox="1"/>
          <p:nvPr/>
        </p:nvSpPr>
        <p:spPr>
          <a:xfrm>
            <a:off x="8897112" y="4919472"/>
            <a:ext cx="2487168" cy="256032"/>
          </a:xfrm>
          <a:prstGeom prst="rect">
            <a:avLst/>
          </a:prstGeom>
          <a:noFill/>
          <a:ln/>
        </p:spPr>
        <p:txBody>
          <a:bodyPr wrap="square" lIns="0" tIns="0" rIns="0" bIns="0" rtlCol="0" anchor="ctr">
            <a:normAutofit/>
          </a:bodyPr>
          <a:lstStyle/>
          <a:p>
            <a:pPr algn="l" indent="0" marL="0">
              <a:lnSpc>
                <a:spcPct val="100000"/>
              </a:lnSpc>
              <a:buNone/>
            </a:pPr>
            <a:r>
              <a:rPr lang="en-US" sz="1050" b="1" dirty="0">
                <a:solidFill>
                  <a:srgbClr val="2C9A83"/>
                </a:solidFill>
                <a:latin typeface="Aptos" pitchFamily="34" charset="0"/>
                <a:ea typeface="Aptos" pitchFamily="34" charset="-122"/>
                <a:cs typeface="Aptos" pitchFamily="34" charset="-120"/>
              </a:rPr>
              <a:t>MỞ RỘNG</a:t>
            </a:r>
            <a:endParaRPr lang="en-US" sz="1050" dirty="0"/>
          </a:p>
        </p:txBody>
      </p:sp>
      <p:sp>
        <p:nvSpPr>
          <p:cNvPr id="36" name="Text 34"/>
          <p:cNvSpPr txBox="1"/>
          <p:nvPr/>
        </p:nvSpPr>
        <p:spPr>
          <a:xfrm>
            <a:off x="8897112" y="5294376"/>
            <a:ext cx="2487168" cy="658368"/>
          </a:xfrm>
          <a:prstGeom prst="rect">
            <a:avLst/>
          </a:prstGeom>
          <a:noFill/>
          <a:ln/>
        </p:spPr>
        <p:txBody>
          <a:bodyPr wrap="square" lIns="0" tIns="0" rIns="0" bIns="0" rtlCol="0" anchor="t">
            <a:normAutofit/>
          </a:bodyPr>
          <a:lstStyle/>
          <a:p>
            <a:pPr algn="l" indent="0" marL="0">
              <a:lnSpc>
                <a:spcPct val="100000"/>
              </a:lnSpc>
              <a:buNone/>
            </a:pPr>
            <a:r>
              <a:rPr lang="en-US" sz="1020" dirty="0">
                <a:solidFill>
                  <a:srgbClr val="667792"/>
                </a:solidFill>
                <a:latin typeface="Aptos" pitchFamily="34" charset="0"/>
                <a:ea typeface="Aptos" pitchFamily="34" charset="-122"/>
                <a:cs typeface="Aptos" pitchFamily="34" charset="-120"/>
              </a:rPr>
              <a:t>OCR tốt hơn, cá nhân hóa bệnh nền, mô hình B2B2C</a:t>
            </a:r>
            <a:endParaRPr lang="en-US" sz="102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326"/>
        </a:solidFill>
      </p:bgPr>
    </p:bg>
    <p:spTree>
      <p:nvGrpSpPr>
        <p:cNvPr id="1" name=""/>
        <p:cNvGrpSpPr/>
        <p:nvPr/>
      </p:nvGrpSpPr>
      <p:grpSpPr>
        <a:xfrm>
          <a:off x="0" y="0"/>
          <a:ext cx="0" cy="0"/>
          <a:chOff x="0" y="0"/>
          <a:chExt cx="0" cy="0"/>
        </a:xfrm>
      </p:grpSpPr>
      <p:sp>
        <p:nvSpPr>
          <p:cNvPr id="2" name="Text 0"/>
          <p:cNvSpPr txBox="1"/>
          <p:nvPr/>
        </p:nvSpPr>
        <p:spPr>
          <a:xfrm>
            <a:off x="530352" y="484632"/>
            <a:ext cx="3291840" cy="256032"/>
          </a:xfrm>
          <a:prstGeom prst="rect">
            <a:avLst/>
          </a:prstGeom>
          <a:noFill/>
          <a:ln/>
        </p:spPr>
        <p:txBody>
          <a:bodyPr wrap="square" lIns="0" tIns="0" rIns="0" bIns="0" rtlCol="0" anchor="ctr">
            <a:normAutofit/>
          </a:bodyPr>
          <a:lstStyle/>
          <a:p>
            <a:pPr algn="l" indent="0" marL="0">
              <a:lnSpc>
                <a:spcPct val="100000"/>
              </a:lnSpc>
              <a:buNone/>
            </a:pPr>
            <a:r>
              <a:rPr lang="en-US" sz="1000" b="1" spc="150" kern="0" dirty="0">
                <a:solidFill>
                  <a:srgbClr val="9AB6F4"/>
                </a:solidFill>
                <a:latin typeface="Aptos" pitchFamily="34" charset="0"/>
                <a:ea typeface="Aptos" pitchFamily="34" charset="-122"/>
                <a:cs typeface="Aptos" pitchFamily="34" charset="-120"/>
              </a:rPr>
              <a:t>TEAM  /  VMEC-12</a:t>
            </a:r>
            <a:endParaRPr lang="en-US" sz="1000" dirty="0"/>
          </a:p>
        </p:txBody>
      </p:sp>
      <p:sp>
        <p:nvSpPr>
          <p:cNvPr id="3" name="Text 1"/>
          <p:cNvSpPr txBox="1"/>
          <p:nvPr/>
        </p:nvSpPr>
        <p:spPr>
          <a:xfrm>
            <a:off x="530352" y="987552"/>
            <a:ext cx="4389120" cy="640080"/>
          </a:xfrm>
          <a:prstGeom prst="rect">
            <a:avLst/>
          </a:prstGeom>
          <a:noFill/>
          <a:ln/>
        </p:spPr>
        <p:txBody>
          <a:bodyPr wrap="square" lIns="0" tIns="0" rIns="0" bIns="0" rtlCol="0" anchor="ctr">
            <a:normAutofit/>
          </a:bodyPr>
          <a:lstStyle/>
          <a:p>
            <a:pPr algn="l" indent="0" marL="0">
              <a:lnSpc>
                <a:spcPct val="100000"/>
              </a:lnSpc>
              <a:buNone/>
            </a:pPr>
            <a:r>
              <a:rPr lang="en-US" sz="3300" b="1" dirty="0">
                <a:solidFill>
                  <a:srgbClr val="FFFFFF"/>
                </a:solidFill>
                <a:latin typeface="Aptos" pitchFamily="34" charset="0"/>
                <a:ea typeface="Aptos" pitchFamily="34" charset="-122"/>
                <a:cs typeface="Aptos" pitchFamily="34" charset="-120"/>
              </a:rPr>
              <a:t>MediCheck</a:t>
            </a:r>
            <a:endParaRPr lang="en-US" sz="3300" dirty="0"/>
          </a:p>
        </p:txBody>
      </p:sp>
      <p:sp>
        <p:nvSpPr>
          <p:cNvPr id="4" name="Text 2"/>
          <p:cNvSpPr txBox="1"/>
          <p:nvPr/>
        </p:nvSpPr>
        <p:spPr>
          <a:xfrm>
            <a:off x="530352" y="1691640"/>
            <a:ext cx="5120640" cy="1051560"/>
          </a:xfrm>
          <a:prstGeom prst="rect">
            <a:avLst/>
          </a:prstGeom>
          <a:noFill/>
          <a:ln/>
        </p:spPr>
        <p:txBody>
          <a:bodyPr wrap="square" lIns="0" tIns="0" rIns="0" bIns="0" rtlCol="0" anchor="t">
            <a:normAutofit/>
          </a:bodyPr>
          <a:lstStyle/>
          <a:p>
            <a:pPr algn="l" indent="0" marL="0">
              <a:lnSpc>
                <a:spcPct val="100000"/>
              </a:lnSpc>
              <a:buNone/>
            </a:pPr>
            <a:r>
              <a:rPr lang="en-US" sz="2400" b="1" dirty="0">
                <a:solidFill>
                  <a:srgbClr val="AFC8FF"/>
                </a:solidFill>
                <a:latin typeface="Aptos" pitchFamily="34" charset="0"/>
                <a:ea typeface="Aptos" pitchFamily="34" charset="-122"/>
                <a:cs typeface="Aptos" pitchFamily="34" charset="-120"/>
              </a:rPr>
              <a:t>AI hỗ trợ hiểu đúng rủi ro.</a:t>
            </a:r>
            <a:endParaRPr lang="en-US" sz="2400" dirty="0"/>
          </a:p>
          <a:p>
            <a:pPr algn="l" indent="0" marL="0">
              <a:lnSpc>
                <a:spcPct val="100000"/>
              </a:lnSpc>
              <a:buNone/>
            </a:pPr>
            <a:r>
              <a:rPr lang="en-US" sz="2400" b="1" dirty="0">
                <a:solidFill>
                  <a:srgbClr val="AFC8FF"/>
                </a:solidFill>
                <a:latin typeface="Aptos" pitchFamily="34" charset="0"/>
                <a:ea typeface="Aptos" pitchFamily="34" charset="-122"/>
                <a:cs typeface="Aptos" pitchFamily="34" charset="-120"/>
              </a:rPr>
              <a:t>Dược sĩ giúp ra quyết định an toàn.</a:t>
            </a:r>
            <a:endParaRPr lang="en-US" sz="2400" dirty="0"/>
          </a:p>
        </p:txBody>
      </p:sp>
      <p:sp>
        <p:nvSpPr>
          <p:cNvPr id="5" name="Shape 3"/>
          <p:cNvSpPr/>
          <p:nvPr/>
        </p:nvSpPr>
        <p:spPr>
          <a:xfrm>
            <a:off x="530352" y="3246120"/>
            <a:ext cx="475488" cy="475488"/>
          </a:xfrm>
          <a:prstGeom prst="ellipse">
            <a:avLst/>
          </a:prstGeom>
          <a:solidFill>
            <a:srgbClr val="4D73C9"/>
          </a:solidFill>
          <a:ln w="12700">
            <a:solidFill>
              <a:srgbClr val="4D73C9"/>
            </a:solidFill>
            <a:prstDash val="solid"/>
          </a:ln>
        </p:spPr>
      </p:sp>
      <p:sp>
        <p:nvSpPr>
          <p:cNvPr id="6" name="Text 4"/>
          <p:cNvSpPr txBox="1"/>
          <p:nvPr/>
        </p:nvSpPr>
        <p:spPr>
          <a:xfrm>
            <a:off x="530352" y="3273552"/>
            <a:ext cx="475488" cy="365760"/>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T</a:t>
            </a:r>
            <a:endParaRPr lang="en-US" sz="1200" dirty="0"/>
          </a:p>
        </p:txBody>
      </p:sp>
      <p:sp>
        <p:nvSpPr>
          <p:cNvPr id="7" name="Text 5"/>
          <p:cNvSpPr txBox="1"/>
          <p:nvPr/>
        </p:nvSpPr>
        <p:spPr>
          <a:xfrm>
            <a:off x="1152144" y="3236976"/>
            <a:ext cx="1984248" cy="292608"/>
          </a:xfrm>
          <a:prstGeom prst="rect">
            <a:avLst/>
          </a:prstGeom>
          <a:noFill/>
          <a:ln/>
        </p:spPr>
        <p:txBody>
          <a:bodyPr wrap="square" lIns="0" tIns="0" rIns="0" bIns="0" rtlCol="0" anchor="ctr">
            <a:normAutofit/>
          </a:bodyPr>
          <a:lstStyle/>
          <a:p>
            <a:pPr algn="l" indent="0" marL="0">
              <a:lnSpc>
                <a:spcPct val="100000"/>
              </a:lnSpc>
              <a:buNone/>
            </a:pPr>
            <a:r>
              <a:rPr lang="en-US" sz="1130" b="1" dirty="0">
                <a:solidFill>
                  <a:srgbClr val="FFFFFF"/>
                </a:solidFill>
                <a:latin typeface="Aptos" pitchFamily="34" charset="0"/>
                <a:ea typeface="Aptos" pitchFamily="34" charset="-122"/>
                <a:cs typeface="Aptos" pitchFamily="34" charset="-120"/>
              </a:rPr>
              <a:t>Hoàng Sỹ Toàn</a:t>
            </a:r>
            <a:endParaRPr lang="en-US" sz="1130" dirty="0"/>
          </a:p>
        </p:txBody>
      </p:sp>
      <p:sp>
        <p:nvSpPr>
          <p:cNvPr id="8" name="Text 6"/>
          <p:cNvSpPr txBox="1"/>
          <p:nvPr/>
        </p:nvSpPr>
        <p:spPr>
          <a:xfrm>
            <a:off x="1152144" y="3575304"/>
            <a:ext cx="1984248" cy="292608"/>
          </a:xfrm>
          <a:prstGeom prst="rect">
            <a:avLst/>
          </a:prstGeom>
          <a:noFill/>
          <a:ln/>
        </p:spPr>
        <p:txBody>
          <a:bodyPr wrap="square" lIns="0" tIns="0" rIns="0" bIns="0" rtlCol="0" anchor="ctr">
            <a:normAutofit/>
          </a:bodyPr>
          <a:lstStyle/>
          <a:p>
            <a:pPr algn="l" indent="0" marL="0">
              <a:lnSpc>
                <a:spcPct val="100000"/>
              </a:lnSpc>
              <a:buNone/>
            </a:pPr>
            <a:r>
              <a:rPr lang="en-US" sz="930" dirty="0">
                <a:solidFill>
                  <a:srgbClr val="A8B9D6"/>
                </a:solidFill>
                <a:latin typeface="Aptos" pitchFamily="34" charset="0"/>
                <a:ea typeface="Aptos" pitchFamily="34" charset="-122"/>
                <a:cs typeface="Aptos" pitchFamily="34" charset="-120"/>
              </a:rPr>
              <a:t>Leader • Data • PM • OCR</a:t>
            </a:r>
            <a:endParaRPr lang="en-US" sz="930" dirty="0"/>
          </a:p>
        </p:txBody>
      </p:sp>
      <p:sp>
        <p:nvSpPr>
          <p:cNvPr id="9" name="Shape 7"/>
          <p:cNvSpPr/>
          <p:nvPr/>
        </p:nvSpPr>
        <p:spPr>
          <a:xfrm>
            <a:off x="3346704" y="3246120"/>
            <a:ext cx="475488" cy="475488"/>
          </a:xfrm>
          <a:prstGeom prst="ellipse">
            <a:avLst/>
          </a:prstGeom>
          <a:solidFill>
            <a:srgbClr val="4D73C9"/>
          </a:solidFill>
          <a:ln w="12700">
            <a:solidFill>
              <a:srgbClr val="4D73C9"/>
            </a:solidFill>
            <a:prstDash val="solid"/>
          </a:ln>
        </p:spPr>
      </p:sp>
      <p:sp>
        <p:nvSpPr>
          <p:cNvPr id="10" name="Text 8"/>
          <p:cNvSpPr txBox="1"/>
          <p:nvPr/>
        </p:nvSpPr>
        <p:spPr>
          <a:xfrm>
            <a:off x="3346704" y="3273552"/>
            <a:ext cx="475488" cy="365760"/>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Q</a:t>
            </a:r>
            <a:endParaRPr lang="en-US" sz="1200" dirty="0"/>
          </a:p>
        </p:txBody>
      </p:sp>
      <p:sp>
        <p:nvSpPr>
          <p:cNvPr id="11" name="Text 9"/>
          <p:cNvSpPr txBox="1"/>
          <p:nvPr/>
        </p:nvSpPr>
        <p:spPr>
          <a:xfrm>
            <a:off x="3968496" y="3236976"/>
            <a:ext cx="1984248" cy="292608"/>
          </a:xfrm>
          <a:prstGeom prst="rect">
            <a:avLst/>
          </a:prstGeom>
          <a:noFill/>
          <a:ln/>
        </p:spPr>
        <p:txBody>
          <a:bodyPr wrap="square" lIns="0" tIns="0" rIns="0" bIns="0" rtlCol="0" anchor="ctr">
            <a:normAutofit/>
          </a:bodyPr>
          <a:lstStyle/>
          <a:p>
            <a:pPr algn="l" indent="0" marL="0">
              <a:lnSpc>
                <a:spcPct val="100000"/>
              </a:lnSpc>
              <a:buNone/>
            </a:pPr>
            <a:r>
              <a:rPr lang="en-US" sz="1130" b="1" dirty="0">
                <a:solidFill>
                  <a:srgbClr val="FFFFFF"/>
                </a:solidFill>
                <a:latin typeface="Aptos" pitchFamily="34" charset="0"/>
                <a:ea typeface="Aptos" pitchFamily="34" charset="-122"/>
                <a:cs typeface="Aptos" pitchFamily="34" charset="-120"/>
              </a:rPr>
              <a:t>Đàm Lê Minh Quân</a:t>
            </a:r>
            <a:endParaRPr lang="en-US" sz="1130" dirty="0"/>
          </a:p>
        </p:txBody>
      </p:sp>
      <p:sp>
        <p:nvSpPr>
          <p:cNvPr id="12" name="Text 10"/>
          <p:cNvSpPr txBox="1"/>
          <p:nvPr/>
        </p:nvSpPr>
        <p:spPr>
          <a:xfrm>
            <a:off x="3968496" y="3575304"/>
            <a:ext cx="1984248" cy="292608"/>
          </a:xfrm>
          <a:prstGeom prst="rect">
            <a:avLst/>
          </a:prstGeom>
          <a:noFill/>
          <a:ln/>
        </p:spPr>
        <p:txBody>
          <a:bodyPr wrap="square" lIns="0" tIns="0" rIns="0" bIns="0" rtlCol="0" anchor="ctr">
            <a:normAutofit/>
          </a:bodyPr>
          <a:lstStyle/>
          <a:p>
            <a:pPr algn="l" indent="0" marL="0">
              <a:lnSpc>
                <a:spcPct val="100000"/>
              </a:lnSpc>
              <a:buNone/>
            </a:pPr>
            <a:r>
              <a:rPr lang="en-US" sz="930" dirty="0">
                <a:solidFill>
                  <a:srgbClr val="A8B9D6"/>
                </a:solidFill>
                <a:latin typeface="Aptos" pitchFamily="34" charset="0"/>
                <a:ea typeface="Aptos" pitchFamily="34" charset="-122"/>
                <a:cs typeface="Aptos" pitchFamily="34" charset="-120"/>
              </a:rPr>
              <a:t>Data • Backend • AI Agent</a:t>
            </a:r>
            <a:endParaRPr lang="en-US" sz="930" dirty="0"/>
          </a:p>
        </p:txBody>
      </p:sp>
      <p:sp>
        <p:nvSpPr>
          <p:cNvPr id="13" name="Shape 11"/>
          <p:cNvSpPr/>
          <p:nvPr/>
        </p:nvSpPr>
        <p:spPr>
          <a:xfrm>
            <a:off x="530352" y="4279392"/>
            <a:ext cx="475488" cy="475488"/>
          </a:xfrm>
          <a:prstGeom prst="ellipse">
            <a:avLst/>
          </a:prstGeom>
          <a:solidFill>
            <a:srgbClr val="2C9A83"/>
          </a:solidFill>
          <a:ln w="12700">
            <a:solidFill>
              <a:srgbClr val="2C9A83"/>
            </a:solidFill>
            <a:prstDash val="solid"/>
          </a:ln>
        </p:spPr>
      </p:sp>
      <p:sp>
        <p:nvSpPr>
          <p:cNvPr id="14" name="Text 12"/>
          <p:cNvSpPr txBox="1"/>
          <p:nvPr/>
        </p:nvSpPr>
        <p:spPr>
          <a:xfrm>
            <a:off x="530352" y="4306824"/>
            <a:ext cx="475488" cy="365760"/>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M</a:t>
            </a:r>
            <a:endParaRPr lang="en-US" sz="1200" dirty="0"/>
          </a:p>
        </p:txBody>
      </p:sp>
      <p:sp>
        <p:nvSpPr>
          <p:cNvPr id="15" name="Text 13"/>
          <p:cNvSpPr txBox="1"/>
          <p:nvPr/>
        </p:nvSpPr>
        <p:spPr>
          <a:xfrm>
            <a:off x="1152144" y="4270248"/>
            <a:ext cx="1984248" cy="292608"/>
          </a:xfrm>
          <a:prstGeom prst="rect">
            <a:avLst/>
          </a:prstGeom>
          <a:noFill/>
          <a:ln/>
        </p:spPr>
        <p:txBody>
          <a:bodyPr wrap="square" lIns="0" tIns="0" rIns="0" bIns="0" rtlCol="0" anchor="ctr">
            <a:normAutofit/>
          </a:bodyPr>
          <a:lstStyle/>
          <a:p>
            <a:pPr algn="l" indent="0" marL="0">
              <a:lnSpc>
                <a:spcPct val="100000"/>
              </a:lnSpc>
              <a:buNone/>
            </a:pPr>
            <a:r>
              <a:rPr lang="en-US" sz="1130" b="1" dirty="0">
                <a:solidFill>
                  <a:srgbClr val="FFFFFF"/>
                </a:solidFill>
                <a:latin typeface="Aptos" pitchFamily="34" charset="0"/>
                <a:ea typeface="Aptos" pitchFamily="34" charset="-122"/>
                <a:cs typeface="Aptos" pitchFamily="34" charset="-120"/>
              </a:rPr>
              <a:t>Nguyễn Thị Tuyết Mai</a:t>
            </a:r>
            <a:endParaRPr lang="en-US" sz="1130" dirty="0"/>
          </a:p>
        </p:txBody>
      </p:sp>
      <p:sp>
        <p:nvSpPr>
          <p:cNvPr id="16" name="Text 14"/>
          <p:cNvSpPr txBox="1"/>
          <p:nvPr/>
        </p:nvSpPr>
        <p:spPr>
          <a:xfrm>
            <a:off x="1152144" y="4608576"/>
            <a:ext cx="1984248" cy="292608"/>
          </a:xfrm>
          <a:prstGeom prst="rect">
            <a:avLst/>
          </a:prstGeom>
          <a:noFill/>
          <a:ln/>
        </p:spPr>
        <p:txBody>
          <a:bodyPr wrap="square" lIns="0" tIns="0" rIns="0" bIns="0" rtlCol="0" anchor="ctr">
            <a:normAutofit/>
          </a:bodyPr>
          <a:lstStyle/>
          <a:p>
            <a:pPr algn="l" indent="0" marL="0">
              <a:lnSpc>
                <a:spcPct val="100000"/>
              </a:lnSpc>
              <a:buNone/>
            </a:pPr>
            <a:r>
              <a:rPr lang="en-US" sz="930" dirty="0">
                <a:solidFill>
                  <a:srgbClr val="A8B9D6"/>
                </a:solidFill>
                <a:latin typeface="Aptos" pitchFamily="34" charset="0"/>
                <a:ea typeface="Aptos" pitchFamily="34" charset="-122"/>
                <a:cs typeface="Aptos" pitchFamily="34" charset="-120"/>
              </a:rPr>
              <a:t>Data • Design • Frontend</a:t>
            </a:r>
            <a:endParaRPr lang="en-US" sz="930" dirty="0"/>
          </a:p>
        </p:txBody>
      </p:sp>
      <p:sp>
        <p:nvSpPr>
          <p:cNvPr id="17" name="Shape 15"/>
          <p:cNvSpPr/>
          <p:nvPr/>
        </p:nvSpPr>
        <p:spPr>
          <a:xfrm>
            <a:off x="3346704" y="4279392"/>
            <a:ext cx="475488" cy="475488"/>
          </a:xfrm>
          <a:prstGeom prst="ellipse">
            <a:avLst/>
          </a:prstGeom>
          <a:solidFill>
            <a:srgbClr val="2C9A83"/>
          </a:solidFill>
          <a:ln w="12700">
            <a:solidFill>
              <a:srgbClr val="2C9A83"/>
            </a:solidFill>
            <a:prstDash val="solid"/>
          </a:ln>
        </p:spPr>
      </p:sp>
      <p:sp>
        <p:nvSpPr>
          <p:cNvPr id="18" name="Text 16"/>
          <p:cNvSpPr txBox="1"/>
          <p:nvPr/>
        </p:nvSpPr>
        <p:spPr>
          <a:xfrm>
            <a:off x="3346704" y="4306824"/>
            <a:ext cx="475488" cy="365760"/>
          </a:xfrm>
          <a:prstGeom prst="rect">
            <a:avLst/>
          </a:prstGeom>
          <a:noFill/>
          <a:ln/>
        </p:spPr>
        <p:txBody>
          <a:bodyPr wrap="square" lIns="0" tIns="0" rIns="0" bIns="0" rtlCol="0" anchor="ctr">
            <a:normAutofit/>
          </a:bodyPr>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L</a:t>
            </a:r>
            <a:endParaRPr lang="en-US" sz="1200" dirty="0"/>
          </a:p>
        </p:txBody>
      </p:sp>
      <p:sp>
        <p:nvSpPr>
          <p:cNvPr id="19" name="Text 17"/>
          <p:cNvSpPr txBox="1"/>
          <p:nvPr/>
        </p:nvSpPr>
        <p:spPr>
          <a:xfrm>
            <a:off x="3968496" y="4270248"/>
            <a:ext cx="1984248" cy="292608"/>
          </a:xfrm>
          <a:prstGeom prst="rect">
            <a:avLst/>
          </a:prstGeom>
          <a:noFill/>
          <a:ln/>
        </p:spPr>
        <p:txBody>
          <a:bodyPr wrap="square" lIns="0" tIns="0" rIns="0" bIns="0" rtlCol="0" anchor="ctr">
            <a:normAutofit/>
          </a:bodyPr>
          <a:lstStyle/>
          <a:p>
            <a:pPr algn="l" indent="0" marL="0">
              <a:lnSpc>
                <a:spcPct val="100000"/>
              </a:lnSpc>
              <a:buNone/>
            </a:pPr>
            <a:r>
              <a:rPr lang="en-US" sz="1130" b="1" dirty="0">
                <a:solidFill>
                  <a:srgbClr val="FFFFFF"/>
                </a:solidFill>
                <a:latin typeface="Aptos" pitchFamily="34" charset="0"/>
                <a:ea typeface="Aptos" pitchFamily="34" charset="-122"/>
                <a:cs typeface="Aptos" pitchFamily="34" charset="-120"/>
              </a:rPr>
              <a:t>Lê Thị Linh</a:t>
            </a:r>
            <a:endParaRPr lang="en-US" sz="1130" dirty="0"/>
          </a:p>
        </p:txBody>
      </p:sp>
      <p:sp>
        <p:nvSpPr>
          <p:cNvPr id="20" name="Text 18"/>
          <p:cNvSpPr txBox="1"/>
          <p:nvPr/>
        </p:nvSpPr>
        <p:spPr>
          <a:xfrm>
            <a:off x="3968496" y="4608576"/>
            <a:ext cx="1984248" cy="292608"/>
          </a:xfrm>
          <a:prstGeom prst="rect">
            <a:avLst/>
          </a:prstGeom>
          <a:noFill/>
          <a:ln/>
        </p:spPr>
        <p:txBody>
          <a:bodyPr wrap="square" lIns="0" tIns="0" rIns="0" bIns="0" rtlCol="0" anchor="ctr">
            <a:normAutofit/>
          </a:bodyPr>
          <a:lstStyle/>
          <a:p>
            <a:pPr algn="l" indent="0" marL="0">
              <a:lnSpc>
                <a:spcPct val="100000"/>
              </a:lnSpc>
              <a:buNone/>
            </a:pPr>
            <a:r>
              <a:rPr lang="en-US" sz="930" dirty="0">
                <a:solidFill>
                  <a:srgbClr val="A8B9D6"/>
                </a:solidFill>
                <a:latin typeface="Aptos" pitchFamily="34" charset="0"/>
                <a:ea typeface="Aptos" pitchFamily="34" charset="-122"/>
                <a:cs typeface="Aptos" pitchFamily="34" charset="-120"/>
              </a:rPr>
              <a:t>Data • Design • Frontend</a:t>
            </a:r>
            <a:endParaRPr lang="en-US" sz="930" dirty="0"/>
          </a:p>
        </p:txBody>
      </p:sp>
      <p:sp>
        <p:nvSpPr>
          <p:cNvPr id="21" name="Shape 19"/>
          <p:cNvSpPr/>
          <p:nvPr/>
        </p:nvSpPr>
        <p:spPr>
          <a:xfrm>
            <a:off x="6675120" y="566928"/>
            <a:ext cx="4983480" cy="5669280"/>
          </a:xfrm>
          <a:prstGeom prst="roundRect">
            <a:avLst>
              <a:gd name="adj" fmla="val 4404"/>
            </a:avLst>
          </a:prstGeom>
          <a:solidFill>
            <a:srgbClr val="10213D"/>
          </a:solidFill>
          <a:ln w="12700">
            <a:solidFill>
              <a:srgbClr val="304A75"/>
            </a:solidFill>
            <a:prstDash val="solid"/>
          </a:ln>
        </p:spPr>
      </p:sp>
      <p:sp>
        <p:nvSpPr>
          <p:cNvPr id="22" name="Text 20"/>
          <p:cNvSpPr txBox="1"/>
          <p:nvPr/>
        </p:nvSpPr>
        <p:spPr>
          <a:xfrm>
            <a:off x="7086600" y="1005840"/>
            <a:ext cx="4160520" cy="256032"/>
          </a:xfrm>
          <a:prstGeom prst="rect">
            <a:avLst/>
          </a:prstGeom>
          <a:noFill/>
          <a:ln/>
        </p:spPr>
        <p:txBody>
          <a:bodyPr wrap="square" lIns="0" tIns="0" rIns="0" bIns="0" rtlCol="0" anchor="ctr">
            <a:normAutofit/>
          </a:bodyPr>
          <a:lstStyle/>
          <a:p>
            <a:pPr algn="l" indent="0" marL="0">
              <a:lnSpc>
                <a:spcPct val="100000"/>
              </a:lnSpc>
              <a:buNone/>
            </a:pPr>
            <a:r>
              <a:rPr lang="en-US" sz="1000" b="1" spc="140" kern="0" dirty="0">
                <a:solidFill>
                  <a:srgbClr val="9AB6F4"/>
                </a:solidFill>
                <a:latin typeface="Aptos" pitchFamily="34" charset="0"/>
                <a:ea typeface="Aptos" pitchFamily="34" charset="-122"/>
                <a:cs typeface="Aptos" pitchFamily="34" charset="-120"/>
              </a:rPr>
              <a:t>THÔNG ĐIỆP KẾT</a:t>
            </a:r>
            <a:endParaRPr lang="en-US" sz="1000" dirty="0"/>
          </a:p>
        </p:txBody>
      </p:sp>
      <p:sp>
        <p:nvSpPr>
          <p:cNvPr id="23" name="Text 21"/>
          <p:cNvSpPr txBox="1"/>
          <p:nvPr/>
        </p:nvSpPr>
        <p:spPr>
          <a:xfrm>
            <a:off x="7086600" y="1554480"/>
            <a:ext cx="4160520" cy="1572768"/>
          </a:xfrm>
          <a:prstGeom prst="rect">
            <a:avLst/>
          </a:prstGeom>
          <a:noFill/>
          <a:ln/>
        </p:spPr>
        <p:txBody>
          <a:bodyPr wrap="square" lIns="0" tIns="0" rIns="0" bIns="0" rtlCol="0" anchor="t">
            <a:normAutofit/>
          </a:bodyPr>
          <a:lstStyle/>
          <a:p>
            <a:pPr algn="l" indent="0" marL="0">
              <a:lnSpc>
                <a:spcPct val="100000"/>
              </a:lnSpc>
              <a:buNone/>
            </a:pPr>
            <a:r>
              <a:rPr lang="en-US" sz="2200" b="1" dirty="0">
                <a:solidFill>
                  <a:srgbClr val="FFFFFF"/>
                </a:solidFill>
                <a:latin typeface="Aptos" pitchFamily="34" charset="0"/>
                <a:ea typeface="Aptos" pitchFamily="34" charset="-122"/>
                <a:cs typeface="Aptos" pitchFamily="34" charset="-120"/>
              </a:rPr>
              <a:t>“Cảnh báo tốt không chỉ đúng — mà còn phải dễ hiểu, có nguồn và có người chịu trách nhiệm.”</a:t>
            </a:r>
            <a:endParaRPr lang="en-US" sz="2200" dirty="0"/>
          </a:p>
        </p:txBody>
      </p:sp>
      <p:sp>
        <p:nvSpPr>
          <p:cNvPr id="24" name="Shape 22"/>
          <p:cNvSpPr/>
          <p:nvPr/>
        </p:nvSpPr>
        <p:spPr>
          <a:xfrm>
            <a:off x="7086600" y="3511296"/>
            <a:ext cx="4069080" cy="0"/>
          </a:xfrm>
          <a:prstGeom prst="line">
            <a:avLst/>
          </a:prstGeom>
          <a:noFill/>
          <a:ln w="15240">
            <a:solidFill>
              <a:srgbClr val="304A75"/>
            </a:solidFill>
            <a:prstDash val="solid"/>
            <a:headEnd type="none"/>
            <a:tailEnd type="none"/>
          </a:ln>
        </p:spPr>
      </p:sp>
      <p:sp>
        <p:nvSpPr>
          <p:cNvPr id="25" name="Text 23"/>
          <p:cNvSpPr txBox="1"/>
          <p:nvPr/>
        </p:nvSpPr>
        <p:spPr>
          <a:xfrm>
            <a:off x="7086600" y="3931920"/>
            <a:ext cx="4160520" cy="768096"/>
          </a:xfrm>
          <a:prstGeom prst="rect">
            <a:avLst/>
          </a:prstGeom>
          <a:noFill/>
          <a:ln/>
        </p:spPr>
        <p:txBody>
          <a:bodyPr wrap="square" lIns="0" tIns="0" rIns="0" bIns="0" rtlCol="0" anchor="ctr">
            <a:normAutofit/>
          </a:bodyPr>
          <a:lstStyle/>
          <a:p>
            <a:pPr algn="l" indent="0" marL="0">
              <a:lnSpc>
                <a:spcPct val="100000"/>
              </a:lnSpc>
              <a:buNone/>
            </a:pPr>
            <a:r>
              <a:rPr lang="en-US" sz="3600" b="1" dirty="0">
                <a:solidFill>
                  <a:srgbClr val="AFC8FF"/>
                </a:solidFill>
                <a:latin typeface="Aptos" pitchFamily="34" charset="0"/>
                <a:ea typeface="Aptos" pitchFamily="34" charset="-122"/>
                <a:cs typeface="Aptos" pitchFamily="34" charset="-120"/>
              </a:rPr>
              <a:t>Q &amp; A</a:t>
            </a:r>
            <a:endParaRPr lang="en-US" sz="3600" dirty="0"/>
          </a:p>
        </p:txBody>
      </p:sp>
      <p:sp>
        <p:nvSpPr>
          <p:cNvPr id="26" name="Text 24"/>
          <p:cNvSpPr txBox="1"/>
          <p:nvPr/>
        </p:nvSpPr>
        <p:spPr>
          <a:xfrm>
            <a:off x="7086600" y="4956048"/>
            <a:ext cx="4160520" cy="438912"/>
          </a:xfrm>
          <a:prstGeom prst="rect">
            <a:avLst/>
          </a:prstGeom>
          <a:noFill/>
          <a:ln/>
        </p:spPr>
        <p:txBody>
          <a:bodyPr wrap="square" lIns="0" tIns="0" rIns="0" bIns="0" rtlCol="0" anchor="ctr">
            <a:normAutofit/>
          </a:bodyPr>
          <a:lstStyle/>
          <a:p>
            <a:pPr algn="l" indent="0" marL="0">
              <a:lnSpc>
                <a:spcPct val="100000"/>
              </a:lnSpc>
              <a:buNone/>
            </a:pPr>
            <a:r>
              <a:rPr lang="en-US" sz="1300" dirty="0">
                <a:solidFill>
                  <a:srgbClr val="D6E2F7"/>
                </a:solidFill>
                <a:latin typeface="Aptos" pitchFamily="34" charset="0"/>
                <a:ea typeface="Aptos" pitchFamily="34" charset="-122"/>
                <a:cs typeface="Aptos" pitchFamily="34" charset="-120"/>
              </a:rPr>
              <a:t>Cảm ơn thầy cô và các bạn đã lắng nghe.</a:t>
            </a:r>
            <a:endParaRPr lang="en-US" sz="1300" dirty="0"/>
          </a:p>
        </p:txBody>
      </p:sp>
      <p:sp>
        <p:nvSpPr>
          <p:cNvPr id="27" name="Text 25"/>
          <p:cNvSpPr txBox="1"/>
          <p:nvPr/>
        </p:nvSpPr>
        <p:spPr>
          <a:xfrm>
            <a:off x="7086600" y="5687568"/>
            <a:ext cx="4160520" cy="237744"/>
          </a:xfrm>
          <a:prstGeom prst="rect">
            <a:avLst/>
          </a:prstGeom>
          <a:noFill/>
          <a:ln/>
        </p:spPr>
        <p:txBody>
          <a:bodyPr wrap="square" lIns="0" tIns="0" rIns="0" bIns="0" rtlCol="0" anchor="ctr">
            <a:normAutofit/>
          </a:bodyPr>
          <a:lstStyle/>
          <a:p>
            <a:pPr algn="l" indent="0" marL="0">
              <a:lnSpc>
                <a:spcPct val="100000"/>
              </a:lnSpc>
              <a:buNone/>
            </a:pPr>
            <a:r>
              <a:rPr lang="en-US" sz="900" dirty="0">
                <a:solidFill>
                  <a:srgbClr val="7F97C4"/>
                </a:solidFill>
                <a:latin typeface="Aptos" pitchFamily="34" charset="0"/>
                <a:ea typeface="Aptos" pitchFamily="34" charset="-122"/>
                <a:cs typeface="Aptos" pitchFamily="34" charset="-120"/>
              </a:rPr>
              <a:t>github.com/AI20K-Build-Phase-Cohort-3/P-005</a:t>
            </a:r>
            <a:endParaRPr lang="en-US" sz="90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AI20K Build Phase — Cohort 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MediCheck — Tra cứu thông minh, dùng thuốc an toàn</dc:title>
  <dc:subject>Giới thiệu và phân tích dự án MediCheck</dc:subject>
  <dc:creator>Team MediCheck — VMEC-12</dc:creator>
  <cp:lastModifiedBy>Team MediCheck — VMEC-12</cp:lastModifiedBy>
  <cp:revision>1</cp:revision>
  <dcterms:created xsi:type="dcterms:W3CDTF">2026-09-01T16:44:46Z</dcterms:created>
  <dcterms:modified xsi:type="dcterms:W3CDTF">2026-09-01T16:44:46Z</dcterms:modified>
</cp:coreProperties>
</file>